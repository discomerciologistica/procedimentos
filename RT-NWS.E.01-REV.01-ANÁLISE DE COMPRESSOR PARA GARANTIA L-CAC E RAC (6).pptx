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 id="2147483668" r:id="rId4"/>
  </p:sldMasterIdLst>
  <p:handoutMasterIdLst>
    <p:handoutMasterId r:id="rId10"/>
  </p:handoutMasterIdLst>
  <p:sldIdLst>
    <p:sldId id="256" r:id="rId5"/>
    <p:sldId id="258" r:id="rId6"/>
    <p:sldId id="257" r:id="rId7"/>
    <p:sldId id="260" r:id="rId8"/>
    <p:sldId id="259" r:id="rId9"/>
  </p:sldIdLst>
  <p:sldSz cx="6858000" cy="9144000" type="screen4x3"/>
  <p:notesSz cx="6668770" cy="987234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58"/>
            <p14:sldId id="257"/>
            <p14:sldId id="260"/>
            <p14:sldId id="259"/>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0F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125" d="100"/>
          <a:sy n="125" d="100"/>
        </p:scale>
        <p:origin x="696" y="-2064"/>
      </p:cViewPr>
      <p:guideLst>
        <p:guide orient="horz" pos="2880"/>
        <p:guide pos="2160"/>
      </p:guideLst>
    </p:cSldViewPr>
  </p:slideViewPr>
  <p:notesTextViewPr>
    <p:cViewPr>
      <p:scale>
        <a:sx n="1" d="1"/>
        <a:sy n="1" d="1"/>
      </p:scale>
      <p:origin x="0" y="0"/>
    </p:cViewPr>
  </p:notesTextViewPr>
  <p:notesViewPr>
    <p:cSldViewPr>
      <p:cViewPr varScale="1">
        <p:scale>
          <a:sx n="53" d="100"/>
          <a:sy n="53" d="100"/>
        </p:scale>
        <p:origin x="2934" y="4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889250" cy="4953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778250" y="0"/>
            <a:ext cx="2889250" cy="495300"/>
          </a:xfrm>
          <a:prstGeom prst="rect">
            <a:avLst/>
          </a:prstGeom>
        </p:spPr>
        <p:txBody>
          <a:bodyPr vert="horz" lIns="91440" tIns="45720" rIns="91440" bIns="45720" rtlCol="0"/>
          <a:lstStyle>
            <a:lvl1pPr algn="r">
              <a:defRPr sz="1200"/>
            </a:lvl1pPr>
          </a:lstStyle>
          <a:p>
            <a:fld id="{C3FB49B8-C3FF-4059-B8F3-8A6EB69DF05B}" type="datetimeFigureOut">
              <a:rPr lang="pt-BR" smtClean="0"/>
            </a:fld>
            <a:endParaRPr lang="pt-BR"/>
          </a:p>
        </p:txBody>
      </p:sp>
      <p:sp>
        <p:nvSpPr>
          <p:cNvPr id="4" name="Espaço Reservado para Rodapé 3"/>
          <p:cNvSpPr>
            <a:spLocks noGrp="1"/>
          </p:cNvSpPr>
          <p:nvPr>
            <p:ph type="ftr" sz="quarter" idx="2"/>
          </p:nvPr>
        </p:nvSpPr>
        <p:spPr>
          <a:xfrm>
            <a:off x="0" y="9377363"/>
            <a:ext cx="2889250" cy="4953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778250" y="9377363"/>
            <a:ext cx="2889250" cy="495300"/>
          </a:xfrm>
          <a:prstGeom prst="rect">
            <a:avLst/>
          </a:prstGeom>
        </p:spPr>
        <p:txBody>
          <a:bodyPr vert="horz" lIns="91440" tIns="45720" rIns="91440" bIns="45720" rtlCol="0" anchor="b"/>
          <a:lstStyle>
            <a:lvl1pPr algn="r">
              <a:defRPr sz="1200"/>
            </a:lvl1pPr>
          </a:lstStyle>
          <a:p>
            <a:fld id="{A3226E72-9DB9-4E79-97BB-762EAC0BA907}" type="slidenum">
              <a:rPr lang="pt-BR" smtClean="0"/>
            </a:fld>
            <a:endParaRPr lang="pt-B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jpeg"/><Relationship Id="rId7" Type="http://schemas.openxmlformats.org/officeDocument/2006/relationships/image" Target="../media/image6.png"/><Relationship Id="rId6" Type="http://schemas.microsoft.com/office/2007/relationships/hdphoto" Target="../media/image5.wdp"/><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jpeg"/><Relationship Id="rId11" Type="http://schemas.openxmlformats.org/officeDocument/2006/relationships/image" Target="../media/image30.png"/><Relationship Id="rId10" Type="http://schemas.openxmlformats.org/officeDocument/2006/relationships/image" Target="../media/image2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rgbClr val="B10F2A"/>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200" b="1" dirty="0">
                <a:effectLst/>
                <a:latin typeface="Arial" panose="020B0604020202020204"/>
                <a:ea typeface="Calibri" panose="020F0502020204030204"/>
                <a:cs typeface="Times New Roman" panose="02020603050405020304"/>
              </a:rPr>
              <a:t>RELATÓRIO TÉCNICO – ANÁLISE</a:t>
            </a:r>
            <a:r>
              <a:rPr lang="pt-BR" sz="1200" b="1" baseline="0" dirty="0">
                <a:effectLst/>
                <a:latin typeface="Arial" panose="020B0604020202020204"/>
                <a:ea typeface="Calibri" panose="020F0502020204030204"/>
                <a:cs typeface="Times New Roman" panose="02020603050405020304"/>
              </a:rPr>
              <a:t> DE “COMPRESSOR” PARA GARANTIA LCAC E RAC  </a:t>
            </a:r>
            <a:endParaRPr lang="en-US" sz="1100" dirty="0">
              <a:effectLst/>
              <a:ea typeface="Calibri" panose="020F0502020204030204"/>
              <a:cs typeface="Times New Roman" panose="02020603050405020304"/>
            </a:endParaRPr>
          </a:p>
        </p:txBody>
      </p:sp>
      <p:sp>
        <p:nvSpPr>
          <p:cNvPr id="11" name="Retângulo de cantos arredondados 10"/>
          <p:cNvSpPr/>
          <p:nvPr userDrawn="1"/>
        </p:nvSpPr>
        <p:spPr>
          <a:xfrm>
            <a:off x="0" y="1362386"/>
            <a:ext cx="3341053" cy="285750"/>
          </a:xfrm>
          <a:prstGeom prst="roundRect">
            <a:avLst/>
          </a:prstGeom>
          <a:solidFill>
            <a:srgbClr val="B10F2A"/>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CANAL:  ASD /</a:t>
            </a:r>
            <a:r>
              <a:rPr lang="pt-BR" sz="1000" b="1" baseline="0" dirty="0">
                <a:effectLst/>
                <a:latin typeface="Arial" panose="020B0604020202020204"/>
                <a:ea typeface="Calibri" panose="020F0502020204030204"/>
                <a:cs typeface="Times New Roman" panose="02020603050405020304"/>
              </a:rPr>
              <a:t> ASI  - DISTRIBUIDOR / REVENDA</a:t>
            </a:r>
            <a:endParaRPr lang="en-US" sz="1100" dirty="0">
              <a:effectLst/>
              <a:ea typeface="Calibri" panose="020F0502020204030204"/>
              <a:cs typeface="Times New Roman" panose="02020603050405020304"/>
            </a:endParaRPr>
          </a:p>
        </p:txBody>
      </p:sp>
      <p:sp>
        <p:nvSpPr>
          <p:cNvPr id="12" name="Retângulo de cantos arredondados 11"/>
          <p:cNvSpPr/>
          <p:nvPr userDrawn="1"/>
        </p:nvSpPr>
        <p:spPr>
          <a:xfrm>
            <a:off x="3385503" y="1362386"/>
            <a:ext cx="3472497" cy="285750"/>
          </a:xfrm>
          <a:prstGeom prst="roundRect">
            <a:avLst/>
          </a:prstGeom>
          <a:solidFill>
            <a:srgbClr val="B10F2A"/>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DATA APLICADA: 05/07/2021</a:t>
            </a:r>
            <a:endParaRPr lang="en-US" sz="1100" dirty="0">
              <a:effectLst/>
              <a:ea typeface="Calibri" panose="020F0502020204030204"/>
              <a:cs typeface="Times New Roman" panose="02020603050405020304"/>
            </a:endParaRPr>
          </a:p>
        </p:txBody>
      </p:sp>
      <p:sp>
        <p:nvSpPr>
          <p:cNvPr id="17" name="CaixaDeTexto 16"/>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18" name="CaixaDeTexto 17"/>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19" name="CaixaDeTexto 1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20" name="CaixaDeTexto 1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21" name="CaixaDeTexto 2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22" name="CaixaDeTexto 2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23" name="Retângulo 2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tângulo 2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Retângulo 25"/>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27" name="Retângulo 26"/>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8" name="Retângulo 27"/>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anose="020B0604030504040204" pitchFamily="34" charset="0"/>
                <a:cs typeface="Shonar Bangla" panose="020B0502040204020203" pitchFamily="34" charset="0"/>
              </a:rPr>
              <a:t>	</a:t>
            </a:r>
            <a:br>
              <a:rPr lang="pt-BR" sz="1400" b="1" dirty="0">
                <a:latin typeface="Calibri" panose="020F0502020204030204" pitchFamily="34" charset="0"/>
                <a:ea typeface="Verdana" panose="020B0604030504040204" pitchFamily="34" charset="0"/>
                <a:cs typeface="Shonar Bangla" panose="020B0502040204020203" pitchFamily="34" charset="0"/>
              </a:rPr>
            </a:br>
            <a:r>
              <a:rPr lang="pt-BR" sz="1400" b="1" dirty="0">
                <a:latin typeface="Calibri" panose="020F0502020204030204" pitchFamily="34" charset="0"/>
                <a:ea typeface="Verdana" panose="020B0604030504040204" pitchFamily="34" charset="0"/>
                <a:cs typeface="Shonar Bangla" panose="020B0502040204020203" pitchFamily="34" charset="0"/>
              </a:rPr>
              <a:t>Pa</a:t>
            </a:r>
            <a:r>
              <a:rPr lang="pt-BR" sz="1400" b="1" baseline="0" dirty="0">
                <a:latin typeface="Calibri" panose="020F0502020204030204" pitchFamily="34" charset="0"/>
                <a:ea typeface="Verdana" panose="020B0604030504040204"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anose="020B0604030504040204"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33" name="CaixaDeTexto 32"/>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34" name="CaixaDeTexto 33"/>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35" name="CaixaDeTexto 34"/>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36" name="CaixaDeTexto 35"/>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38" name="CaixaDeTexto 37"/>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39" name="Retângulo 38"/>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Retângulo 39"/>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Retângulo 40"/>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42" name="Retângulo 41"/>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3" name="Retângulo 42"/>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6" name="CaixaDeTexto 4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47" name="Retângulo 46"/>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8" name="CaixaDeTexto 47"/>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67" name="CaixaDeTexto 66"/>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68" name="CaixaDeTexto 67"/>
          <p:cNvSpPr txBox="1"/>
          <p:nvPr userDrawn="1"/>
        </p:nvSpPr>
        <p:spPr>
          <a:xfrm>
            <a:off x="220321" y="7469074"/>
            <a:ext cx="1365833" cy="461665"/>
          </a:xfrm>
          <a:prstGeom prst="rect">
            <a:avLst/>
          </a:prstGeom>
          <a:noFill/>
          <a:ln>
            <a:noFill/>
          </a:ln>
        </p:spPr>
        <p:txBody>
          <a:bodyPr wrap="square" rtlCol="0">
            <a:spAutoFit/>
          </a:bodyPr>
          <a:lstStyle/>
          <a:p>
            <a:r>
              <a:rPr lang="pt-BR" sz="1200" b="0" dirty="0"/>
              <a:t>Modelo da</a:t>
            </a:r>
            <a:endParaRPr lang="pt-BR" sz="1200" b="0" dirty="0"/>
          </a:p>
          <a:p>
            <a:r>
              <a:rPr lang="pt-BR" sz="1200" b="0" dirty="0"/>
              <a:t>Condensadora       :</a:t>
            </a:r>
            <a:endParaRPr lang="en-US" sz="1200" b="0" dirty="0"/>
          </a:p>
        </p:txBody>
      </p:sp>
      <p:sp>
        <p:nvSpPr>
          <p:cNvPr id="69" name="CaixaDeTexto 68"/>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endParaRPr lang="pt-BR" sz="1200" b="0" dirty="0"/>
          </a:p>
          <a:p>
            <a:r>
              <a:rPr lang="pt-BR" sz="1200" b="0" dirty="0"/>
              <a:t>de Série       </a:t>
            </a:r>
            <a:r>
              <a:rPr lang="pt-BR" sz="1200" b="0" baseline="0" dirty="0"/>
              <a:t>:</a:t>
            </a:r>
            <a:endParaRPr lang="en-US" sz="1200" b="0" dirty="0"/>
          </a:p>
        </p:txBody>
      </p:sp>
      <p:sp>
        <p:nvSpPr>
          <p:cNvPr id="70" name="CaixaDeTexto 69"/>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71" name="Retângulo 70"/>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tângulo 71"/>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tângulo 72"/>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Retângulo 73"/>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aixaDeTexto 76"/>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78" name="CaixaDeTexto 77"/>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79" name="Retângulo 78"/>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Retângulo de cantos arredondados 1"/>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tângulo de cantos arredondados 48"/>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tângulo de cantos arredondados 50"/>
          <p:cNvSpPr/>
          <p:nvPr userDrawn="1"/>
        </p:nvSpPr>
        <p:spPr>
          <a:xfrm>
            <a:off x="284932"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1/5</a:t>
            </a:r>
            <a:endParaRPr lang="en-US" sz="1200" dirty="0">
              <a:effectLst/>
              <a:latin typeface="Times New Roman" panose="02020603050405020304"/>
              <a:ea typeface="Times New Roman" panose="02020603050405020304"/>
            </a:endParaRPr>
          </a:p>
        </p:txBody>
      </p:sp>
      <p:sp>
        <p:nvSpPr>
          <p:cNvPr id="50" name="CaixaDeTexto 49"/>
          <p:cNvSpPr txBox="1"/>
          <p:nvPr userDrawn="1"/>
        </p:nvSpPr>
        <p:spPr>
          <a:xfrm>
            <a:off x="3931287" y="3402490"/>
            <a:ext cx="2536592" cy="276999"/>
          </a:xfrm>
          <a:prstGeom prst="rect">
            <a:avLst/>
          </a:prstGeom>
          <a:noFill/>
          <a:ln>
            <a:noFill/>
          </a:ln>
        </p:spPr>
        <p:txBody>
          <a:bodyPr wrap="none" rtlCol="0">
            <a:spAutoFit/>
          </a:bodyPr>
          <a:lstStyle/>
          <a:p>
            <a:r>
              <a:rPr lang="pt-BR" sz="1200" b="0" dirty="0"/>
              <a:t>Código BR do</a:t>
            </a:r>
            <a:r>
              <a:rPr lang="pt-BR" sz="1200" b="0" baseline="0" dirty="0"/>
              <a:t> Distribuidor / Revenda</a:t>
            </a:r>
            <a:endParaRPr lang="en-US" sz="1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a:fillRect/>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2/5</a:t>
            </a:r>
            <a:endParaRPr lang="en-US" sz="1200" dirty="0">
              <a:effectLst/>
              <a:latin typeface="Times New Roman" panose="02020603050405020304"/>
              <a:ea typeface="Times New Roman" panose="02020603050405020304"/>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endParaRPr lang="pt-BR" sz="800" b="1" baseline="0" dirty="0"/>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a:fillRect/>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58775" y="7251912"/>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a:fillRect/>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a:fillRect/>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a:fillRect/>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spTree>
      <p:nvGrpSpPr>
        <p:cNvPr id="1" name=""/>
        <p:cNvGrpSpPr/>
        <p:nvPr/>
      </p:nvGrpSpPr>
      <p:grpSpPr>
        <a:xfrm>
          <a:off x="0" y="0"/>
          <a:ext cx="0" cy="0"/>
          <a:chOff x="0" y="0"/>
          <a:chExt cx="0" cy="0"/>
        </a:xfrm>
      </p:grpSpPr>
      <p:pic>
        <p:nvPicPr>
          <p:cNvPr id="98" name="Imagem 97"/>
          <p:cNvPicPr>
            <a:picLocks noChangeAspect="1"/>
          </p:cNvPicPr>
          <p:nvPr userDrawn="1"/>
        </p:nvPicPr>
        <p:blipFill>
          <a:blip r:embed="rId2"/>
          <a:stretch>
            <a:fillRect/>
          </a:stretch>
        </p:blipFill>
        <p:spPr>
          <a:xfrm>
            <a:off x="6166993" y="7845609"/>
            <a:ext cx="438187" cy="498291"/>
          </a:xfrm>
          <a:prstGeom prst="rect">
            <a:avLst/>
          </a:prstGeom>
        </p:spPr>
      </p:pic>
      <p:pic>
        <p:nvPicPr>
          <p:cNvPr id="9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075940" y="7644684"/>
            <a:ext cx="676111" cy="250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Imagem 9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61490" y="7255975"/>
            <a:ext cx="635215" cy="377497"/>
          </a:xfrm>
          <a:prstGeom prst="rect">
            <a:avLst/>
          </a:prstGeom>
        </p:spPr>
      </p:pic>
      <p:pic>
        <p:nvPicPr>
          <p:cNvPr id="94" name="Imagem 93"/>
          <p:cNvPicPr>
            <a:picLocks noChangeAspect="1"/>
          </p:cNvPicPr>
          <p:nvPr userDrawn="1"/>
        </p:nvPicPr>
        <p:blipFill rotWithShape="1">
          <a:blip r:embed="rId5" cstate="screen">
            <a:clrChange>
              <a:clrFrom>
                <a:srgbClr val="FFFFFF"/>
              </a:clrFrom>
              <a:clrTo>
                <a:srgbClr val="FFFFFF">
                  <a:alpha val="0"/>
                </a:srgbClr>
              </a:clrTo>
            </a:clrChange>
          </a:blip>
          <a:srcRect t="31689" b="31774"/>
          <a:stretch>
            <a:fillRect/>
          </a:stretch>
        </p:blipFill>
        <p:spPr>
          <a:xfrm>
            <a:off x="6114174" y="7054338"/>
            <a:ext cx="589951" cy="215549"/>
          </a:xfrm>
          <a:prstGeom prst="rect">
            <a:avLst/>
          </a:prstGeom>
        </p:spPr>
      </p:pic>
      <p:pic>
        <p:nvPicPr>
          <p:cNvPr id="3" name="Imagem 2"/>
          <p:cNvPicPr>
            <a:picLocks noChangeAspect="1"/>
          </p:cNvPicPr>
          <p:nvPr userDrawn="1"/>
        </p:nvPicPr>
        <p:blipFill>
          <a:blip r:embed="rId6"/>
          <a:stretch>
            <a:fillRect/>
          </a:stretch>
        </p:blipFill>
        <p:spPr>
          <a:xfrm rot="21074339">
            <a:off x="2092923" y="6400647"/>
            <a:ext cx="583166" cy="984903"/>
          </a:xfrm>
          <a:prstGeom prst="rect">
            <a:avLst/>
          </a:prstGeom>
        </p:spPr>
      </p:pic>
      <p:pic>
        <p:nvPicPr>
          <p:cNvPr id="64" name="Imagem 63"/>
          <p:cNvPicPr>
            <a:picLocks noChangeAspect="1"/>
          </p:cNvPicPr>
          <p:nvPr userDrawn="1"/>
        </p:nvPicPr>
        <p:blipFill rotWithShape="1">
          <a:blip r:embed="rId5" cstate="screen">
            <a:clrChange>
              <a:clrFrom>
                <a:srgbClr val="FFFFFF"/>
              </a:clrFrom>
              <a:clrTo>
                <a:srgbClr val="FFFFFF">
                  <a:alpha val="0"/>
                </a:srgbClr>
              </a:clrTo>
            </a:clrChange>
          </a:blip>
          <a:srcRect t="31689" b="31774"/>
          <a:stretch>
            <a:fillRect/>
          </a:stretch>
        </p:blipFill>
        <p:spPr>
          <a:xfrm>
            <a:off x="1676206" y="6478969"/>
            <a:ext cx="839998" cy="308242"/>
          </a:xfrm>
          <a:prstGeom prst="rect">
            <a:avLst/>
          </a:prstGeom>
        </p:spPr>
      </p:pic>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3.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CaixaDeTexto 10"/>
          <p:cNvSpPr txBox="1"/>
          <p:nvPr userDrawn="1"/>
        </p:nvSpPr>
        <p:spPr>
          <a:xfrm>
            <a:off x="2516204" y="1314933"/>
            <a:ext cx="2087238" cy="276999"/>
          </a:xfrm>
          <a:prstGeom prst="rect">
            <a:avLst/>
          </a:prstGeom>
          <a:noFill/>
          <a:ln>
            <a:noFill/>
          </a:ln>
        </p:spPr>
        <p:txBody>
          <a:bodyPr wrap="none" rtlCol="0">
            <a:spAutoFit/>
          </a:bodyPr>
          <a:lstStyle/>
          <a:p>
            <a:r>
              <a:rPr lang="pt-BR" sz="1200" b="1" baseline="0" dirty="0"/>
              <a:t>4. Qual é o sintoma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CaixaDeTexto 12"/>
          <p:cNvSpPr txBox="1"/>
          <p:nvPr userDrawn="1"/>
        </p:nvSpPr>
        <p:spPr>
          <a:xfrm>
            <a:off x="168960" y="2051720"/>
            <a:ext cx="4045210" cy="276999"/>
          </a:xfrm>
          <a:prstGeom prst="rect">
            <a:avLst/>
          </a:prstGeom>
          <a:noFill/>
          <a:ln>
            <a:noFill/>
          </a:ln>
        </p:spPr>
        <p:txBody>
          <a:bodyPr wrap="none" rtlCol="0">
            <a:spAutoFit/>
          </a:bodyPr>
          <a:lstStyle/>
          <a:p>
            <a:r>
              <a:rPr lang="pt-BR" sz="1200" b="1" baseline="0" dirty="0"/>
              <a:t>5. Quais Testes foram realizados para concluir o diagnóstico?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CaixaDeTexto 14"/>
          <p:cNvSpPr txBox="1"/>
          <p:nvPr userDrawn="1"/>
        </p:nvSpPr>
        <p:spPr>
          <a:xfrm>
            <a:off x="175310" y="3231175"/>
            <a:ext cx="5560946" cy="276999"/>
          </a:xfrm>
          <a:prstGeom prst="rect">
            <a:avLst/>
          </a:prstGeom>
          <a:noFill/>
          <a:ln>
            <a:noFill/>
          </a:ln>
        </p:spPr>
        <p:txBody>
          <a:bodyPr wrap="none" rtlCol="0">
            <a:spAutoFit/>
          </a:bodyPr>
          <a:lstStyle/>
          <a:p>
            <a:r>
              <a:rPr lang="pt-BR" sz="1200" b="1" baseline="0" dirty="0"/>
              <a:t>6. Qual peça à ser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CaixaDeTexto 16"/>
          <p:cNvSpPr txBox="1"/>
          <p:nvPr userDrawn="1"/>
        </p:nvSpPr>
        <p:spPr>
          <a:xfrm>
            <a:off x="168960" y="4002286"/>
            <a:ext cx="3336234" cy="276999"/>
          </a:xfrm>
          <a:prstGeom prst="rect">
            <a:avLst/>
          </a:prstGeom>
          <a:noFill/>
          <a:ln>
            <a:noFill/>
          </a:ln>
        </p:spPr>
        <p:txBody>
          <a:bodyPr wrap="none" rtlCol="0">
            <a:spAutoFit/>
          </a:bodyPr>
          <a:lstStyle/>
          <a:p>
            <a:r>
              <a:rPr lang="pt-BR" sz="1200" b="1" baseline="0" dirty="0"/>
              <a:t>7. Informação sobre alguns pontos da instalação: </a:t>
            </a:r>
            <a:endParaRPr lang="en-US" sz="1200" b="1" dirty="0"/>
          </a:p>
        </p:txBody>
      </p:sp>
      <p:sp>
        <p:nvSpPr>
          <p:cNvPr id="18" name="CaixaDeTexto 17"/>
          <p:cNvSpPr txBox="1"/>
          <p:nvPr userDrawn="1"/>
        </p:nvSpPr>
        <p:spPr>
          <a:xfrm>
            <a:off x="162610" y="4285635"/>
            <a:ext cx="2568652" cy="276999"/>
          </a:xfrm>
          <a:prstGeom prst="rect">
            <a:avLst/>
          </a:prstGeom>
          <a:noFill/>
          <a:ln>
            <a:noFill/>
          </a:ln>
        </p:spPr>
        <p:txBody>
          <a:bodyPr wrap="none" rtlCol="0">
            <a:spAutoFit/>
          </a:bodyPr>
          <a:lstStyle/>
          <a:p>
            <a:r>
              <a:rPr lang="pt-BR" sz="1200" b="0" baseline="0" dirty="0"/>
              <a:t>7.1 Qual o Gás Refrigerante utilizado? </a:t>
            </a:r>
            <a:endParaRPr lang="en-US" sz="1200" b="0" dirty="0"/>
          </a:p>
        </p:txBody>
      </p:sp>
      <p:sp>
        <p:nvSpPr>
          <p:cNvPr id="20" name="CaixaDeTexto 19"/>
          <p:cNvSpPr txBox="1"/>
          <p:nvPr userDrawn="1"/>
        </p:nvSpPr>
        <p:spPr>
          <a:xfrm>
            <a:off x="4235249" y="4254351"/>
            <a:ext cx="2440461" cy="461665"/>
          </a:xfrm>
          <a:prstGeom prst="rect">
            <a:avLst/>
          </a:prstGeom>
          <a:noFill/>
          <a:ln>
            <a:noFill/>
          </a:ln>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200" b="0" baseline="0" dirty="0"/>
              <a:t>Gases homologado pela LG Chemours, Honeywell, Arkema  </a:t>
            </a:r>
            <a:endParaRPr lang="en-US" sz="1200" b="0" dirty="0"/>
          </a:p>
        </p:txBody>
      </p:sp>
      <p:sp>
        <p:nvSpPr>
          <p:cNvPr id="31" name="CaixaDeTexto 30"/>
          <p:cNvSpPr txBox="1"/>
          <p:nvPr userDrawn="1"/>
        </p:nvSpPr>
        <p:spPr>
          <a:xfrm>
            <a:off x="162858" y="5547856"/>
            <a:ext cx="3660105" cy="276999"/>
          </a:xfrm>
          <a:prstGeom prst="rect">
            <a:avLst/>
          </a:prstGeom>
          <a:noFill/>
          <a:ln>
            <a:noFill/>
          </a:ln>
        </p:spPr>
        <p:txBody>
          <a:bodyPr wrap="none" rtlCol="0">
            <a:spAutoFit/>
          </a:bodyPr>
          <a:lstStyle/>
          <a:p>
            <a:r>
              <a:rPr lang="pt-BR" sz="1200" b="0" baseline="0" dirty="0"/>
              <a:t>7.4 Qual o comprimento da Tubulação? Indique abaixo:</a:t>
            </a:r>
            <a:endParaRPr lang="en-US" sz="1200" b="0" dirty="0"/>
          </a:p>
        </p:txBody>
      </p:sp>
      <p:sp>
        <p:nvSpPr>
          <p:cNvPr id="33" name="CaixaDeTexto 32"/>
          <p:cNvSpPr txBox="1"/>
          <p:nvPr userDrawn="1"/>
        </p:nvSpPr>
        <p:spPr>
          <a:xfrm>
            <a:off x="313908" y="5807169"/>
            <a:ext cx="2240906" cy="646331"/>
          </a:xfrm>
          <a:prstGeom prst="rect">
            <a:avLst/>
          </a:prstGeom>
          <a:noFill/>
          <a:ln>
            <a:noFill/>
          </a:ln>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200" b="1" baseline="0" dirty="0"/>
              <a:t>SPLIT, TETO E CASSETE </a:t>
            </a:r>
            <a:r>
              <a:rPr lang="pt-BR" sz="1200" b="0" baseline="0" dirty="0"/>
              <a:t> – Informe a distância entre as unidades externa e interna?</a:t>
            </a:r>
            <a:endParaRPr lang="en-US" sz="1200" b="0" dirty="0"/>
          </a:p>
        </p:txBody>
      </p:sp>
      <p:sp>
        <p:nvSpPr>
          <p:cNvPr id="36" name="Retângulo 35"/>
          <p:cNvSpPr/>
          <p:nvPr userDrawn="1"/>
        </p:nvSpPr>
        <p:spPr>
          <a:xfrm>
            <a:off x="1604467" y="7283461"/>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cxnSp>
        <p:nvCxnSpPr>
          <p:cNvPr id="45" name="Conector Angulado 44"/>
          <p:cNvCxnSpPr>
            <a:stCxn id="63" idx="3"/>
            <a:endCxn id="64" idx="1"/>
          </p:cNvCxnSpPr>
          <p:nvPr userDrawn="1"/>
        </p:nvCxnSpPr>
        <p:spPr>
          <a:xfrm flipV="1">
            <a:off x="1215399" y="6633090"/>
            <a:ext cx="460807" cy="1521699"/>
          </a:xfrm>
          <a:prstGeom prst="bentConnector3">
            <a:avLst>
              <a:gd name="adj1" fmla="val 50000"/>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CaixaDeTexto 45"/>
          <p:cNvSpPr txBox="1"/>
          <p:nvPr userDrawn="1"/>
        </p:nvSpPr>
        <p:spPr>
          <a:xfrm>
            <a:off x="4374830" y="7741908"/>
            <a:ext cx="278306" cy="230832"/>
          </a:xfrm>
          <a:prstGeom prst="rect">
            <a:avLst/>
          </a:prstGeom>
          <a:noFill/>
          <a:ln>
            <a:noFill/>
          </a:ln>
        </p:spPr>
        <p:txBody>
          <a:bodyPr wrap="square" rtlCol="0">
            <a:spAutoFit/>
          </a:bodyPr>
          <a:lstStyle/>
          <a:p>
            <a:r>
              <a:rPr lang="pt-BR" sz="900" b="1" baseline="0" dirty="0"/>
              <a:t>A</a:t>
            </a:r>
            <a:endParaRPr lang="en-US" sz="900" b="1" dirty="0"/>
          </a:p>
        </p:txBody>
      </p:sp>
      <p:sp>
        <p:nvSpPr>
          <p:cNvPr id="48" name="Retângulo 47"/>
          <p:cNvSpPr/>
          <p:nvPr userDrawn="1"/>
        </p:nvSpPr>
        <p:spPr>
          <a:xfrm>
            <a:off x="737359" y="7517142"/>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51" name="CaixaDeTexto 50"/>
          <p:cNvSpPr txBox="1"/>
          <p:nvPr userDrawn="1"/>
        </p:nvSpPr>
        <p:spPr>
          <a:xfrm>
            <a:off x="4373849" y="7869508"/>
            <a:ext cx="278306" cy="230832"/>
          </a:xfrm>
          <a:prstGeom prst="rect">
            <a:avLst/>
          </a:prstGeom>
          <a:noFill/>
          <a:ln>
            <a:noFill/>
          </a:ln>
        </p:spPr>
        <p:txBody>
          <a:bodyPr wrap="square" rtlCol="0">
            <a:spAutoFit/>
          </a:bodyPr>
          <a:lstStyle/>
          <a:p>
            <a:r>
              <a:rPr lang="pt-BR" sz="900" b="1" dirty="0"/>
              <a:t>B</a:t>
            </a:r>
            <a:endParaRPr lang="en-US" sz="900" b="1" dirty="0"/>
          </a:p>
        </p:txBody>
      </p:sp>
      <p:sp>
        <p:nvSpPr>
          <p:cNvPr id="52" name="CaixaDeTexto 51"/>
          <p:cNvSpPr txBox="1"/>
          <p:nvPr userDrawn="1"/>
        </p:nvSpPr>
        <p:spPr>
          <a:xfrm>
            <a:off x="4373433" y="8020104"/>
            <a:ext cx="278306" cy="230832"/>
          </a:xfrm>
          <a:prstGeom prst="rect">
            <a:avLst/>
          </a:prstGeom>
          <a:noFill/>
          <a:ln>
            <a:noFill/>
          </a:ln>
        </p:spPr>
        <p:txBody>
          <a:bodyPr wrap="square" rtlCol="0">
            <a:spAutoFit/>
          </a:bodyPr>
          <a:lstStyle/>
          <a:p>
            <a:r>
              <a:rPr lang="pt-BR" sz="900" b="1" baseline="0" dirty="0"/>
              <a:t>C</a:t>
            </a:r>
            <a:endParaRPr lang="en-US" sz="900" b="1" dirty="0"/>
          </a:p>
        </p:txBody>
      </p:sp>
      <p:sp>
        <p:nvSpPr>
          <p:cNvPr id="53" name="CaixaDeTexto 52"/>
          <p:cNvSpPr txBox="1"/>
          <p:nvPr userDrawn="1"/>
        </p:nvSpPr>
        <p:spPr>
          <a:xfrm>
            <a:off x="4374606" y="8172400"/>
            <a:ext cx="278306" cy="230832"/>
          </a:xfrm>
          <a:prstGeom prst="rect">
            <a:avLst/>
          </a:prstGeom>
          <a:noFill/>
          <a:ln>
            <a:noFill/>
          </a:ln>
        </p:spPr>
        <p:txBody>
          <a:bodyPr wrap="square" rtlCol="0">
            <a:spAutoFit/>
          </a:bodyPr>
          <a:lstStyle/>
          <a:p>
            <a:r>
              <a:rPr lang="pt-BR" sz="900" b="1" baseline="0" dirty="0"/>
              <a:t>D</a:t>
            </a:r>
            <a:endParaRPr lang="en-US" sz="900" b="1" dirty="0"/>
          </a:p>
        </p:txBody>
      </p:sp>
      <p:sp>
        <p:nvSpPr>
          <p:cNvPr id="54" name="CaixaDeTexto 53"/>
          <p:cNvSpPr txBox="1"/>
          <p:nvPr userDrawn="1"/>
        </p:nvSpPr>
        <p:spPr>
          <a:xfrm>
            <a:off x="4378172" y="8307026"/>
            <a:ext cx="278306" cy="230832"/>
          </a:xfrm>
          <a:prstGeom prst="rect">
            <a:avLst/>
          </a:prstGeom>
          <a:noFill/>
          <a:ln>
            <a:noFill/>
          </a:ln>
        </p:spPr>
        <p:txBody>
          <a:bodyPr wrap="square" rtlCol="0">
            <a:spAutoFit/>
          </a:bodyPr>
          <a:lstStyle/>
          <a:p>
            <a:r>
              <a:rPr lang="pt-BR" sz="900" b="1" baseline="0" dirty="0"/>
              <a:t>E</a:t>
            </a:r>
            <a:endParaRPr lang="en-US" sz="900" b="1" dirty="0"/>
          </a:p>
        </p:txBody>
      </p:sp>
      <p:sp>
        <p:nvSpPr>
          <p:cNvPr id="60" name="CaixaDeTexto 59"/>
          <p:cNvSpPr txBox="1"/>
          <p:nvPr userDrawn="1"/>
        </p:nvSpPr>
        <p:spPr>
          <a:xfrm>
            <a:off x="2988293" y="5807169"/>
            <a:ext cx="3609057" cy="646331"/>
          </a:xfrm>
          <a:prstGeom prst="rect">
            <a:avLst/>
          </a:prstGeom>
          <a:noFill/>
          <a:ln>
            <a:noFill/>
          </a:ln>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200" b="1" baseline="0" dirty="0"/>
              <a:t>MULTI SPLIT</a:t>
            </a:r>
            <a:r>
              <a:rPr lang="pt-BR" sz="1200" b="0" baseline="0" dirty="0"/>
              <a:t> – Informe a distância entre as unidades externa e internas?</a:t>
            </a:r>
            <a:endParaRPr lang="en-US" sz="1200" b="0" dirty="0"/>
          </a:p>
          <a:p>
            <a:r>
              <a:rPr lang="pt-BR" sz="1200" b="0" baseline="0" dirty="0"/>
              <a:t> </a:t>
            </a:r>
            <a:endParaRPr lang="en-US" sz="1200" b="0" dirty="0"/>
          </a:p>
        </p:txBody>
      </p:sp>
      <p:pic>
        <p:nvPicPr>
          <p:cNvPr id="61" name="Picture 4"/>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3048392" y="7458251"/>
            <a:ext cx="1370403" cy="1082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3"/>
          <p:cNvPicPr>
            <a:picLocks noChangeAspect="1" noChangeArrowheads="1"/>
          </p:cNvPicPr>
          <p:nvPr userDrawn="1"/>
        </p:nvPicPr>
        <p:blipFill>
          <a:blip r:embed="rId8" cstate="print"/>
          <a:srcRect l="24806" t="27405" r="29717" b="19676"/>
          <a:stretch>
            <a:fillRect/>
          </a:stretch>
        </p:blipFill>
        <p:spPr bwMode="auto">
          <a:xfrm>
            <a:off x="125328" y="7758399"/>
            <a:ext cx="1090071" cy="792779"/>
          </a:xfrm>
          <a:prstGeom prst="rect">
            <a:avLst/>
          </a:prstGeom>
          <a:noFill/>
          <a:ln w="9525">
            <a:noFill/>
            <a:miter lim="800000"/>
            <a:headEnd/>
            <a:tailEnd/>
          </a:ln>
        </p:spPr>
      </p:pic>
      <p:cxnSp>
        <p:nvCxnSpPr>
          <p:cNvPr id="77" name="Conector Reto 76"/>
          <p:cNvCxnSpPr/>
          <p:nvPr userDrawn="1"/>
        </p:nvCxnSpPr>
        <p:spPr>
          <a:xfrm flipV="1">
            <a:off x="1517214" y="8154788"/>
            <a:ext cx="183594"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ector de Seta Reta 79"/>
          <p:cNvCxnSpPr/>
          <p:nvPr userDrawn="1"/>
        </p:nvCxnSpPr>
        <p:spPr>
          <a:xfrm flipV="1">
            <a:off x="1590700" y="6660232"/>
            <a:ext cx="0" cy="1494558"/>
          </a:xfrm>
          <a:prstGeom prst="straightConnector1">
            <a:avLst/>
          </a:prstGeom>
          <a:ln w="6350">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85" name="Conector Angulado 84"/>
          <p:cNvCxnSpPr/>
          <p:nvPr userDrawn="1"/>
        </p:nvCxnSpPr>
        <p:spPr>
          <a:xfrm flipV="1">
            <a:off x="1215399" y="6559324"/>
            <a:ext cx="460807" cy="1521699"/>
          </a:xfrm>
          <a:prstGeom prst="bentConnector3">
            <a:avLst>
              <a:gd name="adj1" fmla="val 33464"/>
            </a:avLst>
          </a:prstGeom>
          <a:ln w="6350">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91" name="Conector Angulado 90"/>
          <p:cNvCxnSpPr/>
          <p:nvPr userDrawn="1"/>
        </p:nvCxnSpPr>
        <p:spPr>
          <a:xfrm flipV="1">
            <a:off x="4368800" y="7150948"/>
            <a:ext cx="1763184" cy="894502"/>
          </a:xfrm>
          <a:prstGeom prst="bentConnector3">
            <a:avLst>
              <a:gd name="adj1" fmla="val 16867"/>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6" name="Picture 6"/>
          <p:cNvPicPr>
            <a:picLocks noChangeAspect="1" noChangeArrowheads="1"/>
          </p:cNvPicPr>
          <p:nvPr userDrawn="1"/>
        </p:nvPicPr>
        <p:blipFill>
          <a:blip r:embed="rId9" cstate="print"/>
          <a:srcRect/>
          <a:stretch>
            <a:fillRect/>
          </a:stretch>
        </p:blipFill>
        <p:spPr bwMode="auto">
          <a:xfrm rot="5400000">
            <a:off x="6305210" y="6562906"/>
            <a:ext cx="184388" cy="556612"/>
          </a:xfrm>
          <a:prstGeom prst="rect">
            <a:avLst/>
          </a:prstGeom>
          <a:noFill/>
          <a:ln w="9525">
            <a:noFill/>
            <a:miter lim="800000"/>
            <a:headEnd/>
            <a:tailEnd/>
          </a:ln>
        </p:spPr>
      </p:pic>
      <p:cxnSp>
        <p:nvCxnSpPr>
          <p:cNvPr id="49" name="Conector Angulado 48"/>
          <p:cNvCxnSpPr>
            <a:endCxn id="96" idx="2"/>
          </p:cNvCxnSpPr>
          <p:nvPr userDrawn="1"/>
        </p:nvCxnSpPr>
        <p:spPr>
          <a:xfrm flipV="1">
            <a:off x="4362450" y="6841212"/>
            <a:ext cx="1756648" cy="1064538"/>
          </a:xfrm>
          <a:prstGeom prst="bentConnector3">
            <a:avLst>
              <a:gd name="adj1" fmla="val 13129"/>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Conector Angulado 105"/>
          <p:cNvCxnSpPr/>
          <p:nvPr userDrawn="1"/>
        </p:nvCxnSpPr>
        <p:spPr>
          <a:xfrm flipV="1">
            <a:off x="4362450" y="7777314"/>
            <a:ext cx="1769534" cy="566586"/>
          </a:xfrm>
          <a:prstGeom prst="bentConnector3">
            <a:avLst>
              <a:gd name="adj1" fmla="val 2488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Conector Angulado 110"/>
          <p:cNvCxnSpPr/>
          <p:nvPr userDrawn="1"/>
        </p:nvCxnSpPr>
        <p:spPr>
          <a:xfrm flipV="1">
            <a:off x="4368800" y="8108405"/>
            <a:ext cx="1782996" cy="362495"/>
          </a:xfrm>
          <a:prstGeom prst="bentConnector3">
            <a:avLst>
              <a:gd name="adj1" fmla="val 2756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Retângulo 119"/>
          <p:cNvSpPr/>
          <p:nvPr userDrawn="1"/>
        </p:nvSpPr>
        <p:spPr>
          <a:xfrm>
            <a:off x="5525793" y="7857154"/>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129" name="Retângulo 128"/>
          <p:cNvSpPr/>
          <p:nvPr userDrawn="1"/>
        </p:nvSpPr>
        <p:spPr>
          <a:xfrm>
            <a:off x="4902317" y="7858826"/>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sp>
        <p:nvSpPr>
          <p:cNvPr id="132" name="Retângulo 131"/>
          <p:cNvSpPr/>
          <p:nvPr userDrawn="1"/>
        </p:nvSpPr>
        <p:spPr>
          <a:xfrm>
            <a:off x="5532090" y="7530678"/>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133" name="Retângulo 132"/>
          <p:cNvSpPr/>
          <p:nvPr userDrawn="1"/>
        </p:nvSpPr>
        <p:spPr>
          <a:xfrm>
            <a:off x="4895967" y="7537028"/>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cxnSp>
        <p:nvCxnSpPr>
          <p:cNvPr id="142" name="Conector Angulado 141"/>
          <p:cNvCxnSpPr/>
          <p:nvPr userDrawn="1"/>
        </p:nvCxnSpPr>
        <p:spPr>
          <a:xfrm flipV="1">
            <a:off x="4368800" y="7451088"/>
            <a:ext cx="1763184" cy="746762"/>
          </a:xfrm>
          <a:prstGeom prst="bentConnector3">
            <a:avLst>
              <a:gd name="adj1" fmla="val 20469"/>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Retângulo 147"/>
          <p:cNvSpPr/>
          <p:nvPr userDrawn="1"/>
        </p:nvSpPr>
        <p:spPr>
          <a:xfrm>
            <a:off x="5525792" y="7202924"/>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149" name="Retângulo 148"/>
          <p:cNvSpPr/>
          <p:nvPr userDrawn="1"/>
        </p:nvSpPr>
        <p:spPr>
          <a:xfrm>
            <a:off x="4889669" y="7209274"/>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sp>
        <p:nvSpPr>
          <p:cNvPr id="156" name="Retângulo 155"/>
          <p:cNvSpPr/>
          <p:nvPr userDrawn="1"/>
        </p:nvSpPr>
        <p:spPr>
          <a:xfrm>
            <a:off x="5525791" y="6888956"/>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157" name="Retângulo 156"/>
          <p:cNvSpPr/>
          <p:nvPr userDrawn="1"/>
        </p:nvSpPr>
        <p:spPr>
          <a:xfrm>
            <a:off x="4889668" y="6895306"/>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sp>
        <p:nvSpPr>
          <p:cNvPr id="160" name="Retângulo 159"/>
          <p:cNvSpPr/>
          <p:nvPr userDrawn="1"/>
        </p:nvSpPr>
        <p:spPr>
          <a:xfrm>
            <a:off x="5532090" y="6578956"/>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a:t>
            </a:r>
            <a:endParaRPr lang="en-US" sz="900" b="1" dirty="0">
              <a:solidFill>
                <a:schemeClr val="tx1"/>
              </a:solidFill>
            </a:endParaRPr>
          </a:p>
        </p:txBody>
      </p:sp>
      <p:sp>
        <p:nvSpPr>
          <p:cNvPr id="161" name="Retângulo 160"/>
          <p:cNvSpPr/>
          <p:nvPr userDrawn="1"/>
        </p:nvSpPr>
        <p:spPr>
          <a:xfrm>
            <a:off x="4895967" y="6585306"/>
            <a:ext cx="53140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sp>
        <p:nvSpPr>
          <p:cNvPr id="162" name="CaixaDeTexto 161"/>
          <p:cNvSpPr txBox="1"/>
          <p:nvPr userDrawn="1"/>
        </p:nvSpPr>
        <p:spPr>
          <a:xfrm>
            <a:off x="4712445" y="6151984"/>
            <a:ext cx="766128" cy="461665"/>
          </a:xfrm>
          <a:prstGeom prst="rect">
            <a:avLst/>
          </a:prstGeom>
          <a:noFill/>
          <a:ln>
            <a:noFill/>
          </a:ln>
        </p:spPr>
        <p:txBody>
          <a:bodyPr wrap="square" rtlCol="0">
            <a:spAutoFit/>
          </a:bodyPr>
          <a:lstStyle/>
          <a:p>
            <a:pPr algn="ctr"/>
            <a:r>
              <a:rPr lang="pt-BR" sz="800" b="1" baseline="0" dirty="0"/>
              <a:t>Bitola em Polegadas Líquido / Gás  </a:t>
            </a:r>
            <a:endParaRPr lang="en-US" sz="800" b="1" dirty="0"/>
          </a:p>
        </p:txBody>
      </p:sp>
      <p:sp>
        <p:nvSpPr>
          <p:cNvPr id="163" name="CaixaDeTexto 162"/>
          <p:cNvSpPr txBox="1"/>
          <p:nvPr userDrawn="1"/>
        </p:nvSpPr>
        <p:spPr>
          <a:xfrm>
            <a:off x="5407124" y="6281142"/>
            <a:ext cx="792088" cy="338554"/>
          </a:xfrm>
          <a:prstGeom prst="rect">
            <a:avLst/>
          </a:prstGeom>
          <a:noFill/>
          <a:ln>
            <a:noFill/>
          </a:ln>
        </p:spPr>
        <p:txBody>
          <a:bodyPr wrap="square" rtlCol="0">
            <a:spAutoFit/>
          </a:bodyPr>
          <a:lstStyle/>
          <a:p>
            <a:pPr algn="ctr"/>
            <a:r>
              <a:rPr lang="pt-BR" sz="800" b="1" baseline="0" dirty="0"/>
              <a:t>Comprimento em Metros</a:t>
            </a:r>
            <a:endParaRPr lang="en-US" sz="800" b="1" dirty="0"/>
          </a:p>
        </p:txBody>
      </p:sp>
      <p:sp>
        <p:nvSpPr>
          <p:cNvPr id="164" name="CaixaDeTexto 163"/>
          <p:cNvSpPr txBox="1"/>
          <p:nvPr userDrawn="1"/>
        </p:nvSpPr>
        <p:spPr>
          <a:xfrm>
            <a:off x="6069246" y="6588224"/>
            <a:ext cx="278306" cy="230832"/>
          </a:xfrm>
          <a:prstGeom prst="rect">
            <a:avLst/>
          </a:prstGeom>
          <a:noFill/>
          <a:ln>
            <a:noFill/>
          </a:ln>
        </p:spPr>
        <p:txBody>
          <a:bodyPr wrap="square" rtlCol="0">
            <a:spAutoFit/>
          </a:bodyPr>
          <a:lstStyle/>
          <a:p>
            <a:r>
              <a:rPr lang="pt-BR" sz="900" b="1" baseline="0" dirty="0"/>
              <a:t>A</a:t>
            </a:r>
            <a:endParaRPr lang="en-US" sz="900" b="1" dirty="0"/>
          </a:p>
        </p:txBody>
      </p:sp>
      <p:sp>
        <p:nvSpPr>
          <p:cNvPr id="165" name="CaixaDeTexto 164"/>
          <p:cNvSpPr txBox="1"/>
          <p:nvPr userDrawn="1"/>
        </p:nvSpPr>
        <p:spPr>
          <a:xfrm>
            <a:off x="6074648" y="6893591"/>
            <a:ext cx="278306" cy="230832"/>
          </a:xfrm>
          <a:prstGeom prst="rect">
            <a:avLst/>
          </a:prstGeom>
          <a:noFill/>
          <a:ln>
            <a:noFill/>
          </a:ln>
        </p:spPr>
        <p:txBody>
          <a:bodyPr wrap="square" rtlCol="0">
            <a:spAutoFit/>
          </a:bodyPr>
          <a:lstStyle/>
          <a:p>
            <a:r>
              <a:rPr lang="pt-BR" sz="900" b="1" dirty="0"/>
              <a:t>B</a:t>
            </a:r>
            <a:endParaRPr lang="en-US" sz="900" b="1" dirty="0"/>
          </a:p>
        </p:txBody>
      </p:sp>
      <p:sp>
        <p:nvSpPr>
          <p:cNvPr id="166" name="CaixaDeTexto 165"/>
          <p:cNvSpPr txBox="1"/>
          <p:nvPr userDrawn="1"/>
        </p:nvSpPr>
        <p:spPr>
          <a:xfrm>
            <a:off x="6076260" y="7210781"/>
            <a:ext cx="278306" cy="230832"/>
          </a:xfrm>
          <a:prstGeom prst="rect">
            <a:avLst/>
          </a:prstGeom>
          <a:noFill/>
          <a:ln>
            <a:noFill/>
          </a:ln>
        </p:spPr>
        <p:txBody>
          <a:bodyPr wrap="square" rtlCol="0">
            <a:spAutoFit/>
          </a:bodyPr>
          <a:lstStyle/>
          <a:p>
            <a:r>
              <a:rPr lang="pt-BR" sz="900" b="1" dirty="0"/>
              <a:t>C</a:t>
            </a:r>
            <a:endParaRPr lang="en-US" sz="900" b="1" dirty="0"/>
          </a:p>
        </p:txBody>
      </p:sp>
      <p:sp>
        <p:nvSpPr>
          <p:cNvPr id="167" name="CaixaDeTexto 166"/>
          <p:cNvSpPr txBox="1"/>
          <p:nvPr userDrawn="1"/>
        </p:nvSpPr>
        <p:spPr>
          <a:xfrm>
            <a:off x="6080030" y="7528502"/>
            <a:ext cx="278306" cy="230832"/>
          </a:xfrm>
          <a:prstGeom prst="rect">
            <a:avLst/>
          </a:prstGeom>
          <a:noFill/>
          <a:ln>
            <a:noFill/>
          </a:ln>
        </p:spPr>
        <p:txBody>
          <a:bodyPr wrap="square" rtlCol="0">
            <a:spAutoFit/>
          </a:bodyPr>
          <a:lstStyle/>
          <a:p>
            <a:r>
              <a:rPr lang="pt-BR" sz="900" b="1" dirty="0"/>
              <a:t>D</a:t>
            </a:r>
            <a:endParaRPr lang="en-US" sz="900" b="1" dirty="0"/>
          </a:p>
        </p:txBody>
      </p:sp>
      <p:sp>
        <p:nvSpPr>
          <p:cNvPr id="168" name="CaixaDeTexto 167"/>
          <p:cNvSpPr txBox="1"/>
          <p:nvPr userDrawn="1"/>
        </p:nvSpPr>
        <p:spPr>
          <a:xfrm>
            <a:off x="6092730" y="7858399"/>
            <a:ext cx="278306" cy="230832"/>
          </a:xfrm>
          <a:prstGeom prst="rect">
            <a:avLst/>
          </a:prstGeom>
          <a:noFill/>
          <a:ln>
            <a:noFill/>
          </a:ln>
        </p:spPr>
        <p:txBody>
          <a:bodyPr wrap="square" rtlCol="0">
            <a:spAutoFit/>
          </a:bodyPr>
          <a:lstStyle/>
          <a:p>
            <a:r>
              <a:rPr lang="pt-BR" sz="900" b="1" dirty="0"/>
              <a:t>E</a:t>
            </a:r>
            <a:endParaRPr lang="en-US" sz="900" b="1" dirty="0"/>
          </a:p>
        </p:txBody>
      </p:sp>
      <p:sp>
        <p:nvSpPr>
          <p:cNvPr id="169" name="Retângulo 168"/>
          <p:cNvSpPr/>
          <p:nvPr userDrawn="1"/>
        </p:nvSpPr>
        <p:spPr>
          <a:xfrm>
            <a:off x="332656" y="6870699"/>
            <a:ext cx="619480"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900" b="1" dirty="0">
              <a:solidFill>
                <a:schemeClr val="tx1"/>
              </a:solidFill>
            </a:endParaRPr>
          </a:p>
        </p:txBody>
      </p:sp>
      <p:sp>
        <p:nvSpPr>
          <p:cNvPr id="170" name="CaixaDeTexto 169"/>
          <p:cNvSpPr txBox="1"/>
          <p:nvPr userDrawn="1"/>
        </p:nvSpPr>
        <p:spPr>
          <a:xfrm>
            <a:off x="263987" y="6465416"/>
            <a:ext cx="762225" cy="461665"/>
          </a:xfrm>
          <a:prstGeom prst="rect">
            <a:avLst/>
          </a:prstGeom>
          <a:noFill/>
          <a:ln>
            <a:noFill/>
          </a:ln>
        </p:spPr>
        <p:txBody>
          <a:bodyPr wrap="square" rtlCol="0">
            <a:spAutoFit/>
          </a:bodyPr>
          <a:lstStyle/>
          <a:p>
            <a:pPr algn="ctr"/>
            <a:r>
              <a:rPr lang="pt-BR" sz="800" b="1" baseline="0" dirty="0"/>
              <a:t>Bitola em Polegadas</a:t>
            </a:r>
            <a:br>
              <a:rPr lang="pt-BR" sz="800" b="1" baseline="0" dirty="0"/>
            </a:br>
            <a:r>
              <a:rPr lang="pt-BR" sz="800" b="1" baseline="0" dirty="0"/>
              <a:t>Liquido / Gás </a:t>
            </a:r>
            <a:endParaRPr lang="en-US" sz="800" b="1" dirty="0"/>
          </a:p>
        </p:txBody>
      </p:sp>
      <p:sp>
        <p:nvSpPr>
          <p:cNvPr id="171" name="CaixaDeTexto 170"/>
          <p:cNvSpPr txBox="1"/>
          <p:nvPr userDrawn="1"/>
        </p:nvSpPr>
        <p:spPr>
          <a:xfrm>
            <a:off x="1620962" y="7124610"/>
            <a:ext cx="698451" cy="215444"/>
          </a:xfrm>
          <a:prstGeom prst="rect">
            <a:avLst/>
          </a:prstGeom>
          <a:noFill/>
          <a:ln>
            <a:noFill/>
          </a:ln>
        </p:spPr>
        <p:txBody>
          <a:bodyPr wrap="square" rtlCol="0">
            <a:spAutoFit/>
          </a:bodyPr>
          <a:lstStyle/>
          <a:p>
            <a:pPr algn="ctr"/>
            <a:r>
              <a:rPr lang="pt-BR" sz="800" b="1" baseline="0" dirty="0"/>
              <a:t>Desnível</a:t>
            </a:r>
            <a:endParaRPr lang="en-US" sz="800" b="1" dirty="0"/>
          </a:p>
        </p:txBody>
      </p:sp>
      <p:sp>
        <p:nvSpPr>
          <p:cNvPr id="172" name="CaixaDeTexto 171"/>
          <p:cNvSpPr txBox="1"/>
          <p:nvPr userDrawn="1"/>
        </p:nvSpPr>
        <p:spPr>
          <a:xfrm>
            <a:off x="463972" y="7109271"/>
            <a:ext cx="976329" cy="461665"/>
          </a:xfrm>
          <a:prstGeom prst="rect">
            <a:avLst/>
          </a:prstGeom>
          <a:noFill/>
          <a:ln>
            <a:noFill/>
          </a:ln>
        </p:spPr>
        <p:txBody>
          <a:bodyPr wrap="square" rtlCol="0">
            <a:spAutoFit/>
          </a:bodyPr>
          <a:lstStyle/>
          <a:p>
            <a:pPr algn="ctr"/>
            <a:r>
              <a:rPr lang="pt-BR" sz="800" b="1" baseline="0" dirty="0"/>
              <a:t>Comprimento</a:t>
            </a:r>
            <a:r>
              <a:rPr lang="en-US" sz="800" b="1" baseline="0" dirty="0"/>
              <a:t> entre Unidade Externa e Interna</a:t>
            </a:r>
            <a:endParaRPr lang="pt-BR" sz="800" b="1" baseline="0" dirty="0"/>
          </a:p>
        </p:txBody>
      </p:sp>
      <p:sp>
        <p:nvSpPr>
          <p:cNvPr id="173" name="Estrela de 7 Pontos 172"/>
          <p:cNvSpPr/>
          <p:nvPr userDrawn="1"/>
        </p:nvSpPr>
        <p:spPr>
          <a:xfrm rot="20400957">
            <a:off x="2556978" y="6199811"/>
            <a:ext cx="1508920" cy="1174027"/>
          </a:xfrm>
          <a:prstGeom prst="star7">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pt-BR" sz="800" dirty="0">
              <a:solidFill>
                <a:schemeClr val="tx1"/>
              </a:solidFill>
            </a:endParaRPr>
          </a:p>
          <a:p>
            <a:pPr algn="ctr"/>
            <a:r>
              <a:rPr lang="pt-BR" sz="800" dirty="0">
                <a:solidFill>
                  <a:schemeClr val="tx1"/>
                </a:solidFill>
              </a:rPr>
              <a:t>Certifique-se que</a:t>
            </a:r>
            <a:r>
              <a:rPr lang="pt-BR" sz="800" baseline="0" dirty="0">
                <a:solidFill>
                  <a:schemeClr val="tx1"/>
                </a:solidFill>
              </a:rPr>
              <a:t> o comprimento e as bitolas das tubulações estejam de acordo conforme manual  </a:t>
            </a:r>
            <a:endParaRPr lang="en-US" sz="800" dirty="0">
              <a:solidFill>
                <a:schemeClr val="tx1"/>
              </a:solidFill>
            </a:endParaRPr>
          </a:p>
        </p:txBody>
      </p:sp>
      <p:sp>
        <p:nvSpPr>
          <p:cNvPr id="174" name="CaixaDeTexto 173"/>
          <p:cNvSpPr txBox="1"/>
          <p:nvPr userDrawn="1"/>
        </p:nvSpPr>
        <p:spPr>
          <a:xfrm>
            <a:off x="163966" y="4938390"/>
            <a:ext cx="3205301" cy="276999"/>
          </a:xfrm>
          <a:prstGeom prst="rect">
            <a:avLst/>
          </a:prstGeom>
          <a:noFill/>
          <a:ln>
            <a:noFill/>
          </a:ln>
        </p:spPr>
        <p:txBody>
          <a:bodyPr wrap="none" rtlCol="0">
            <a:spAutoFit/>
          </a:bodyPr>
          <a:lstStyle/>
          <a:p>
            <a:r>
              <a:rPr lang="pt-BR" sz="1200" b="0" baseline="0" dirty="0"/>
              <a:t>7.2 Foi adicionado Gás Refrigerante ao Sistema ?</a:t>
            </a:r>
            <a:endParaRPr lang="en-US" sz="1200" b="0" dirty="0"/>
          </a:p>
        </p:txBody>
      </p:sp>
      <p:sp>
        <p:nvSpPr>
          <p:cNvPr id="176" name="Retângulo 175"/>
          <p:cNvSpPr/>
          <p:nvPr userDrawn="1"/>
        </p:nvSpPr>
        <p:spPr>
          <a:xfrm>
            <a:off x="3284984" y="4985461"/>
            <a:ext cx="288032"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8" name="CaixaDeTexto 177"/>
          <p:cNvSpPr txBox="1"/>
          <p:nvPr userDrawn="1"/>
        </p:nvSpPr>
        <p:spPr>
          <a:xfrm>
            <a:off x="3492445" y="4951727"/>
            <a:ext cx="371208" cy="276999"/>
          </a:xfrm>
          <a:prstGeom prst="rect">
            <a:avLst/>
          </a:prstGeom>
          <a:noFill/>
          <a:ln>
            <a:noFill/>
          </a:ln>
        </p:spPr>
        <p:txBody>
          <a:bodyPr wrap="none" rtlCol="0">
            <a:spAutoFit/>
          </a:bodyPr>
          <a:lstStyle/>
          <a:p>
            <a:r>
              <a:rPr lang="pt-BR" sz="1200" b="0" baseline="0" dirty="0"/>
              <a:t>Sim </a:t>
            </a:r>
            <a:endParaRPr lang="en-US" sz="1200" b="0" dirty="0"/>
          </a:p>
        </p:txBody>
      </p:sp>
      <p:sp>
        <p:nvSpPr>
          <p:cNvPr id="180" name="CaixaDeTexto 179"/>
          <p:cNvSpPr txBox="1"/>
          <p:nvPr userDrawn="1"/>
        </p:nvSpPr>
        <p:spPr>
          <a:xfrm>
            <a:off x="1628800" y="7674896"/>
            <a:ext cx="1620380" cy="276999"/>
          </a:xfrm>
          <a:prstGeom prst="rect">
            <a:avLst/>
          </a:prstGeom>
          <a:noFill/>
          <a:ln>
            <a:noFill/>
          </a:ln>
        </p:spPr>
        <p:txBody>
          <a:bodyPr wrap="none" rtlCol="0">
            <a:spAutoFit/>
          </a:bodyPr>
          <a:lstStyle/>
          <a:p>
            <a:r>
              <a:rPr lang="pt-BR" sz="1200" b="0" baseline="0" dirty="0"/>
              <a:t>Temp. no evaporador   </a:t>
            </a:r>
            <a:endParaRPr lang="en-US" sz="1200" b="0" dirty="0"/>
          </a:p>
        </p:txBody>
      </p:sp>
      <p:sp>
        <p:nvSpPr>
          <p:cNvPr id="183" name="Retângulo 182"/>
          <p:cNvSpPr/>
          <p:nvPr userDrawn="1"/>
        </p:nvSpPr>
        <p:spPr>
          <a:xfrm>
            <a:off x="4293096" y="5288052"/>
            <a:ext cx="202763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4" name="Retângulo 183"/>
          <p:cNvSpPr/>
          <p:nvPr userDrawn="1"/>
        </p:nvSpPr>
        <p:spPr>
          <a:xfrm>
            <a:off x="3944895" y="4972166"/>
            <a:ext cx="288032"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5" name="CaixaDeTexto 184"/>
          <p:cNvSpPr txBox="1"/>
          <p:nvPr userDrawn="1"/>
        </p:nvSpPr>
        <p:spPr>
          <a:xfrm>
            <a:off x="163240" y="5251807"/>
            <a:ext cx="4204677" cy="276999"/>
          </a:xfrm>
          <a:prstGeom prst="rect">
            <a:avLst/>
          </a:prstGeom>
          <a:noFill/>
          <a:ln>
            <a:noFill/>
          </a:ln>
        </p:spPr>
        <p:txBody>
          <a:bodyPr wrap="none" rtlCol="0">
            <a:spAutoFit/>
          </a:bodyPr>
          <a:lstStyle/>
          <a:p>
            <a:r>
              <a:rPr lang="pt-BR" sz="1200" b="0" baseline="0" dirty="0"/>
              <a:t>7.3 Quanto de Gás Refrigerante foi adicionado ao Sistema (g/m)?</a:t>
            </a:r>
            <a:endParaRPr lang="en-US" sz="1200" b="0" dirty="0"/>
          </a:p>
        </p:txBody>
      </p:sp>
      <p:sp>
        <p:nvSpPr>
          <p:cNvPr id="188" name="CaixaDeTexto 187"/>
          <p:cNvSpPr txBox="1"/>
          <p:nvPr userDrawn="1"/>
        </p:nvSpPr>
        <p:spPr>
          <a:xfrm>
            <a:off x="2924944" y="4266945"/>
            <a:ext cx="639919" cy="276999"/>
          </a:xfrm>
          <a:prstGeom prst="rect">
            <a:avLst/>
          </a:prstGeom>
          <a:noFill/>
          <a:ln>
            <a:noFill/>
          </a:ln>
        </p:spPr>
        <p:txBody>
          <a:bodyPr wrap="none" rtlCol="0">
            <a:spAutoFit/>
          </a:bodyPr>
          <a:lstStyle/>
          <a:p>
            <a:r>
              <a:rPr lang="pt-BR" sz="1200" b="0" baseline="0" dirty="0"/>
              <a:t>R-410A</a:t>
            </a:r>
            <a:endParaRPr lang="en-US" sz="1200" b="0" dirty="0"/>
          </a:p>
        </p:txBody>
      </p:sp>
      <p:sp>
        <p:nvSpPr>
          <p:cNvPr id="189" name="Retângulo 188"/>
          <p:cNvSpPr/>
          <p:nvPr userDrawn="1"/>
        </p:nvSpPr>
        <p:spPr>
          <a:xfrm>
            <a:off x="2686235" y="4294968"/>
            <a:ext cx="288032"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2" name="CaixaDeTexto 191"/>
          <p:cNvSpPr txBox="1"/>
          <p:nvPr userDrawn="1"/>
        </p:nvSpPr>
        <p:spPr>
          <a:xfrm>
            <a:off x="3811725" y="4251622"/>
            <a:ext cx="471604" cy="276999"/>
          </a:xfrm>
          <a:prstGeom prst="rect">
            <a:avLst/>
          </a:prstGeom>
          <a:noFill/>
          <a:ln>
            <a:noFill/>
          </a:ln>
        </p:spPr>
        <p:txBody>
          <a:bodyPr wrap="none" rtlCol="0">
            <a:spAutoFit/>
          </a:bodyPr>
          <a:lstStyle/>
          <a:p>
            <a:r>
              <a:rPr lang="pt-BR" sz="1200" b="0" baseline="0" dirty="0"/>
              <a:t>R-32</a:t>
            </a:r>
            <a:endParaRPr lang="en-US" sz="1200" b="0" dirty="0"/>
          </a:p>
        </p:txBody>
      </p:sp>
      <p:sp>
        <p:nvSpPr>
          <p:cNvPr id="193" name="Retângulo 192"/>
          <p:cNvSpPr/>
          <p:nvPr userDrawn="1"/>
        </p:nvSpPr>
        <p:spPr>
          <a:xfrm>
            <a:off x="3573016" y="4279645"/>
            <a:ext cx="288032"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4"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3/5</a:t>
            </a:r>
            <a:endParaRPr lang="en-US" sz="1200" dirty="0">
              <a:effectLst/>
              <a:latin typeface="Times New Roman" panose="02020603050405020304"/>
              <a:ea typeface="Times New Roman" panose="02020603050405020304"/>
            </a:endParaRPr>
          </a:p>
        </p:txBody>
      </p:sp>
      <p:sp>
        <p:nvSpPr>
          <p:cNvPr id="86" name="CaixaDeTexto 85"/>
          <p:cNvSpPr txBox="1"/>
          <p:nvPr userDrawn="1"/>
        </p:nvSpPr>
        <p:spPr>
          <a:xfrm>
            <a:off x="1738907" y="7884368"/>
            <a:ext cx="566563" cy="307777"/>
          </a:xfrm>
          <a:prstGeom prst="rect">
            <a:avLst/>
          </a:prstGeom>
          <a:noFill/>
          <a:ln>
            <a:noFill/>
          </a:ln>
        </p:spPr>
        <p:txBody>
          <a:bodyPr wrap="square" rtlCol="0">
            <a:spAutoFit/>
          </a:bodyPr>
          <a:lstStyle/>
          <a:p>
            <a:pPr algn="ctr"/>
            <a:r>
              <a:rPr lang="pt-BR" sz="800" b="1" baseline="0" dirty="0"/>
              <a:t>Entrada</a:t>
            </a:r>
            <a:br>
              <a:rPr lang="pt-BR" sz="800" b="1" baseline="0" dirty="0"/>
            </a:br>
            <a:r>
              <a:rPr lang="pt-BR" sz="600" b="1" baseline="0" dirty="0"/>
              <a:t>Retorno</a:t>
            </a:r>
            <a:endParaRPr lang="en-US" sz="600" b="1" dirty="0"/>
          </a:p>
        </p:txBody>
      </p:sp>
      <p:sp>
        <p:nvSpPr>
          <p:cNvPr id="87" name="Retângulo 86"/>
          <p:cNvSpPr/>
          <p:nvPr userDrawn="1"/>
        </p:nvSpPr>
        <p:spPr>
          <a:xfrm>
            <a:off x="2256828" y="7937204"/>
            <a:ext cx="51816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en-US" sz="900" b="1" dirty="0">
                <a:solidFill>
                  <a:schemeClr val="tx1"/>
                </a:solidFill>
              </a:rPr>
              <a:t>°C</a:t>
            </a:r>
            <a:endParaRPr lang="en-US" sz="900" b="1" dirty="0">
              <a:solidFill>
                <a:schemeClr val="tx1"/>
              </a:solidFill>
            </a:endParaRPr>
          </a:p>
        </p:txBody>
      </p:sp>
      <p:sp>
        <p:nvSpPr>
          <p:cNvPr id="88" name="CaixaDeTexto 87"/>
          <p:cNvSpPr txBox="1"/>
          <p:nvPr userDrawn="1"/>
        </p:nvSpPr>
        <p:spPr>
          <a:xfrm>
            <a:off x="1700808" y="8100392"/>
            <a:ext cx="610601" cy="307777"/>
          </a:xfrm>
          <a:prstGeom prst="rect">
            <a:avLst/>
          </a:prstGeom>
          <a:noFill/>
          <a:ln>
            <a:noFill/>
          </a:ln>
        </p:spPr>
        <p:txBody>
          <a:bodyPr wrap="square" rtlCol="0">
            <a:spAutoFit/>
          </a:bodyPr>
          <a:lstStyle/>
          <a:p>
            <a:pPr algn="ctr"/>
            <a:r>
              <a:rPr lang="pt-BR" sz="800" b="1" baseline="0" dirty="0"/>
              <a:t>Saída</a:t>
            </a:r>
            <a:br>
              <a:rPr lang="pt-BR" sz="800" b="1" baseline="0" dirty="0"/>
            </a:br>
            <a:r>
              <a:rPr lang="pt-BR" sz="600" b="1" baseline="0" dirty="0"/>
              <a:t>Insuflamento</a:t>
            </a:r>
            <a:endParaRPr lang="en-US" sz="600" b="1" dirty="0"/>
          </a:p>
        </p:txBody>
      </p:sp>
      <p:sp>
        <p:nvSpPr>
          <p:cNvPr id="89" name="Retângulo 88"/>
          <p:cNvSpPr/>
          <p:nvPr userDrawn="1"/>
        </p:nvSpPr>
        <p:spPr>
          <a:xfrm>
            <a:off x="2262767" y="8167469"/>
            <a:ext cx="51816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en-US" sz="900" b="1" dirty="0">
                <a:solidFill>
                  <a:schemeClr val="tx1"/>
                </a:solidFill>
              </a:rPr>
              <a:t>°C</a:t>
            </a:r>
            <a:endParaRPr lang="en-US" sz="900" b="1" dirty="0">
              <a:solidFill>
                <a:schemeClr val="tx1"/>
              </a:solidFill>
            </a:endParaRPr>
          </a:p>
        </p:txBody>
      </p:sp>
      <p:sp>
        <p:nvSpPr>
          <p:cNvPr id="92" name="CaixaDeTexto 91"/>
          <p:cNvSpPr txBox="1"/>
          <p:nvPr userDrawn="1"/>
        </p:nvSpPr>
        <p:spPr>
          <a:xfrm>
            <a:off x="4209920" y="4956289"/>
            <a:ext cx="474810" cy="276999"/>
          </a:xfrm>
          <a:prstGeom prst="rect">
            <a:avLst/>
          </a:prstGeom>
          <a:noFill/>
          <a:ln>
            <a:noFill/>
          </a:ln>
        </p:spPr>
        <p:txBody>
          <a:bodyPr wrap="none" rtlCol="0">
            <a:spAutoFit/>
          </a:bodyPr>
          <a:lstStyle/>
          <a:p>
            <a:r>
              <a:rPr lang="pt-BR" sz="1200" b="0" baseline="0" dirty="0"/>
              <a:t>Não </a:t>
            </a:r>
            <a:endParaRPr lang="en-US" sz="1200" b="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41536" y="1308791"/>
            <a:ext cx="3750488" cy="276999"/>
          </a:xfrm>
          <a:prstGeom prst="rect">
            <a:avLst/>
          </a:prstGeom>
          <a:noFill/>
          <a:ln>
            <a:noFill/>
          </a:ln>
        </p:spPr>
        <p:txBody>
          <a:bodyPr wrap="square" rtlCol="0">
            <a:spAutoFit/>
          </a:bodyPr>
          <a:lstStyle/>
          <a:p>
            <a:r>
              <a:rPr lang="pt-BR" sz="1200" b="1" baseline="0" dirty="0"/>
              <a:t>8. Teste mecânico e elétrico realizado no compressor</a:t>
            </a:r>
            <a:endParaRPr lang="en-US" sz="1200" b="1" dirty="0"/>
          </a:p>
        </p:txBody>
      </p:sp>
      <p:sp>
        <p:nvSpPr>
          <p:cNvPr id="17" name="CaixaDeTexto 16"/>
          <p:cNvSpPr txBox="1"/>
          <p:nvPr userDrawn="1"/>
        </p:nvSpPr>
        <p:spPr>
          <a:xfrm>
            <a:off x="163673" y="4231010"/>
            <a:ext cx="1520243" cy="276999"/>
          </a:xfrm>
          <a:prstGeom prst="rect">
            <a:avLst/>
          </a:prstGeom>
          <a:noFill/>
          <a:ln>
            <a:noFill/>
          </a:ln>
        </p:spPr>
        <p:txBody>
          <a:bodyPr wrap="square" rtlCol="0">
            <a:spAutoFit/>
          </a:bodyPr>
          <a:lstStyle/>
          <a:p>
            <a:r>
              <a:rPr lang="pt-BR" sz="1200" b="0" baseline="0" dirty="0"/>
              <a:t>8.2 Teste de Massa</a:t>
            </a:r>
            <a:endParaRPr lang="en-US" sz="1200" b="0" dirty="0"/>
          </a:p>
        </p:txBody>
      </p:sp>
      <p:pic>
        <p:nvPicPr>
          <p:cNvPr id="19" name="Picture 2" descr="C:\Users\LG\Desktop\CAM00549.jpg"/>
          <p:cNvPicPr>
            <a:picLocks noChangeAspect="1" noChangeArrowheads="1"/>
          </p:cNvPicPr>
          <p:nvPr userDrawn="1"/>
        </p:nvPicPr>
        <p:blipFill>
          <a:blip r:embed="rId2" cstate="print"/>
          <a:srcRect/>
          <a:stretch>
            <a:fillRect/>
          </a:stretch>
        </p:blipFill>
        <p:spPr bwMode="auto">
          <a:xfrm>
            <a:off x="3566543" y="5013196"/>
            <a:ext cx="848146" cy="812628"/>
          </a:xfrm>
          <a:prstGeom prst="rect">
            <a:avLst/>
          </a:prstGeom>
          <a:noFill/>
        </p:spPr>
      </p:pic>
      <p:grpSp>
        <p:nvGrpSpPr>
          <p:cNvPr id="20" name="Grupo 19"/>
          <p:cNvGrpSpPr/>
          <p:nvPr userDrawn="1"/>
        </p:nvGrpSpPr>
        <p:grpSpPr>
          <a:xfrm>
            <a:off x="287397" y="4976277"/>
            <a:ext cx="935144" cy="844663"/>
            <a:chOff x="6660232" y="2636912"/>
            <a:chExt cx="1474186" cy="916671"/>
          </a:xfrm>
        </p:grpSpPr>
        <p:pic>
          <p:nvPicPr>
            <p:cNvPr id="21" name="Picture 1"/>
            <p:cNvPicPr>
              <a:picLocks noChangeAspect="1" noChangeArrowheads="1"/>
            </p:cNvPicPr>
            <p:nvPr/>
          </p:nvPicPr>
          <p:blipFill>
            <a:blip r:embed="rId3" cstate="print"/>
            <a:srcRect/>
            <a:stretch>
              <a:fillRect/>
            </a:stretch>
          </p:blipFill>
          <p:spPr bwMode="auto">
            <a:xfrm>
              <a:off x="6660232" y="2636912"/>
              <a:ext cx="1269713" cy="916671"/>
            </a:xfrm>
            <a:prstGeom prst="rect">
              <a:avLst/>
            </a:prstGeom>
            <a:noFill/>
            <a:ln w="9525">
              <a:noFill/>
              <a:miter lim="800000"/>
              <a:headEnd/>
              <a:tailEnd/>
            </a:ln>
          </p:spPr>
        </p:pic>
        <p:sp>
          <p:nvSpPr>
            <p:cNvPr id="22" name="CaixaDeTexto 21"/>
            <p:cNvSpPr txBox="1"/>
            <p:nvPr/>
          </p:nvSpPr>
          <p:spPr>
            <a:xfrm>
              <a:off x="7499561" y="2636912"/>
              <a:ext cx="634857" cy="233811"/>
            </a:xfrm>
            <a:prstGeom prst="rect">
              <a:avLst/>
            </a:prstGeom>
            <a:solidFill>
              <a:schemeClr val="bg1"/>
            </a:solidFill>
          </p:spPr>
          <p:txBody>
            <a:bodyPr wrap="square" rtlCol="0">
              <a:spAutoFit/>
            </a:bodyPr>
            <a:lstStyle/>
            <a:p>
              <a:r>
                <a:rPr lang="pt-BR" sz="800" dirty="0"/>
                <a:t>Tubo</a:t>
              </a:r>
              <a:endParaRPr lang="pt-BR" sz="800" dirty="0"/>
            </a:p>
          </p:txBody>
        </p:sp>
      </p:grpSp>
      <p:graphicFrame>
        <p:nvGraphicFramePr>
          <p:cNvPr id="23" name="Tabela 22"/>
          <p:cNvGraphicFramePr>
            <a:graphicFrameLocks noGrp="1"/>
          </p:cNvGraphicFramePr>
          <p:nvPr userDrawn="1"/>
        </p:nvGraphicFramePr>
        <p:xfrm>
          <a:off x="1239062" y="4980480"/>
          <a:ext cx="1884752" cy="853440"/>
        </p:xfrm>
        <a:graphic>
          <a:graphicData uri="http://schemas.openxmlformats.org/drawingml/2006/table">
            <a:tbl>
              <a:tblPr firstRow="1" bandRow="1">
                <a:tableStyleId>{5C22544A-7EE6-4342-B048-85BDC9FD1C3A}</a:tableStyleId>
              </a:tblPr>
              <a:tblGrid>
                <a:gridCol w="698055"/>
                <a:gridCol w="1186697"/>
              </a:tblGrid>
              <a:tr h="208258">
                <a:tc>
                  <a:txBody>
                    <a:bodyPr/>
                    <a:lstStyle/>
                    <a:p>
                      <a:pPr algn="ctr"/>
                      <a:r>
                        <a:rPr lang="pt-BR" sz="800" dirty="0">
                          <a:solidFill>
                            <a:schemeClr val="bg1"/>
                          </a:solidFill>
                        </a:rPr>
                        <a:t>Terminal</a:t>
                      </a:r>
                      <a:endParaRPr lang="pt-BR" sz="800" dirty="0">
                        <a:solidFill>
                          <a:schemeClr val="bg1"/>
                        </a:solidFill>
                      </a:endParaRPr>
                    </a:p>
                  </a:txBody>
                  <a:tcPr anchor="ctr">
                    <a:solidFill>
                      <a:srgbClr val="B10F2A"/>
                    </a:solidFill>
                  </a:tcPr>
                </a:tc>
                <a:tc>
                  <a:txBody>
                    <a:bodyPr/>
                    <a:lstStyle/>
                    <a:p>
                      <a:pPr algn="ctr"/>
                      <a:r>
                        <a:rPr lang="pt-BR" sz="800" b="1" kern="1200" dirty="0">
                          <a:solidFill>
                            <a:schemeClr val="bg1"/>
                          </a:solidFill>
                          <a:latin typeface="+mn-lt"/>
                          <a:ea typeface="+mn-ea"/>
                          <a:cs typeface="+mn-cs"/>
                        </a:rPr>
                        <a:t>Resistência</a:t>
                      </a:r>
                      <a:r>
                        <a:rPr lang="pt-BR" sz="800" dirty="0">
                          <a:solidFill>
                            <a:schemeClr val="tx1"/>
                          </a:solidFill>
                        </a:rPr>
                        <a:t> </a:t>
                      </a:r>
                      <a:r>
                        <a:rPr lang="pt-BR" sz="800" b="1" kern="1200" dirty="0">
                          <a:solidFill>
                            <a:schemeClr val="bg1"/>
                          </a:solidFill>
                          <a:latin typeface="+mn-lt"/>
                          <a:ea typeface="+mn-ea"/>
                          <a:cs typeface="+mn-cs"/>
                        </a:rPr>
                        <a:t>Isolamento</a:t>
                      </a:r>
                      <a:endParaRPr lang="pt-BR" sz="800" b="1" kern="1200" dirty="0">
                        <a:solidFill>
                          <a:schemeClr val="bg1"/>
                        </a:solidFill>
                        <a:latin typeface="+mn-lt"/>
                        <a:ea typeface="+mn-ea"/>
                        <a:cs typeface="+mn-cs"/>
                      </a:endParaRPr>
                    </a:p>
                  </a:txBody>
                  <a:tcPr>
                    <a:solidFill>
                      <a:srgbClr val="B10F2A"/>
                    </a:solidFill>
                  </a:tcPr>
                </a:tc>
              </a:tr>
              <a:tr h="208258">
                <a:tc>
                  <a:txBody>
                    <a:bodyPr/>
                    <a:lstStyle/>
                    <a:p>
                      <a:pPr algn="ctr"/>
                      <a:r>
                        <a:rPr lang="pt-BR" sz="800" b="1" dirty="0">
                          <a:solidFill>
                            <a:srgbClr val="FF0000"/>
                          </a:solidFill>
                        </a:rPr>
                        <a:t>U</a:t>
                      </a:r>
                      <a:r>
                        <a:rPr lang="pt-BR" sz="800" dirty="0"/>
                        <a:t> – </a:t>
                      </a:r>
                      <a:r>
                        <a:rPr lang="pt-BR" sz="800" b="1" dirty="0">
                          <a:solidFill>
                            <a:schemeClr val="tx1"/>
                          </a:solidFill>
                        </a:rPr>
                        <a:t>terra</a:t>
                      </a:r>
                      <a:r>
                        <a:rPr lang="pt-BR" sz="800" dirty="0"/>
                        <a:t> </a:t>
                      </a:r>
                      <a:endParaRPr lang="pt-BR" sz="800" dirty="0"/>
                    </a:p>
                  </a:txBody>
                  <a:tcPr/>
                </a:tc>
                <a:tc>
                  <a:txBody>
                    <a:bodyPr/>
                    <a:lstStyle/>
                    <a:p>
                      <a:pPr algn="ctr"/>
                      <a:r>
                        <a:rPr lang="pt-BR" sz="800" dirty="0"/>
                        <a:t>Acima 10M</a:t>
                      </a:r>
                      <a:r>
                        <a:rPr lang="el-GR" sz="800" dirty="0">
                          <a:latin typeface="+mn-lt"/>
                        </a:rPr>
                        <a:t>Ω</a:t>
                      </a:r>
                      <a:endParaRPr lang="pt-BR" sz="800" dirty="0"/>
                    </a:p>
                  </a:txBody>
                  <a:tcPr/>
                </a:tc>
              </a:tr>
              <a:tr h="208258">
                <a:tc>
                  <a:txBody>
                    <a:bodyPr/>
                    <a:lstStyle/>
                    <a:p>
                      <a:pPr algn="ctr"/>
                      <a:r>
                        <a:rPr lang="pt-BR" sz="800" b="1" dirty="0">
                          <a:solidFill>
                            <a:srgbClr val="0070C0"/>
                          </a:solidFill>
                        </a:rPr>
                        <a:t>V</a:t>
                      </a:r>
                      <a:r>
                        <a:rPr lang="pt-BR" sz="800" dirty="0"/>
                        <a:t> – </a:t>
                      </a:r>
                      <a:r>
                        <a:rPr lang="pt-BR" sz="800" b="1" dirty="0">
                          <a:solidFill>
                            <a:schemeClr val="tx1"/>
                          </a:solidFill>
                        </a:rPr>
                        <a:t>terra</a:t>
                      </a:r>
                      <a:r>
                        <a:rPr lang="pt-BR" sz="800" dirty="0"/>
                        <a:t> </a:t>
                      </a:r>
                      <a:endParaRPr lang="pt-BR" sz="800" dirty="0"/>
                    </a:p>
                  </a:txBody>
                  <a:tcPr/>
                </a:tc>
                <a:tc>
                  <a:txBody>
                    <a:bodyPr/>
                    <a:lstStyle/>
                    <a:p>
                      <a:pPr algn="ctr"/>
                      <a:r>
                        <a:rPr lang="pt-BR" sz="800" dirty="0"/>
                        <a:t>Acima 10M</a:t>
                      </a:r>
                      <a:r>
                        <a:rPr lang="el-GR" sz="800" dirty="0">
                          <a:latin typeface="+mn-lt"/>
                        </a:rPr>
                        <a:t>Ω</a:t>
                      </a:r>
                      <a:endParaRPr lang="pt-BR" sz="800" dirty="0"/>
                    </a:p>
                  </a:txBody>
                  <a:tcPr/>
                </a:tc>
              </a:tr>
              <a:tr h="208258">
                <a:tc>
                  <a:txBody>
                    <a:bodyPr/>
                    <a:lstStyle/>
                    <a:p>
                      <a:pPr algn="ctr"/>
                      <a:r>
                        <a:rPr lang="pt-BR" sz="800" b="1" dirty="0">
                          <a:solidFill>
                            <a:srgbClr val="FFBC01"/>
                          </a:solidFill>
                        </a:rPr>
                        <a:t>W</a:t>
                      </a:r>
                      <a:r>
                        <a:rPr lang="pt-BR" sz="800" dirty="0"/>
                        <a:t> – </a:t>
                      </a:r>
                      <a:r>
                        <a:rPr lang="pt-BR" sz="800" b="1" dirty="0">
                          <a:solidFill>
                            <a:schemeClr val="tx1"/>
                          </a:solidFill>
                        </a:rPr>
                        <a:t>terra</a:t>
                      </a:r>
                      <a:r>
                        <a:rPr lang="pt-BR" sz="800" dirty="0"/>
                        <a:t> </a:t>
                      </a:r>
                      <a:endParaRPr lang="pt-BR" sz="800" dirty="0"/>
                    </a:p>
                  </a:txBody>
                  <a:tcPr/>
                </a:tc>
                <a:tc>
                  <a:txBody>
                    <a:bodyPr/>
                    <a:lstStyle/>
                    <a:p>
                      <a:pPr algn="ctr"/>
                      <a:r>
                        <a:rPr lang="pt-BR" sz="800" dirty="0"/>
                        <a:t>Acima 10M</a:t>
                      </a:r>
                      <a:r>
                        <a:rPr lang="el-GR" sz="800" dirty="0">
                          <a:latin typeface="+mn-lt"/>
                        </a:rPr>
                        <a:t>Ω</a:t>
                      </a:r>
                      <a:endParaRPr lang="pt-BR" sz="800" dirty="0"/>
                    </a:p>
                  </a:txBody>
                  <a:tcPr/>
                </a:tc>
              </a:tr>
            </a:tbl>
          </a:graphicData>
        </a:graphic>
      </p:graphicFrame>
      <p:graphicFrame>
        <p:nvGraphicFramePr>
          <p:cNvPr id="24" name="Tabela 23"/>
          <p:cNvGraphicFramePr>
            <a:graphicFrameLocks noGrp="1"/>
          </p:cNvGraphicFramePr>
          <p:nvPr userDrawn="1"/>
        </p:nvGraphicFramePr>
        <p:xfrm>
          <a:off x="4514387" y="5014704"/>
          <a:ext cx="1901272" cy="853440"/>
        </p:xfrm>
        <a:graphic>
          <a:graphicData uri="http://schemas.openxmlformats.org/drawingml/2006/table">
            <a:tbl>
              <a:tblPr firstRow="1" bandRow="1">
                <a:tableStyleId>{5C22544A-7EE6-4342-B048-85BDC9FD1C3A}</a:tableStyleId>
              </a:tblPr>
              <a:tblGrid>
                <a:gridCol w="704174"/>
                <a:gridCol w="1197098"/>
              </a:tblGrid>
              <a:tr h="183271">
                <a:tc>
                  <a:txBody>
                    <a:bodyPr/>
                    <a:lstStyle/>
                    <a:p>
                      <a:pPr algn="ctr"/>
                      <a:r>
                        <a:rPr lang="pt-BR" sz="800" b="1" kern="1200" dirty="0">
                          <a:solidFill>
                            <a:schemeClr val="bg1"/>
                          </a:solidFill>
                          <a:latin typeface="+mn-lt"/>
                          <a:ea typeface="+mn-ea"/>
                          <a:cs typeface="+mn-cs"/>
                        </a:rPr>
                        <a:t>Terminal</a:t>
                      </a:r>
                      <a:endParaRPr lang="pt-BR" sz="800" b="1" kern="1200" dirty="0">
                        <a:solidFill>
                          <a:schemeClr val="bg1"/>
                        </a:solidFill>
                        <a:latin typeface="+mn-lt"/>
                        <a:ea typeface="+mn-ea"/>
                        <a:cs typeface="+mn-cs"/>
                      </a:endParaRPr>
                    </a:p>
                  </a:txBody>
                  <a:tcPr anchor="ctr">
                    <a:solidFill>
                      <a:srgbClr val="B10F2A"/>
                    </a:solidFill>
                  </a:tcPr>
                </a:tc>
                <a:tc>
                  <a:txBody>
                    <a:bodyPr/>
                    <a:lstStyle/>
                    <a:p>
                      <a:pPr algn="ctr"/>
                      <a:r>
                        <a:rPr lang="pt-BR" sz="800" b="1" kern="1200" dirty="0">
                          <a:solidFill>
                            <a:schemeClr val="bg1"/>
                          </a:solidFill>
                          <a:latin typeface="+mn-lt"/>
                          <a:ea typeface="+mn-ea"/>
                          <a:cs typeface="+mn-cs"/>
                        </a:rPr>
                        <a:t>Valor</a:t>
                      </a:r>
                      <a:r>
                        <a:rPr lang="pt-BR" sz="800" dirty="0">
                          <a:solidFill>
                            <a:schemeClr val="tx1"/>
                          </a:solidFill>
                        </a:rPr>
                        <a:t> </a:t>
                      </a:r>
                      <a:r>
                        <a:rPr lang="pt-BR" sz="800" b="1" kern="1200" dirty="0">
                          <a:solidFill>
                            <a:schemeClr val="bg1"/>
                          </a:solidFill>
                          <a:latin typeface="+mn-lt"/>
                          <a:ea typeface="+mn-ea"/>
                          <a:cs typeface="+mn-cs"/>
                        </a:rPr>
                        <a:t>Encontrado</a:t>
                      </a:r>
                      <a:endParaRPr lang="pt-BR" sz="800" b="1" kern="1200" dirty="0">
                        <a:solidFill>
                          <a:schemeClr val="bg1"/>
                        </a:solidFill>
                        <a:latin typeface="+mn-lt"/>
                        <a:ea typeface="+mn-ea"/>
                        <a:cs typeface="+mn-cs"/>
                      </a:endParaRPr>
                    </a:p>
                  </a:txBody>
                  <a:tcPr>
                    <a:solidFill>
                      <a:srgbClr val="B10F2A"/>
                    </a:solidFill>
                  </a:tcPr>
                </a:tc>
              </a:tr>
              <a:tr h="186406">
                <a:tc>
                  <a:txBody>
                    <a:bodyPr/>
                    <a:lstStyle/>
                    <a:p>
                      <a:pPr algn="ctr"/>
                      <a:r>
                        <a:rPr lang="pt-BR" sz="800" b="1" dirty="0">
                          <a:solidFill>
                            <a:srgbClr val="FF0000"/>
                          </a:solidFill>
                        </a:rPr>
                        <a:t>U</a:t>
                      </a:r>
                      <a:r>
                        <a:rPr lang="pt-BR" sz="800" dirty="0"/>
                        <a:t> – </a:t>
                      </a:r>
                      <a:r>
                        <a:rPr lang="pt-BR" sz="800" b="1" dirty="0">
                          <a:solidFill>
                            <a:schemeClr val="tx1"/>
                          </a:solidFill>
                        </a:rPr>
                        <a:t>terra</a:t>
                      </a:r>
                      <a:r>
                        <a:rPr lang="pt-BR" sz="800" dirty="0"/>
                        <a:t> </a:t>
                      </a:r>
                      <a:endParaRPr lang="pt-BR" sz="800" dirty="0"/>
                    </a:p>
                  </a:txBody>
                  <a:tcPr/>
                </a:tc>
                <a:tc>
                  <a:txBody>
                    <a:bodyPr/>
                    <a:lstStyle/>
                    <a:p>
                      <a:pPr algn="ctr"/>
                      <a:endParaRPr lang="pt-BR" sz="800" dirty="0"/>
                    </a:p>
                  </a:txBody>
                  <a:tcPr>
                    <a:solidFill>
                      <a:schemeClr val="bg1"/>
                    </a:solidFill>
                  </a:tcPr>
                </a:tc>
              </a:tr>
              <a:tr h="186406">
                <a:tc>
                  <a:txBody>
                    <a:bodyPr/>
                    <a:lstStyle/>
                    <a:p>
                      <a:pPr algn="ctr"/>
                      <a:r>
                        <a:rPr lang="pt-BR" sz="800" b="1" dirty="0">
                          <a:solidFill>
                            <a:srgbClr val="0070C0"/>
                          </a:solidFill>
                        </a:rPr>
                        <a:t>V</a:t>
                      </a:r>
                      <a:r>
                        <a:rPr lang="pt-BR" sz="800" dirty="0"/>
                        <a:t> – </a:t>
                      </a:r>
                      <a:r>
                        <a:rPr lang="pt-BR" sz="800" b="1" dirty="0">
                          <a:solidFill>
                            <a:schemeClr val="tx1"/>
                          </a:solidFill>
                        </a:rPr>
                        <a:t>terra</a:t>
                      </a:r>
                      <a:r>
                        <a:rPr lang="pt-BR" sz="800" dirty="0"/>
                        <a:t> </a:t>
                      </a:r>
                      <a:endParaRPr lang="pt-BR" sz="800" dirty="0"/>
                    </a:p>
                  </a:txBody>
                  <a:tcPr/>
                </a:tc>
                <a:tc>
                  <a:txBody>
                    <a:bodyPr/>
                    <a:lstStyle/>
                    <a:p>
                      <a:pPr algn="ctr"/>
                      <a:endParaRPr lang="pt-BR" sz="800" dirty="0"/>
                    </a:p>
                  </a:txBody>
                  <a:tcPr>
                    <a:solidFill>
                      <a:schemeClr val="bg1"/>
                    </a:solidFill>
                  </a:tcPr>
                </a:tc>
              </a:tr>
              <a:tr h="186406">
                <a:tc>
                  <a:txBody>
                    <a:bodyPr/>
                    <a:lstStyle/>
                    <a:p>
                      <a:pPr algn="ctr"/>
                      <a:r>
                        <a:rPr lang="pt-BR" sz="800" b="1" dirty="0">
                          <a:solidFill>
                            <a:srgbClr val="FFBC01"/>
                          </a:solidFill>
                        </a:rPr>
                        <a:t>W</a:t>
                      </a:r>
                      <a:r>
                        <a:rPr lang="pt-BR" sz="800" dirty="0"/>
                        <a:t> – </a:t>
                      </a:r>
                      <a:r>
                        <a:rPr lang="pt-BR" sz="800" b="1" dirty="0">
                          <a:solidFill>
                            <a:schemeClr val="tx1"/>
                          </a:solidFill>
                        </a:rPr>
                        <a:t>terra</a:t>
                      </a:r>
                      <a:r>
                        <a:rPr lang="pt-BR" sz="800" dirty="0"/>
                        <a:t> </a:t>
                      </a:r>
                      <a:endParaRPr lang="pt-BR" sz="800" dirty="0"/>
                    </a:p>
                  </a:txBody>
                  <a:tcPr/>
                </a:tc>
                <a:tc>
                  <a:txBody>
                    <a:bodyPr/>
                    <a:lstStyle/>
                    <a:p>
                      <a:pPr algn="ctr"/>
                      <a:endParaRPr lang="pt-BR" sz="800" dirty="0"/>
                    </a:p>
                  </a:txBody>
                  <a:tcPr>
                    <a:solidFill>
                      <a:schemeClr val="bg1"/>
                    </a:solidFill>
                  </a:tcPr>
                </a:tc>
              </a:tr>
            </a:tbl>
          </a:graphicData>
        </a:graphic>
      </p:graphicFrame>
      <p:sp>
        <p:nvSpPr>
          <p:cNvPr id="25" name="Retângulo 24"/>
          <p:cNvSpPr/>
          <p:nvPr userDrawn="1"/>
        </p:nvSpPr>
        <p:spPr>
          <a:xfrm>
            <a:off x="260648" y="4467538"/>
            <a:ext cx="2836416" cy="461665"/>
          </a:xfrm>
          <a:prstGeom prst="rect">
            <a:avLst/>
          </a:prstGeom>
        </p:spPr>
        <p:txBody>
          <a:bodyPr wrap="square">
            <a:spAutoFit/>
          </a:bodyPr>
          <a:lstStyle/>
          <a:p>
            <a:pPr algn="just"/>
            <a:r>
              <a:rPr lang="pt-BR" sz="800" dirty="0"/>
              <a:t>Na leitura da </a:t>
            </a:r>
            <a:r>
              <a:rPr lang="pt-BR" sz="800" b="1" dirty="0"/>
              <a:t>resistência ôhmica </a:t>
            </a:r>
            <a:r>
              <a:rPr lang="pt-BR" sz="800" dirty="0"/>
              <a:t>não poderá haver condução de </a:t>
            </a:r>
            <a:r>
              <a:rPr lang="pt-BR" sz="800" dirty="0" err="1"/>
              <a:t>pólo</a:t>
            </a:r>
            <a:r>
              <a:rPr lang="pt-BR" sz="800" dirty="0"/>
              <a:t> para uma parte aterrada ( carcaça / tubo ).</a:t>
            </a:r>
            <a:endParaRPr lang="pt-BR" sz="800" dirty="0"/>
          </a:p>
          <a:p>
            <a:pPr algn="just"/>
            <a:r>
              <a:rPr lang="pt-BR" sz="800" dirty="0"/>
              <a:t>Este teste auxilia se houve curto circuito no compressor</a:t>
            </a:r>
            <a:endParaRPr lang="en-US" sz="800" dirty="0"/>
          </a:p>
        </p:txBody>
      </p:sp>
      <p:sp>
        <p:nvSpPr>
          <p:cNvPr id="28" name="CaixaDeTexto 27"/>
          <p:cNvSpPr txBox="1"/>
          <p:nvPr userDrawn="1"/>
        </p:nvSpPr>
        <p:spPr>
          <a:xfrm>
            <a:off x="3566543" y="4231010"/>
            <a:ext cx="3246833" cy="461665"/>
          </a:xfrm>
          <a:prstGeom prst="rect">
            <a:avLst/>
          </a:prstGeom>
          <a:noFill/>
          <a:ln>
            <a:noFill/>
          </a:ln>
        </p:spPr>
        <p:txBody>
          <a:bodyPr wrap="square" rtlCol="0">
            <a:spAutoFit/>
          </a:bodyPr>
          <a:lstStyle/>
          <a:p>
            <a:r>
              <a:rPr lang="pt-BR" sz="1200" b="0" baseline="0" dirty="0"/>
              <a:t>8.3 Informe os valores de resistência Ôhmica encontrada no teste de isolação (massa)</a:t>
            </a:r>
            <a:endParaRPr lang="en-US" sz="1200" b="0" dirty="0"/>
          </a:p>
        </p:txBody>
      </p:sp>
      <p:sp>
        <p:nvSpPr>
          <p:cNvPr id="29" name="CaixaDeTexto 28"/>
          <p:cNvSpPr txBox="1"/>
          <p:nvPr userDrawn="1"/>
        </p:nvSpPr>
        <p:spPr>
          <a:xfrm>
            <a:off x="164095" y="5955288"/>
            <a:ext cx="2400809" cy="276999"/>
          </a:xfrm>
          <a:prstGeom prst="rect">
            <a:avLst/>
          </a:prstGeom>
          <a:noFill/>
          <a:ln>
            <a:noFill/>
          </a:ln>
        </p:spPr>
        <p:txBody>
          <a:bodyPr wrap="square" rtlCol="0">
            <a:spAutoFit/>
          </a:bodyPr>
          <a:lstStyle/>
          <a:p>
            <a:r>
              <a:rPr lang="pt-BR" sz="1200" b="0" baseline="0" dirty="0"/>
              <a:t>8.4 Teste do Compressor Inverter </a:t>
            </a:r>
            <a:endParaRPr lang="en-US" sz="1200" b="0" dirty="0"/>
          </a:p>
        </p:txBody>
      </p:sp>
      <p:sp>
        <p:nvSpPr>
          <p:cNvPr id="30" name="CaixaDeTexto 29"/>
          <p:cNvSpPr txBox="1"/>
          <p:nvPr userDrawn="1"/>
        </p:nvSpPr>
        <p:spPr>
          <a:xfrm>
            <a:off x="276235" y="6115179"/>
            <a:ext cx="2898377" cy="338554"/>
          </a:xfrm>
          <a:prstGeom prst="rect">
            <a:avLst/>
          </a:prstGeom>
          <a:noFill/>
        </p:spPr>
        <p:txBody>
          <a:bodyPr wrap="square" rtlCol="0">
            <a:spAutoFit/>
          </a:bodyPr>
          <a:lstStyle/>
          <a:p>
            <a:pPr algn="just"/>
            <a:r>
              <a:rPr lang="pt-BR" sz="800" dirty="0"/>
              <a:t>Os valores medidos podem variar entre 0,5 até 8 </a:t>
            </a:r>
            <a:r>
              <a:rPr lang="el-GR" sz="800" dirty="0">
                <a:latin typeface="Calibri" panose="020F0502020204030204"/>
              </a:rPr>
              <a:t>Ω</a:t>
            </a:r>
            <a:r>
              <a:rPr lang="pt-BR" sz="800" dirty="0">
                <a:latin typeface="Calibri" panose="020F0502020204030204"/>
              </a:rPr>
              <a:t>, devendo haver uma </a:t>
            </a:r>
            <a:r>
              <a:rPr lang="pt-BR" sz="800" u="sng" dirty="0">
                <a:latin typeface="Calibri" panose="020F0502020204030204"/>
              </a:rPr>
              <a:t>tolerância máxima de até 0,5 </a:t>
            </a:r>
            <a:r>
              <a:rPr lang="el-GR" sz="800" u="sng" dirty="0">
                <a:latin typeface="Calibri" panose="020F0502020204030204"/>
              </a:rPr>
              <a:t>Ω</a:t>
            </a:r>
            <a:r>
              <a:rPr lang="pt-BR" sz="800" u="sng" dirty="0">
                <a:latin typeface="Calibri" panose="020F0502020204030204"/>
              </a:rPr>
              <a:t> entre eles.</a:t>
            </a:r>
            <a:endParaRPr lang="pt-BR" sz="800" u="sng" dirty="0"/>
          </a:p>
        </p:txBody>
      </p:sp>
      <p:pic>
        <p:nvPicPr>
          <p:cNvPr id="31" name="Picture 3"/>
          <p:cNvPicPr>
            <a:picLocks noChangeAspect="1" noChangeArrowheads="1"/>
          </p:cNvPicPr>
          <p:nvPr userDrawn="1"/>
        </p:nvPicPr>
        <p:blipFill>
          <a:blip r:embed="rId4" cstate="print"/>
          <a:srcRect/>
          <a:stretch>
            <a:fillRect/>
          </a:stretch>
        </p:blipFill>
        <p:spPr bwMode="auto">
          <a:xfrm>
            <a:off x="303723" y="6462900"/>
            <a:ext cx="1226263" cy="774482"/>
          </a:xfrm>
          <a:prstGeom prst="rect">
            <a:avLst/>
          </a:prstGeom>
          <a:noFill/>
          <a:ln w="9525">
            <a:noFill/>
            <a:miter lim="800000"/>
            <a:headEnd/>
            <a:tailEnd/>
          </a:ln>
        </p:spPr>
      </p:pic>
      <p:graphicFrame>
        <p:nvGraphicFramePr>
          <p:cNvPr id="32" name="Tabela 31"/>
          <p:cNvGraphicFramePr>
            <a:graphicFrameLocks noGrp="1"/>
          </p:cNvGraphicFramePr>
          <p:nvPr userDrawn="1"/>
        </p:nvGraphicFramePr>
        <p:xfrm>
          <a:off x="1628800" y="6459414"/>
          <a:ext cx="1468264" cy="853440"/>
        </p:xfrm>
        <a:graphic>
          <a:graphicData uri="http://schemas.openxmlformats.org/drawingml/2006/table">
            <a:tbl>
              <a:tblPr firstRow="1" bandRow="1">
                <a:tableStyleId>{5C22544A-7EE6-4342-B048-85BDC9FD1C3A}</a:tableStyleId>
              </a:tblPr>
              <a:tblGrid>
                <a:gridCol w="622900"/>
                <a:gridCol w="845364"/>
              </a:tblGrid>
              <a:tr h="194492">
                <a:tc gridSpan="2">
                  <a:txBody>
                    <a:bodyPr/>
                    <a:lstStyle/>
                    <a:p>
                      <a:pPr algn="ctr"/>
                      <a:r>
                        <a:rPr lang="pt-BR" sz="800" b="1" kern="1200" dirty="0">
                          <a:solidFill>
                            <a:schemeClr val="bg1"/>
                          </a:solidFill>
                          <a:latin typeface="+mn-lt"/>
                          <a:ea typeface="+mn-ea"/>
                          <a:cs typeface="+mn-cs"/>
                        </a:rPr>
                        <a:t>Tabela Resistência</a:t>
                      </a:r>
                      <a:endParaRPr lang="pt-BR" sz="800" b="1" kern="1200" dirty="0">
                        <a:solidFill>
                          <a:schemeClr val="bg1"/>
                        </a:solidFill>
                        <a:latin typeface="+mn-lt"/>
                        <a:ea typeface="+mn-ea"/>
                        <a:cs typeface="+mn-cs"/>
                      </a:endParaRPr>
                    </a:p>
                  </a:txBody>
                  <a:tcPr>
                    <a:solidFill>
                      <a:srgbClr val="B10F2A"/>
                    </a:solidFill>
                  </a:tcPr>
                </a:tc>
                <a:tc hMerge="1">
                  <a:tcPr/>
                </a:tc>
              </a:tr>
              <a:tr h="194492">
                <a:tc>
                  <a:txBody>
                    <a:bodyPr/>
                    <a:lstStyle/>
                    <a:p>
                      <a:pPr algn="ctr"/>
                      <a:r>
                        <a:rPr lang="pt-BR" sz="800" b="1" dirty="0">
                          <a:solidFill>
                            <a:srgbClr val="FF0000"/>
                          </a:solidFill>
                        </a:rPr>
                        <a:t>U</a:t>
                      </a:r>
                      <a:r>
                        <a:rPr lang="pt-BR" sz="800" dirty="0"/>
                        <a:t> – </a:t>
                      </a:r>
                      <a:r>
                        <a:rPr lang="pt-BR" sz="800" b="1" dirty="0">
                          <a:solidFill>
                            <a:srgbClr val="0070C0"/>
                          </a:solidFill>
                        </a:rPr>
                        <a:t>V</a:t>
                      </a:r>
                      <a:r>
                        <a:rPr lang="pt-BR" sz="800" dirty="0"/>
                        <a:t> </a:t>
                      </a:r>
                      <a:endParaRPr lang="pt-BR" sz="800" dirty="0"/>
                    </a:p>
                  </a:txBody>
                  <a:tcPr/>
                </a:tc>
                <a:tc>
                  <a:txBody>
                    <a:bodyPr/>
                    <a:lstStyle/>
                    <a:p>
                      <a:pPr algn="ctr"/>
                      <a:r>
                        <a:rPr lang="pt-BR" sz="800" dirty="0"/>
                        <a:t>0,5 até 8 </a:t>
                      </a:r>
                      <a:r>
                        <a:rPr lang="el-GR" sz="800" dirty="0">
                          <a:latin typeface="+mn-lt"/>
                        </a:rPr>
                        <a:t>Ω</a:t>
                      </a:r>
                      <a:endParaRPr lang="pt-BR" sz="800" dirty="0"/>
                    </a:p>
                  </a:txBody>
                  <a:tcPr/>
                </a:tc>
              </a:tr>
              <a:tr h="194492">
                <a:tc>
                  <a:txBody>
                    <a:bodyPr/>
                    <a:lstStyle/>
                    <a:p>
                      <a:pPr algn="ctr"/>
                      <a:r>
                        <a:rPr lang="pt-BR" sz="800" b="1" dirty="0">
                          <a:solidFill>
                            <a:srgbClr val="0070C0"/>
                          </a:solidFill>
                        </a:rPr>
                        <a:t>V</a:t>
                      </a:r>
                      <a:r>
                        <a:rPr lang="pt-BR" sz="800" dirty="0"/>
                        <a:t> – </a:t>
                      </a:r>
                      <a:r>
                        <a:rPr lang="pt-BR" sz="800" b="1" dirty="0">
                          <a:solidFill>
                            <a:srgbClr val="FFBC01"/>
                          </a:solidFill>
                        </a:rPr>
                        <a:t>W</a:t>
                      </a:r>
                      <a:r>
                        <a:rPr lang="pt-BR" sz="800" dirty="0"/>
                        <a:t> </a:t>
                      </a:r>
                      <a:endParaRPr lang="pt-BR" sz="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pt-BR" sz="800" dirty="0"/>
                        <a:t>0,5 até 8 </a:t>
                      </a:r>
                      <a:r>
                        <a:rPr lang="el-GR" sz="800" dirty="0">
                          <a:latin typeface="+mn-lt"/>
                        </a:rPr>
                        <a:t>Ω</a:t>
                      </a:r>
                      <a:endParaRPr lang="pt-BR" sz="800" dirty="0"/>
                    </a:p>
                  </a:txBody>
                  <a:tcPr/>
                </a:tc>
              </a:tr>
              <a:tr h="194492">
                <a:tc>
                  <a:txBody>
                    <a:bodyPr/>
                    <a:lstStyle/>
                    <a:p>
                      <a:pPr algn="ctr"/>
                      <a:r>
                        <a:rPr lang="pt-BR" sz="800" b="1" dirty="0">
                          <a:solidFill>
                            <a:srgbClr val="FFBC01"/>
                          </a:solidFill>
                        </a:rPr>
                        <a:t>W</a:t>
                      </a:r>
                      <a:r>
                        <a:rPr lang="pt-BR" sz="800" dirty="0"/>
                        <a:t> – </a:t>
                      </a:r>
                      <a:r>
                        <a:rPr lang="pt-BR" sz="800" b="1" dirty="0">
                          <a:solidFill>
                            <a:srgbClr val="FF0000"/>
                          </a:solidFill>
                        </a:rPr>
                        <a:t>U</a:t>
                      </a:r>
                      <a:r>
                        <a:rPr lang="pt-BR" sz="800" dirty="0"/>
                        <a:t> </a:t>
                      </a:r>
                      <a:endParaRPr lang="pt-BR" sz="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pt-BR" sz="800" dirty="0"/>
                        <a:t>0,5 até 8 </a:t>
                      </a:r>
                      <a:r>
                        <a:rPr lang="el-GR" sz="800" dirty="0">
                          <a:latin typeface="+mn-lt"/>
                        </a:rPr>
                        <a:t>Ω</a:t>
                      </a:r>
                      <a:endParaRPr lang="pt-BR" sz="800" dirty="0"/>
                    </a:p>
                  </a:txBody>
                  <a:tcPr/>
                </a:tc>
              </a:tr>
            </a:tbl>
          </a:graphicData>
        </a:graphic>
      </p:graphicFrame>
      <p:sp>
        <p:nvSpPr>
          <p:cNvPr id="33" name="CaixaDeTexto 32"/>
          <p:cNvSpPr txBox="1"/>
          <p:nvPr userDrawn="1"/>
        </p:nvSpPr>
        <p:spPr>
          <a:xfrm>
            <a:off x="3501008" y="5970622"/>
            <a:ext cx="3369653" cy="461665"/>
          </a:xfrm>
          <a:prstGeom prst="rect">
            <a:avLst/>
          </a:prstGeom>
          <a:noFill/>
          <a:ln>
            <a:noFill/>
          </a:ln>
        </p:spPr>
        <p:txBody>
          <a:bodyPr wrap="square" rtlCol="0">
            <a:spAutoFit/>
          </a:bodyPr>
          <a:lstStyle/>
          <a:p>
            <a:r>
              <a:rPr lang="pt-BR" sz="1200" b="0" baseline="0" dirty="0"/>
              <a:t>8.5 Informe valores medido de resistência Ôhmica entre as bobinas nos terminais: U-V; V-W; W-U</a:t>
            </a:r>
            <a:endParaRPr lang="en-US" sz="1200" b="0" dirty="0"/>
          </a:p>
        </p:txBody>
      </p:sp>
      <p:pic>
        <p:nvPicPr>
          <p:cNvPr id="34" name="Picture 2"/>
          <p:cNvPicPr>
            <a:picLocks noChangeAspect="1" noChangeArrowheads="1"/>
          </p:cNvPicPr>
          <p:nvPr userDrawn="1"/>
        </p:nvPicPr>
        <p:blipFill>
          <a:blip r:embed="rId5" cstate="print"/>
          <a:srcRect l="7890" r="3170"/>
          <a:stretch>
            <a:fillRect/>
          </a:stretch>
        </p:blipFill>
        <p:spPr bwMode="auto">
          <a:xfrm>
            <a:off x="3645025" y="6399792"/>
            <a:ext cx="1296144" cy="900697"/>
          </a:xfrm>
          <a:prstGeom prst="rect">
            <a:avLst/>
          </a:prstGeom>
          <a:noFill/>
          <a:ln w="9525">
            <a:noFill/>
            <a:miter lim="800000"/>
            <a:headEnd/>
            <a:tailEnd/>
          </a:ln>
        </p:spPr>
      </p:pic>
      <p:graphicFrame>
        <p:nvGraphicFramePr>
          <p:cNvPr id="36" name="Tabela 35"/>
          <p:cNvGraphicFramePr>
            <a:graphicFrameLocks noGrp="1"/>
          </p:cNvGraphicFramePr>
          <p:nvPr userDrawn="1"/>
        </p:nvGraphicFramePr>
        <p:xfrm>
          <a:off x="5039429" y="6407010"/>
          <a:ext cx="1468264" cy="916500"/>
        </p:xfrm>
        <a:graphic>
          <a:graphicData uri="http://schemas.openxmlformats.org/drawingml/2006/table">
            <a:tbl>
              <a:tblPr firstRow="1" bandRow="1">
                <a:tableStyleId>{5C22544A-7EE6-4342-B048-85BDC9FD1C3A}</a:tableStyleId>
              </a:tblPr>
              <a:tblGrid>
                <a:gridCol w="622900"/>
                <a:gridCol w="845364"/>
              </a:tblGrid>
              <a:tr h="229125">
                <a:tc gridSpan="2">
                  <a:txBody>
                    <a:bodyPr/>
                    <a:lstStyle/>
                    <a:p>
                      <a:pPr marL="0" algn="ctr" defTabSz="914400" rtl="0" eaLnBrk="1" latinLnBrk="0" hangingPunct="1"/>
                      <a:r>
                        <a:rPr lang="pt-BR" sz="800" b="1" kern="1200" dirty="0">
                          <a:solidFill>
                            <a:schemeClr val="bg1"/>
                          </a:solidFill>
                          <a:latin typeface="+mn-lt"/>
                          <a:ea typeface="+mn-ea"/>
                          <a:cs typeface="+mn-cs"/>
                        </a:rPr>
                        <a:t>Valor das Resistências </a:t>
                      </a:r>
                      <a:endParaRPr lang="pt-BR" sz="800" b="1" kern="1200" dirty="0">
                        <a:solidFill>
                          <a:schemeClr val="bg1"/>
                        </a:solidFill>
                        <a:latin typeface="+mn-lt"/>
                        <a:ea typeface="+mn-ea"/>
                        <a:cs typeface="+mn-cs"/>
                      </a:endParaRPr>
                    </a:p>
                  </a:txBody>
                  <a:tcPr>
                    <a:solidFill>
                      <a:srgbClr val="B10F2A"/>
                    </a:solidFill>
                  </a:tcPr>
                </a:tc>
                <a:tc hMerge="1">
                  <a:tcPr/>
                </a:tc>
              </a:tr>
              <a:tr h="229125">
                <a:tc>
                  <a:txBody>
                    <a:bodyPr/>
                    <a:lstStyle/>
                    <a:p>
                      <a:pPr algn="ctr"/>
                      <a:r>
                        <a:rPr lang="pt-BR" sz="800" b="1" dirty="0">
                          <a:solidFill>
                            <a:srgbClr val="FF0000"/>
                          </a:solidFill>
                        </a:rPr>
                        <a:t>U</a:t>
                      </a:r>
                      <a:r>
                        <a:rPr lang="pt-BR" sz="800" dirty="0"/>
                        <a:t> – </a:t>
                      </a:r>
                      <a:r>
                        <a:rPr lang="pt-BR" sz="800" b="1" dirty="0">
                          <a:solidFill>
                            <a:srgbClr val="0070C0"/>
                          </a:solidFill>
                        </a:rPr>
                        <a:t>V</a:t>
                      </a:r>
                      <a:r>
                        <a:rPr lang="pt-BR" sz="800" dirty="0"/>
                        <a:t> </a:t>
                      </a:r>
                      <a:endParaRPr lang="pt-BR" sz="800" dirty="0"/>
                    </a:p>
                  </a:txBody>
                  <a:tcPr/>
                </a:tc>
                <a:tc>
                  <a:txBody>
                    <a:bodyPr/>
                    <a:lstStyle/>
                    <a:p>
                      <a:pPr algn="ctr"/>
                      <a:endParaRPr lang="pt-BR" sz="800" dirty="0"/>
                    </a:p>
                  </a:txBody>
                  <a:tcPr>
                    <a:noFill/>
                  </a:tcPr>
                </a:tc>
              </a:tr>
              <a:tr h="229125">
                <a:tc>
                  <a:txBody>
                    <a:bodyPr/>
                    <a:lstStyle/>
                    <a:p>
                      <a:pPr algn="ctr"/>
                      <a:r>
                        <a:rPr lang="pt-BR" sz="800" b="1" dirty="0">
                          <a:solidFill>
                            <a:srgbClr val="0070C0"/>
                          </a:solidFill>
                        </a:rPr>
                        <a:t>V</a:t>
                      </a:r>
                      <a:r>
                        <a:rPr lang="pt-BR" sz="800" dirty="0"/>
                        <a:t> – </a:t>
                      </a:r>
                      <a:r>
                        <a:rPr lang="pt-BR" sz="800" b="1" dirty="0">
                          <a:solidFill>
                            <a:srgbClr val="FFBC01"/>
                          </a:solidFill>
                        </a:rPr>
                        <a:t>W</a:t>
                      </a:r>
                      <a:r>
                        <a:rPr lang="pt-BR" sz="800" dirty="0"/>
                        <a:t> </a:t>
                      </a:r>
                      <a:endParaRPr lang="pt-BR" sz="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pt-BR" sz="800" dirty="0"/>
                    </a:p>
                  </a:txBody>
                  <a:tcPr>
                    <a:noFill/>
                  </a:tcPr>
                </a:tc>
              </a:tr>
              <a:tr h="229125">
                <a:tc>
                  <a:txBody>
                    <a:bodyPr/>
                    <a:lstStyle/>
                    <a:p>
                      <a:pPr algn="ctr"/>
                      <a:r>
                        <a:rPr lang="pt-BR" sz="800" b="1" dirty="0">
                          <a:solidFill>
                            <a:srgbClr val="FFBC01"/>
                          </a:solidFill>
                        </a:rPr>
                        <a:t>W</a:t>
                      </a:r>
                      <a:r>
                        <a:rPr lang="pt-BR" sz="800" dirty="0"/>
                        <a:t> – </a:t>
                      </a:r>
                      <a:r>
                        <a:rPr lang="pt-BR" sz="800" b="1" dirty="0">
                          <a:solidFill>
                            <a:srgbClr val="FF0000"/>
                          </a:solidFill>
                        </a:rPr>
                        <a:t>U</a:t>
                      </a:r>
                      <a:r>
                        <a:rPr lang="pt-BR" sz="800" dirty="0"/>
                        <a:t> </a:t>
                      </a:r>
                      <a:endParaRPr lang="pt-BR" sz="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pt-BR" sz="800" dirty="0"/>
                    </a:p>
                  </a:txBody>
                  <a:tcPr>
                    <a:noFill/>
                  </a:tcPr>
                </a:tc>
              </a:tr>
            </a:tbl>
          </a:graphicData>
        </a:graphic>
      </p:graphicFrame>
      <p:sp>
        <p:nvSpPr>
          <p:cNvPr id="38" name="Retângulo 37"/>
          <p:cNvSpPr/>
          <p:nvPr userDrawn="1"/>
        </p:nvSpPr>
        <p:spPr>
          <a:xfrm>
            <a:off x="3645025" y="7660656"/>
            <a:ext cx="864095" cy="10119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tângulo 40"/>
          <p:cNvSpPr/>
          <p:nvPr userDrawn="1"/>
        </p:nvSpPr>
        <p:spPr>
          <a:xfrm>
            <a:off x="5654510" y="7660656"/>
            <a:ext cx="864095" cy="10119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tângulo 41"/>
          <p:cNvSpPr/>
          <p:nvPr userDrawn="1"/>
        </p:nvSpPr>
        <p:spPr>
          <a:xfrm>
            <a:off x="4653137" y="7664500"/>
            <a:ext cx="864095" cy="10119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tângulo 42"/>
          <p:cNvSpPr/>
          <p:nvPr userDrawn="1"/>
        </p:nvSpPr>
        <p:spPr>
          <a:xfrm>
            <a:off x="3598096" y="7349081"/>
            <a:ext cx="904674" cy="338554"/>
          </a:xfrm>
          <a:prstGeom prst="rect">
            <a:avLst/>
          </a:prstGeom>
        </p:spPr>
        <p:txBody>
          <a:bodyPr wrap="square">
            <a:spAutoFit/>
          </a:bodyPr>
          <a:lstStyle/>
          <a:p>
            <a:pPr algn="ctr"/>
            <a:r>
              <a:rPr lang="pt-BR" sz="800" dirty="0"/>
              <a:t>Foto do Multímetro </a:t>
            </a:r>
            <a:r>
              <a:rPr lang="pt-BR" sz="800" baseline="0" dirty="0"/>
              <a:t> U-V</a:t>
            </a:r>
            <a:endParaRPr lang="en-US" sz="800" dirty="0"/>
          </a:p>
        </p:txBody>
      </p:sp>
      <p:sp>
        <p:nvSpPr>
          <p:cNvPr id="44" name="Retângulo 43"/>
          <p:cNvSpPr/>
          <p:nvPr userDrawn="1"/>
        </p:nvSpPr>
        <p:spPr>
          <a:xfrm>
            <a:off x="4632847" y="7349081"/>
            <a:ext cx="904674" cy="338554"/>
          </a:xfrm>
          <a:prstGeom prst="rect">
            <a:avLst/>
          </a:prstGeom>
        </p:spPr>
        <p:txBody>
          <a:bodyPr wrap="square">
            <a:spAutoFit/>
          </a:bodyPr>
          <a:lstStyle/>
          <a:p>
            <a:pPr algn="ctr"/>
            <a:r>
              <a:rPr lang="pt-BR" sz="800" dirty="0"/>
              <a:t>Foto do Multímetro </a:t>
            </a:r>
            <a:r>
              <a:rPr lang="pt-BR" sz="800" baseline="0" dirty="0"/>
              <a:t> V-W</a:t>
            </a:r>
            <a:endParaRPr lang="en-US" sz="800" dirty="0"/>
          </a:p>
        </p:txBody>
      </p:sp>
      <p:sp>
        <p:nvSpPr>
          <p:cNvPr id="45" name="Retângulo 44"/>
          <p:cNvSpPr/>
          <p:nvPr userDrawn="1"/>
        </p:nvSpPr>
        <p:spPr>
          <a:xfrm>
            <a:off x="5633782" y="7349081"/>
            <a:ext cx="904674" cy="338554"/>
          </a:xfrm>
          <a:prstGeom prst="rect">
            <a:avLst/>
          </a:prstGeom>
        </p:spPr>
        <p:txBody>
          <a:bodyPr wrap="square">
            <a:spAutoFit/>
          </a:bodyPr>
          <a:lstStyle/>
          <a:p>
            <a:pPr algn="ctr"/>
            <a:r>
              <a:rPr lang="pt-BR" sz="800" dirty="0"/>
              <a:t>Foto do Multímetro </a:t>
            </a:r>
            <a:r>
              <a:rPr lang="pt-BR" sz="800" baseline="0" dirty="0"/>
              <a:t>W-U</a:t>
            </a:r>
            <a:endParaRPr lang="en-US" sz="800" dirty="0"/>
          </a:p>
        </p:txBody>
      </p:sp>
      <p:sp>
        <p:nvSpPr>
          <p:cNvPr id="46" name="Estrela de 7 Pontos 45"/>
          <p:cNvSpPr/>
          <p:nvPr userDrawn="1"/>
        </p:nvSpPr>
        <p:spPr>
          <a:xfrm rot="20400957">
            <a:off x="1404850" y="7382815"/>
            <a:ext cx="1508920" cy="1174027"/>
          </a:xfrm>
          <a:prstGeom prst="star7">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pt-BR" sz="800" dirty="0">
              <a:solidFill>
                <a:schemeClr val="tx1"/>
              </a:solidFill>
            </a:endParaRPr>
          </a:p>
          <a:p>
            <a:pPr algn="ctr"/>
            <a:r>
              <a:rPr lang="pt-BR" sz="800" dirty="0">
                <a:solidFill>
                  <a:schemeClr val="tx1"/>
                </a:solidFill>
              </a:rPr>
              <a:t>Certifique-se que a escala do Multímetro esteja correta, medir resistência Ôhmica</a:t>
            </a:r>
            <a:br>
              <a:rPr lang="pt-BR" sz="800" dirty="0">
                <a:solidFill>
                  <a:schemeClr val="tx1"/>
                </a:solidFill>
              </a:rPr>
            </a:br>
            <a:r>
              <a:rPr lang="el-GR" sz="1200" dirty="0">
                <a:solidFill>
                  <a:schemeClr val="tx1"/>
                </a:solidFill>
              </a:rPr>
              <a:t>Ω</a:t>
            </a:r>
            <a:endParaRPr lang="en-US" sz="1200" dirty="0">
              <a:solidFill>
                <a:schemeClr val="tx1"/>
              </a:solidFill>
            </a:endParaRPr>
          </a:p>
        </p:txBody>
      </p:sp>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4/5</a:t>
            </a:r>
            <a:endParaRPr lang="en-US" sz="1200" dirty="0">
              <a:effectLst/>
              <a:latin typeface="Times New Roman" panose="02020603050405020304"/>
              <a:ea typeface="Times New Roman" panose="02020603050405020304"/>
            </a:endParaRPr>
          </a:p>
        </p:txBody>
      </p:sp>
      <p:sp>
        <p:nvSpPr>
          <p:cNvPr id="10" name="Retângulo 9"/>
          <p:cNvSpPr/>
          <p:nvPr userDrawn="1"/>
        </p:nvSpPr>
        <p:spPr>
          <a:xfrm>
            <a:off x="5226050" y="5257800"/>
            <a:ext cx="1155278"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tângulo 47"/>
          <p:cNvSpPr/>
          <p:nvPr userDrawn="1"/>
        </p:nvSpPr>
        <p:spPr>
          <a:xfrm>
            <a:off x="5232400" y="5467350"/>
            <a:ext cx="1155278"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tângulo 48"/>
          <p:cNvSpPr/>
          <p:nvPr userDrawn="1"/>
        </p:nvSpPr>
        <p:spPr>
          <a:xfrm>
            <a:off x="5225422" y="5679774"/>
            <a:ext cx="1155278"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tângulo 49"/>
          <p:cNvSpPr/>
          <p:nvPr userDrawn="1"/>
        </p:nvSpPr>
        <p:spPr>
          <a:xfrm>
            <a:off x="5677102" y="6663008"/>
            <a:ext cx="818948"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tângulo 50"/>
          <p:cNvSpPr/>
          <p:nvPr userDrawn="1"/>
        </p:nvSpPr>
        <p:spPr>
          <a:xfrm>
            <a:off x="5676474" y="6891608"/>
            <a:ext cx="825926"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ângulo 51"/>
          <p:cNvSpPr/>
          <p:nvPr userDrawn="1"/>
        </p:nvSpPr>
        <p:spPr>
          <a:xfrm>
            <a:off x="5676474" y="7124154"/>
            <a:ext cx="818948" cy="17780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m 1"/>
          <p:cNvPicPr>
            <a:picLocks noChangeAspect="1"/>
          </p:cNvPicPr>
          <p:nvPr userDrawn="1"/>
        </p:nvPicPr>
        <p:blipFill>
          <a:blip r:embed="rId6"/>
          <a:stretch>
            <a:fillRect/>
          </a:stretch>
        </p:blipFill>
        <p:spPr>
          <a:xfrm>
            <a:off x="3004094" y="7388549"/>
            <a:ext cx="540000" cy="1390791"/>
          </a:xfrm>
          <a:prstGeom prst="rect">
            <a:avLst/>
          </a:prstGeom>
        </p:spPr>
      </p:pic>
      <p:sp>
        <p:nvSpPr>
          <p:cNvPr id="47" name="CaixaDeTexto 46"/>
          <p:cNvSpPr txBox="1"/>
          <p:nvPr userDrawn="1"/>
        </p:nvSpPr>
        <p:spPr>
          <a:xfrm>
            <a:off x="141537" y="1475656"/>
            <a:ext cx="3246833" cy="276999"/>
          </a:xfrm>
          <a:prstGeom prst="rect">
            <a:avLst/>
          </a:prstGeom>
          <a:noFill/>
          <a:ln>
            <a:noFill/>
          </a:ln>
        </p:spPr>
        <p:txBody>
          <a:bodyPr wrap="square" rtlCol="0">
            <a:spAutoFit/>
          </a:bodyPr>
          <a:lstStyle/>
          <a:p>
            <a:r>
              <a:rPr lang="pt-BR" sz="1200" b="0" baseline="0" dirty="0"/>
              <a:t>8.1 Medir pressão durante funcionamento</a:t>
            </a:r>
            <a:endParaRPr lang="en-US" sz="1200" b="0" dirty="0"/>
          </a:p>
        </p:txBody>
      </p:sp>
      <p:pic>
        <p:nvPicPr>
          <p:cNvPr id="3" name="Imagem 2"/>
          <p:cNvPicPr>
            <a:picLocks noChangeAspect="1"/>
          </p:cNvPicPr>
          <p:nvPr userDrawn="1"/>
        </p:nvPicPr>
        <p:blipFill>
          <a:blip r:embed="rId7"/>
          <a:stretch>
            <a:fillRect/>
          </a:stretch>
        </p:blipFill>
        <p:spPr>
          <a:xfrm>
            <a:off x="188640" y="1763688"/>
            <a:ext cx="1581647" cy="1296665"/>
          </a:xfrm>
          <a:prstGeom prst="rect">
            <a:avLst/>
          </a:prstGeom>
        </p:spPr>
      </p:pic>
      <p:sp>
        <p:nvSpPr>
          <p:cNvPr id="54" name="Retângulo 53"/>
          <p:cNvSpPr/>
          <p:nvPr userDrawn="1"/>
        </p:nvSpPr>
        <p:spPr>
          <a:xfrm>
            <a:off x="3624734" y="1230015"/>
            <a:ext cx="3044625" cy="461665"/>
          </a:xfrm>
          <a:prstGeom prst="rect">
            <a:avLst/>
          </a:prstGeom>
        </p:spPr>
        <p:txBody>
          <a:bodyPr wrap="square">
            <a:spAutoFit/>
          </a:bodyPr>
          <a:lstStyle/>
          <a:p>
            <a:pPr algn="ctr"/>
            <a:r>
              <a:rPr lang="pt-BR" sz="800" dirty="0"/>
              <a:t>Apresentar</a:t>
            </a:r>
            <a:r>
              <a:rPr lang="pt-BR" sz="800" baseline="0" dirty="0"/>
              <a:t> f</a:t>
            </a:r>
            <a:r>
              <a:rPr lang="pt-BR" sz="800" dirty="0"/>
              <a:t>oto do manômetro conectado a válvula</a:t>
            </a:r>
            <a:r>
              <a:rPr lang="pt-BR" sz="800" baseline="0" dirty="0"/>
              <a:t> de serviço durante o teste de funcionamento do compressor e medição da corrente elétrica na entrada da condensadora.  </a:t>
            </a:r>
            <a:endParaRPr lang="en-US" sz="800" dirty="0"/>
          </a:p>
        </p:txBody>
      </p:sp>
      <p:sp>
        <p:nvSpPr>
          <p:cNvPr id="55" name="Retângulo 54"/>
          <p:cNvSpPr/>
          <p:nvPr userDrawn="1"/>
        </p:nvSpPr>
        <p:spPr>
          <a:xfrm>
            <a:off x="3777574" y="1691680"/>
            <a:ext cx="2741031" cy="253933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Estrela de 7 Pontos 55"/>
          <p:cNvSpPr/>
          <p:nvPr userDrawn="1"/>
        </p:nvSpPr>
        <p:spPr>
          <a:xfrm rot="20400957">
            <a:off x="1665163" y="1769757"/>
            <a:ext cx="1508920" cy="1174027"/>
          </a:xfrm>
          <a:prstGeom prst="star7">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pt-BR" sz="800" dirty="0">
              <a:solidFill>
                <a:schemeClr val="tx1"/>
              </a:solidFill>
            </a:endParaRPr>
          </a:p>
          <a:p>
            <a:pPr algn="ctr"/>
            <a:r>
              <a:rPr lang="pt-BR" sz="800" baseline="0" dirty="0">
                <a:solidFill>
                  <a:schemeClr val="tx1"/>
                </a:solidFill>
              </a:rPr>
              <a:t>Favor ligar o produto em modo refrigeração ou aquecimento, utilizar a função JET MODE</a:t>
            </a:r>
            <a:endParaRPr lang="en-US" sz="1200" dirty="0">
              <a:solidFill>
                <a:schemeClr val="tx1"/>
              </a:solidFill>
            </a:endParaRPr>
          </a:p>
        </p:txBody>
      </p:sp>
      <p:pic>
        <p:nvPicPr>
          <p:cNvPr id="4" name="Imagem 3"/>
          <p:cNvPicPr>
            <a:picLocks noChangeAspect="1"/>
          </p:cNvPicPr>
          <p:nvPr userDrawn="1"/>
        </p:nvPicPr>
        <p:blipFill rotWithShape="1">
          <a:blip r:embed="rId8"/>
          <a:srcRect t="1" r="8259" b="2531"/>
          <a:stretch>
            <a:fillRect/>
          </a:stretch>
        </p:blipFill>
        <p:spPr>
          <a:xfrm rot="1037482">
            <a:off x="3210776" y="1794390"/>
            <a:ext cx="360000" cy="1008980"/>
          </a:xfrm>
          <a:prstGeom prst="rect">
            <a:avLst/>
          </a:prstGeom>
        </p:spPr>
      </p:pic>
      <p:pic>
        <p:nvPicPr>
          <p:cNvPr id="5" name="Imagem 4"/>
          <p:cNvPicPr>
            <a:picLocks noChangeAspect="1"/>
          </p:cNvPicPr>
          <p:nvPr userDrawn="1"/>
        </p:nvPicPr>
        <p:blipFill>
          <a:blip r:embed="rId9"/>
          <a:stretch>
            <a:fillRect/>
          </a:stretch>
        </p:blipFill>
        <p:spPr>
          <a:xfrm>
            <a:off x="439377" y="3088092"/>
            <a:ext cx="2134448" cy="1100456"/>
          </a:xfrm>
          <a:prstGeom prst="rect">
            <a:avLst/>
          </a:prstGeom>
        </p:spPr>
      </p:pic>
      <p:pic>
        <p:nvPicPr>
          <p:cNvPr id="6" name="Imagem 5"/>
          <p:cNvPicPr>
            <a:picLocks noChangeAspect="1"/>
          </p:cNvPicPr>
          <p:nvPr userDrawn="1"/>
        </p:nvPicPr>
        <p:blipFill>
          <a:blip r:embed="rId10"/>
          <a:stretch>
            <a:fillRect/>
          </a:stretch>
        </p:blipFill>
        <p:spPr>
          <a:xfrm rot="1181889">
            <a:off x="2786418" y="2842723"/>
            <a:ext cx="633983" cy="1310948"/>
          </a:xfrm>
          <a:prstGeom prst="rect">
            <a:avLst/>
          </a:prstGeom>
        </p:spPr>
      </p:pic>
      <p:pic>
        <p:nvPicPr>
          <p:cNvPr id="11" name="Imagem 10"/>
          <p:cNvPicPr>
            <a:picLocks noChangeAspect="1"/>
          </p:cNvPicPr>
          <p:nvPr userDrawn="1"/>
        </p:nvPicPr>
        <p:blipFill rotWithShape="1">
          <a:blip r:embed="rId11"/>
          <a:srcRect b="23626"/>
          <a:stretch>
            <a:fillRect/>
          </a:stretch>
        </p:blipFill>
        <p:spPr>
          <a:xfrm>
            <a:off x="188640" y="7257765"/>
            <a:ext cx="1260000" cy="914635"/>
          </a:xfrm>
          <a:prstGeom prst="rect">
            <a:avLst/>
          </a:prstGeom>
        </p:spPr>
      </p:pic>
      <p:sp>
        <p:nvSpPr>
          <p:cNvPr id="57" name="Retângulo 56"/>
          <p:cNvSpPr/>
          <p:nvPr userDrawn="1"/>
        </p:nvSpPr>
        <p:spPr>
          <a:xfrm>
            <a:off x="260648" y="8172400"/>
            <a:ext cx="989012" cy="584775"/>
          </a:xfrm>
          <a:prstGeom prst="rect">
            <a:avLst/>
          </a:prstGeom>
        </p:spPr>
        <p:txBody>
          <a:bodyPr wrap="square">
            <a:spAutoFit/>
          </a:bodyPr>
          <a:lstStyle/>
          <a:p>
            <a:pPr algn="ctr"/>
            <a:r>
              <a:rPr lang="pt-BR" sz="800" b="1" dirty="0">
                <a:solidFill>
                  <a:srgbClr val="FF0000"/>
                </a:solidFill>
              </a:rPr>
              <a:t>Certifique</a:t>
            </a:r>
            <a:r>
              <a:rPr lang="pt-BR" sz="800" b="1" baseline="0" dirty="0">
                <a:solidFill>
                  <a:srgbClr val="FF0000"/>
                </a:solidFill>
              </a:rPr>
              <a:t> que os fios estão ligados na sequencia correta</a:t>
            </a:r>
            <a:r>
              <a:rPr lang="pt-BR" sz="800" b="1" dirty="0">
                <a:solidFill>
                  <a:srgbClr val="FF0000"/>
                </a:solidFill>
              </a:rPr>
              <a:t> </a:t>
            </a:r>
            <a:r>
              <a:rPr lang="pt-BR" sz="800" b="1" baseline="0" dirty="0">
                <a:solidFill>
                  <a:srgbClr val="FF0000"/>
                </a:solidFill>
              </a:rPr>
              <a:t> U-V-W</a:t>
            </a:r>
            <a:endParaRPr lang="en-US" sz="800" b="1" dirty="0">
              <a:solidFill>
                <a:srgbClr val="FF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p:spTree>
      <p:nvGrpSpPr>
        <p:cNvPr id="1" name=""/>
        <p:cNvGrpSpPr/>
        <p:nvPr/>
      </p:nvGrpSpPr>
      <p:grpSpPr>
        <a:xfrm>
          <a:off x="0" y="0"/>
          <a:ext cx="0" cy="0"/>
          <a:chOff x="0" y="0"/>
          <a:chExt cx="0" cy="0"/>
        </a:xfrm>
      </p:grpSpPr>
      <p:sp>
        <p:nvSpPr>
          <p:cNvPr id="5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5/5</a:t>
            </a:r>
            <a:endParaRPr lang="en-US" sz="1200" dirty="0">
              <a:effectLst/>
              <a:latin typeface="Times New Roman" panose="02020603050405020304"/>
              <a:ea typeface="Times New Roman" panose="02020603050405020304"/>
            </a:endParaRPr>
          </a:p>
        </p:txBody>
      </p:sp>
      <p:sp>
        <p:nvSpPr>
          <p:cNvPr id="50" name="CaixaDeTexto 49"/>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52" name="Tabela 51"/>
          <p:cNvGraphicFramePr>
            <a:graphicFrameLocks noGrp="1"/>
          </p:cNvGraphicFramePr>
          <p:nvPr userDrawn="1"/>
        </p:nvGraphicFramePr>
        <p:xfrm>
          <a:off x="260648" y="6229100"/>
          <a:ext cx="6368921" cy="467914"/>
        </p:xfrm>
        <a:graphic>
          <a:graphicData uri="http://schemas.openxmlformats.org/drawingml/2006/table">
            <a:tbl>
              <a:tblPr firstRow="1" firstCol="1" bandRow="1">
                <a:tableStyleId>{5C22544A-7EE6-4342-B048-85BDC9FD1C3A}</a:tableStyleId>
              </a:tblPr>
              <a:tblGrid>
                <a:gridCol w="746242"/>
                <a:gridCol w="800946"/>
                <a:gridCol w="918680"/>
                <a:gridCol w="892517"/>
                <a:gridCol w="1105984"/>
                <a:gridCol w="1904552"/>
              </a:tblGrid>
              <a:tr h="233957">
                <a:tc>
                  <a:txBody>
                    <a:bodyPr/>
                    <a:lstStyle/>
                    <a:p>
                      <a:pPr algn="ctr">
                        <a:lnSpc>
                          <a:spcPct val="115000"/>
                        </a:lnSpc>
                        <a:spcAft>
                          <a:spcPts val="0"/>
                        </a:spcAft>
                      </a:pPr>
                      <a:r>
                        <a:rPr lang="pt-BR" sz="1000" dirty="0">
                          <a:effectLst/>
                        </a:rPr>
                        <a:t>Revisão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Elaborado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Revisado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Aprovado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r>
              <a:tr h="233957">
                <a:tc>
                  <a:txBody>
                    <a:bodyPr/>
                    <a:lstStyle/>
                    <a:p>
                      <a:pPr algn="ctr">
                        <a:lnSpc>
                          <a:spcPct val="115000"/>
                        </a:lnSpc>
                        <a:spcAft>
                          <a:spcPts val="0"/>
                        </a:spcAft>
                      </a:pPr>
                      <a:r>
                        <a:rPr lang="pt-BR" sz="1000" dirty="0">
                          <a:effectLst/>
                        </a:rPr>
                        <a:t>01</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05/07/2021</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Pedro Pasinato</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Carlos Jesus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Orientação para testes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r>
            </a:tbl>
          </a:graphicData>
        </a:graphic>
      </p:graphicFrame>
      <p:sp>
        <p:nvSpPr>
          <p:cNvPr id="53" name="Retângulo de cantos arredondados 52"/>
          <p:cNvSpPr>
            <a:spLocks noChangeArrowheads="1"/>
          </p:cNvSpPr>
          <p:nvPr userDrawn="1"/>
        </p:nvSpPr>
        <p:spPr bwMode="auto">
          <a:xfrm>
            <a:off x="404664" y="6732240"/>
            <a:ext cx="6224905" cy="1867535"/>
          </a:xfrm>
          <a:prstGeom prst="roundRect">
            <a:avLst>
              <a:gd name="adj" fmla="val 16667"/>
            </a:avLst>
          </a:prstGeom>
          <a:noFill/>
          <a:ln w="9525" algn="in">
            <a:solidFill>
              <a:srgbClr val="0C0C0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panose="020B0604020202020204"/>
                <a:ea typeface="Calibri" panose="020F0502020204030204"/>
                <a:cs typeface="Times New Roman" panose="02020603050405020304"/>
              </a:rPr>
              <a:t>Copyright © 2021 por LG Electronics do Brasil Ltda.</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 </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Todos os direitos reservados. Nenhuma parte deste boletim pode ser reproduzida, por qualquer processo ou técnica, traduzido ou convertido em qualquer forma eletrônica, ou legível por qualquer meio, em parte ou no todo, sem a aprovação prévia, por escrito, sem o expresso consentimento por escrito da LG Electronics do Brasil Ltda., estando o contrafator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i="1" dirty="0">
                <a:effectLst/>
                <a:latin typeface="Arial" panose="020B0604020202020204"/>
                <a:ea typeface="Calibri" panose="020F0502020204030204"/>
                <a:cs typeface="Times New Roman" panose="02020603050405020304"/>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panose="020F0502020204030204"/>
              <a:ea typeface="Calibri" panose="020F0502020204030204"/>
              <a:cs typeface="Times New Roman" panose="02020603050405020304"/>
            </a:endParaRPr>
          </a:p>
        </p:txBody>
      </p:sp>
      <p:sp>
        <p:nvSpPr>
          <p:cNvPr id="54" name="Retângulo 53"/>
          <p:cNvSpPr/>
          <p:nvPr userDrawn="1"/>
        </p:nvSpPr>
        <p:spPr>
          <a:xfrm>
            <a:off x="260649" y="1619672"/>
            <a:ext cx="636892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aixaDeTexto 54"/>
          <p:cNvSpPr txBox="1"/>
          <p:nvPr userDrawn="1"/>
        </p:nvSpPr>
        <p:spPr>
          <a:xfrm>
            <a:off x="260649" y="1311895"/>
            <a:ext cx="1874103" cy="307777"/>
          </a:xfrm>
          <a:prstGeom prst="rect">
            <a:avLst/>
          </a:prstGeom>
          <a:noFill/>
        </p:spPr>
        <p:txBody>
          <a:bodyPr wrap="none" rtlCol="0">
            <a:spAutoFit/>
          </a:bodyPr>
          <a:lstStyle/>
          <a:p>
            <a:r>
              <a:rPr lang="pt-BR" sz="1400" b="0" dirty="0"/>
              <a:t>9. Foto do Compressor </a:t>
            </a:r>
            <a:endParaRPr lang="en-US" sz="1400" b="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71488" y="487363"/>
            <a:ext cx="5915025" cy="1766887"/>
          </a:xfrm>
          <a:prstGeom prst="rect">
            <a:avLst/>
          </a:prstGeom>
        </p:spPr>
        <p:txBody>
          <a:bodyPr/>
          <a:lstStyle/>
          <a:p>
            <a:r>
              <a:rPr lang="pt-BR"/>
              <a:t>Clique para editar o título mestre</a:t>
            </a:r>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71488" y="487363"/>
            <a:ext cx="5915025" cy="1766887"/>
          </a:xfrm>
          <a:prstGeom prst="rect">
            <a:avLst/>
          </a:prstGeom>
        </p:spPr>
        <p:txBody>
          <a:bodyPr/>
          <a:lstStyle/>
          <a:p>
            <a:r>
              <a:rPr lang="pt-BR"/>
              <a:t>Clique para editar o título mestre</a:t>
            </a:r>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857250" y="1497013"/>
            <a:ext cx="5143500" cy="3182937"/>
          </a:xfrm>
        </p:spPr>
        <p:txBody>
          <a:bodyPr anchor="b"/>
          <a:lstStyle>
            <a:lvl1pPr algn="ctr">
              <a:defRPr sz="6000"/>
            </a:lvl1pPr>
          </a:lstStyle>
          <a:p>
            <a:r>
              <a:rPr lang="pt-BR"/>
              <a:t>Clique para editar o título mestre</a:t>
            </a:r>
            <a:endParaRPr lang="pt-BR"/>
          </a:p>
        </p:txBody>
      </p:sp>
      <p:sp>
        <p:nvSpPr>
          <p:cNvPr id="3" name="Subtítulo 2"/>
          <p:cNvSpPr>
            <a:spLocks noGrp="1"/>
          </p:cNvSpPr>
          <p:nvPr>
            <p:ph type="subTitle" idx="1" hasCustomPrompt="1"/>
          </p:nvPr>
        </p:nvSpPr>
        <p:spPr>
          <a:xfrm>
            <a:off x="857250" y="4802188"/>
            <a:ext cx="5143500" cy="22082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pt-BR"/>
          </a:p>
        </p:txBody>
      </p:sp>
      <p:sp>
        <p:nvSpPr>
          <p:cNvPr id="4" name="Espaço Reservado para Data 3"/>
          <p:cNvSpPr>
            <a:spLocks noGrp="1"/>
          </p:cNvSpPr>
          <p:nvPr>
            <p:ph type="dt" sz="half" idx="10"/>
          </p:nvPr>
        </p:nvSpPr>
        <p:spPr/>
        <p:txBody>
          <a:bodyPr/>
          <a:lstStyle/>
          <a:p>
            <a:fld id="{A968F19D-D95F-42CE-B561-BEA0D7BDAAC4}"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Conteúdo 2"/>
          <p:cNvSpPr>
            <a:spLocks noGrp="1"/>
          </p:cNvSpPr>
          <p:nvPr>
            <p:ph idx="1" hasCustomPrompt="1"/>
          </p:nvPr>
        </p:nvSpPr>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A968F19D-D95F-42CE-B561-BEA0D7BDAAC4}"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68313" y="2279650"/>
            <a:ext cx="5915025" cy="3803650"/>
          </a:xfrm>
        </p:spPr>
        <p:txBody>
          <a:bodyPr anchor="b"/>
          <a:lstStyle>
            <a:lvl1pPr>
              <a:defRPr sz="6000"/>
            </a:lvl1pPr>
          </a:lstStyle>
          <a:p>
            <a:r>
              <a:rPr lang="pt-BR"/>
              <a:t>Clique para editar o título mestre</a:t>
            </a:r>
            <a:endParaRPr lang="pt-BR"/>
          </a:p>
        </p:txBody>
      </p:sp>
      <p:sp>
        <p:nvSpPr>
          <p:cNvPr id="3" name="Espaço Reservado para Texto 2"/>
          <p:cNvSpPr>
            <a:spLocks noGrp="1"/>
          </p:cNvSpPr>
          <p:nvPr>
            <p:ph type="body" idx="1" hasCustomPrompt="1"/>
          </p:nvPr>
        </p:nvSpPr>
        <p:spPr>
          <a:xfrm>
            <a:off x="468313" y="6119813"/>
            <a:ext cx="5915025" cy="20002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endParaRPr lang="pt-BR"/>
          </a:p>
        </p:txBody>
      </p:sp>
      <p:sp>
        <p:nvSpPr>
          <p:cNvPr id="4" name="Espaço Reservado para Data 3"/>
          <p:cNvSpPr>
            <a:spLocks noGrp="1"/>
          </p:cNvSpPr>
          <p:nvPr>
            <p:ph type="dt" sz="half" idx="10"/>
          </p:nvPr>
        </p:nvSpPr>
        <p:spPr/>
        <p:txBody>
          <a:bodyPr/>
          <a:lstStyle/>
          <a:p>
            <a:fld id="{A968F19D-D95F-42CE-B561-BEA0D7BDAAC4}"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Conteúdo 2"/>
          <p:cNvSpPr>
            <a:spLocks noGrp="1"/>
          </p:cNvSpPr>
          <p:nvPr>
            <p:ph sz="half" idx="1" hasCustomPrompt="1"/>
          </p:nvPr>
        </p:nvSpPr>
        <p:spPr>
          <a:xfrm>
            <a:off x="471488" y="2433638"/>
            <a:ext cx="2881312" cy="5802312"/>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Conteúdo 3"/>
          <p:cNvSpPr>
            <a:spLocks noGrp="1"/>
          </p:cNvSpPr>
          <p:nvPr>
            <p:ph sz="half" idx="2" hasCustomPrompt="1"/>
          </p:nvPr>
        </p:nvSpPr>
        <p:spPr>
          <a:xfrm>
            <a:off x="3505200" y="2433638"/>
            <a:ext cx="2881313" cy="5802312"/>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5" name="Espaço Reservado para Data 4"/>
          <p:cNvSpPr>
            <a:spLocks noGrp="1"/>
          </p:cNvSpPr>
          <p:nvPr>
            <p:ph type="dt" sz="half" idx="10"/>
          </p:nvPr>
        </p:nvSpPr>
        <p:spPr/>
        <p:txBody>
          <a:bodyPr/>
          <a:lstStyle/>
          <a:p>
            <a:fld id="{A968F19D-D95F-42CE-B561-BEA0D7BDAAC4}"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73075" y="487363"/>
            <a:ext cx="5915025" cy="1766887"/>
          </a:xfrm>
        </p:spPr>
        <p:txBody>
          <a:bodyPr/>
          <a:lstStyle/>
          <a:p>
            <a:r>
              <a:rPr lang="pt-BR"/>
              <a:t>Clique para editar o título mestre</a:t>
            </a:r>
            <a:endParaRPr lang="pt-BR"/>
          </a:p>
        </p:txBody>
      </p:sp>
      <p:sp>
        <p:nvSpPr>
          <p:cNvPr id="3" name="Espaço Reservado para Texto 2"/>
          <p:cNvSpPr>
            <a:spLocks noGrp="1"/>
          </p:cNvSpPr>
          <p:nvPr>
            <p:ph type="body" idx="1" hasCustomPrompt="1"/>
          </p:nvPr>
        </p:nvSpPr>
        <p:spPr>
          <a:xfrm>
            <a:off x="473075" y="2241550"/>
            <a:ext cx="2900363"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473075" y="3340100"/>
            <a:ext cx="2900363" cy="4913313"/>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5" name="Espaço Reservado para Texto 4"/>
          <p:cNvSpPr>
            <a:spLocks noGrp="1"/>
          </p:cNvSpPr>
          <p:nvPr>
            <p:ph type="body" sz="quarter" idx="3" hasCustomPrompt="1"/>
          </p:nvPr>
        </p:nvSpPr>
        <p:spPr>
          <a:xfrm>
            <a:off x="3471863" y="2241550"/>
            <a:ext cx="2916237"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71863" y="3340100"/>
            <a:ext cx="2916237" cy="4913313"/>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7" name="Espaço Reservado para Data 6"/>
          <p:cNvSpPr>
            <a:spLocks noGrp="1"/>
          </p:cNvSpPr>
          <p:nvPr>
            <p:ph type="dt" sz="half" idx="10"/>
          </p:nvPr>
        </p:nvSpPr>
        <p:spPr/>
        <p:txBody>
          <a:bodyPr/>
          <a:lstStyle/>
          <a:p>
            <a:fld id="{A968F19D-D95F-42CE-B561-BEA0D7BDAAC4}" type="datetimeFigureOut">
              <a:rPr lang="pt-BR" smtClean="0"/>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Data 2"/>
          <p:cNvSpPr>
            <a:spLocks noGrp="1"/>
          </p:cNvSpPr>
          <p:nvPr>
            <p:ph type="dt" sz="half" idx="10"/>
          </p:nvPr>
        </p:nvSpPr>
        <p:spPr/>
        <p:txBody>
          <a:bodyPr/>
          <a:lstStyle/>
          <a:p>
            <a:fld id="{A968F19D-D95F-42CE-B561-BEA0D7BDAAC4}" type="datetimeFigureOut">
              <a:rPr lang="pt-BR" smtClean="0"/>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968F19D-D95F-42CE-B561-BEA0D7BDAAC4}" type="datetimeFigureOut">
              <a:rPr lang="pt-BR" smtClean="0"/>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pt-BR"/>
              <a:t>Clique para editar o título mestre</a:t>
            </a:r>
            <a:endParaRPr lang="pt-BR"/>
          </a:p>
        </p:txBody>
      </p:sp>
      <p:sp>
        <p:nvSpPr>
          <p:cNvPr id="3" name="Espaço Reservado para Conteúdo 2"/>
          <p:cNvSpPr>
            <a:spLocks noGrp="1"/>
          </p:cNvSpPr>
          <p:nvPr>
            <p:ph idx="1" hasCustomPrompt="1"/>
          </p:nvPr>
        </p:nvSpPr>
        <p:spPr>
          <a:xfrm>
            <a:off x="2916238" y="1316038"/>
            <a:ext cx="3471862" cy="64992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Texto 3"/>
          <p:cNvSpPr>
            <a:spLocks noGrp="1"/>
          </p:cNvSpPr>
          <p:nvPr>
            <p:ph type="body" sz="half" idx="2" hasCustomPrompt="1"/>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A968F19D-D95F-42CE-B561-BEA0D7BDAAC4}"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pt-BR"/>
              <a:t>Clique para editar o título mestre</a:t>
            </a:r>
            <a:endParaRPr lang="pt-BR"/>
          </a:p>
        </p:txBody>
      </p:sp>
      <p:sp>
        <p:nvSpPr>
          <p:cNvPr id="3" name="Espaço Reservado para Imagem 2"/>
          <p:cNvSpPr>
            <a:spLocks noGrp="1"/>
          </p:cNvSpPr>
          <p:nvPr>
            <p:ph type="pic" idx="1"/>
          </p:nvPr>
        </p:nvSpPr>
        <p:spPr>
          <a:xfrm>
            <a:off x="2916238" y="1316038"/>
            <a:ext cx="3471862" cy="64992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hasCustomPrompt="1"/>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A968F19D-D95F-42CE-B561-BEA0D7BDAAC4}"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A968F19D-D95F-42CE-B561-BEA0D7BDAAC4}"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08550" y="487363"/>
            <a:ext cx="1477963" cy="7748587"/>
          </a:xfrm>
        </p:spPr>
        <p:txBody>
          <a:bodyPr vert="eaVert"/>
          <a:lstStyle/>
          <a:p>
            <a:r>
              <a:rPr lang="pt-BR"/>
              <a:t>Clique para editar o título mestre</a:t>
            </a:r>
            <a:endParaRPr lang="pt-BR"/>
          </a:p>
        </p:txBody>
      </p:sp>
      <p:sp>
        <p:nvSpPr>
          <p:cNvPr id="3" name="Espaço Reservado para Texto Vertical 2"/>
          <p:cNvSpPr>
            <a:spLocks noGrp="1"/>
          </p:cNvSpPr>
          <p:nvPr>
            <p:ph type="body" orient="vert" idx="1" hasCustomPrompt="1"/>
          </p:nvPr>
        </p:nvSpPr>
        <p:spPr>
          <a:xfrm>
            <a:off x="471488" y="487363"/>
            <a:ext cx="4284662" cy="7748587"/>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A968F19D-D95F-42CE-B561-BEA0D7BDAAC4}"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69AF43-30CA-41BC-A396-C4ECD99DEFCB}" type="slidenum">
              <a:rPr lang="pt-BR" smtClean="0"/>
            </a:fld>
            <a:endParaRPr lang="pt-B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857250" y="1497013"/>
            <a:ext cx="5143500" cy="3182937"/>
          </a:xfrm>
        </p:spPr>
        <p:txBody>
          <a:bodyPr anchor="b"/>
          <a:lstStyle>
            <a:lvl1pPr algn="ctr">
              <a:defRPr sz="6000"/>
            </a:lvl1pPr>
          </a:lstStyle>
          <a:p>
            <a:r>
              <a:rPr lang="pt-BR"/>
              <a:t>Clique para editar o título mestre</a:t>
            </a:r>
            <a:endParaRPr lang="pt-BR"/>
          </a:p>
        </p:txBody>
      </p:sp>
      <p:sp>
        <p:nvSpPr>
          <p:cNvPr id="3" name="Subtítulo 2"/>
          <p:cNvSpPr>
            <a:spLocks noGrp="1"/>
          </p:cNvSpPr>
          <p:nvPr>
            <p:ph type="subTitle" idx="1" hasCustomPrompt="1"/>
          </p:nvPr>
        </p:nvSpPr>
        <p:spPr>
          <a:xfrm>
            <a:off x="857250" y="4802188"/>
            <a:ext cx="5143500" cy="22082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pt-BR"/>
          </a:p>
        </p:txBody>
      </p:sp>
      <p:sp>
        <p:nvSpPr>
          <p:cNvPr id="4" name="Espaço Reservado para Data 3"/>
          <p:cNvSpPr>
            <a:spLocks noGrp="1"/>
          </p:cNvSpPr>
          <p:nvPr>
            <p:ph type="dt" sz="half" idx="10"/>
          </p:nvPr>
        </p:nvSpPr>
        <p:spPr/>
        <p:txBody>
          <a:bodyPr/>
          <a:lstStyle/>
          <a:p>
            <a:fld id="{22BAAA24-C083-4C57-9312-37C949F8F7ED}"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Conteúdo 2"/>
          <p:cNvSpPr>
            <a:spLocks noGrp="1"/>
          </p:cNvSpPr>
          <p:nvPr>
            <p:ph idx="1" hasCustomPrompt="1"/>
          </p:nvPr>
        </p:nvSpPr>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22BAAA24-C083-4C57-9312-37C949F8F7ED}"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68313" y="2279650"/>
            <a:ext cx="5915025" cy="3803650"/>
          </a:xfrm>
        </p:spPr>
        <p:txBody>
          <a:bodyPr anchor="b"/>
          <a:lstStyle>
            <a:lvl1pPr>
              <a:defRPr sz="6000"/>
            </a:lvl1pPr>
          </a:lstStyle>
          <a:p>
            <a:r>
              <a:rPr lang="pt-BR"/>
              <a:t>Clique para editar o título mestre</a:t>
            </a:r>
            <a:endParaRPr lang="pt-BR"/>
          </a:p>
        </p:txBody>
      </p:sp>
      <p:sp>
        <p:nvSpPr>
          <p:cNvPr id="3" name="Espaço Reservado para Texto 2"/>
          <p:cNvSpPr>
            <a:spLocks noGrp="1"/>
          </p:cNvSpPr>
          <p:nvPr>
            <p:ph type="body" idx="1" hasCustomPrompt="1"/>
          </p:nvPr>
        </p:nvSpPr>
        <p:spPr>
          <a:xfrm>
            <a:off x="468313" y="6119813"/>
            <a:ext cx="5915025" cy="20002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endParaRPr lang="pt-BR"/>
          </a:p>
        </p:txBody>
      </p:sp>
      <p:sp>
        <p:nvSpPr>
          <p:cNvPr id="4" name="Espaço Reservado para Data 3"/>
          <p:cNvSpPr>
            <a:spLocks noGrp="1"/>
          </p:cNvSpPr>
          <p:nvPr>
            <p:ph type="dt" sz="half" idx="10"/>
          </p:nvPr>
        </p:nvSpPr>
        <p:spPr/>
        <p:txBody>
          <a:bodyPr/>
          <a:lstStyle/>
          <a:p>
            <a:fld id="{22BAAA24-C083-4C57-9312-37C949F8F7ED}"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Conteúdo 2"/>
          <p:cNvSpPr>
            <a:spLocks noGrp="1"/>
          </p:cNvSpPr>
          <p:nvPr>
            <p:ph sz="half" idx="1" hasCustomPrompt="1"/>
          </p:nvPr>
        </p:nvSpPr>
        <p:spPr>
          <a:xfrm>
            <a:off x="471488" y="2433638"/>
            <a:ext cx="2881312" cy="5802312"/>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Conteúdo 3"/>
          <p:cNvSpPr>
            <a:spLocks noGrp="1"/>
          </p:cNvSpPr>
          <p:nvPr>
            <p:ph sz="half" idx="2" hasCustomPrompt="1"/>
          </p:nvPr>
        </p:nvSpPr>
        <p:spPr>
          <a:xfrm>
            <a:off x="3505200" y="2433638"/>
            <a:ext cx="2881313" cy="5802312"/>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5" name="Espaço Reservado para Data 4"/>
          <p:cNvSpPr>
            <a:spLocks noGrp="1"/>
          </p:cNvSpPr>
          <p:nvPr>
            <p:ph type="dt" sz="half" idx="10"/>
          </p:nvPr>
        </p:nvSpPr>
        <p:spPr/>
        <p:txBody>
          <a:bodyPr/>
          <a:lstStyle/>
          <a:p>
            <a:fld id="{22BAAA24-C083-4C57-9312-37C949F8F7ED}"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73075" y="487363"/>
            <a:ext cx="5915025" cy="1766887"/>
          </a:xfrm>
        </p:spPr>
        <p:txBody>
          <a:bodyPr/>
          <a:lstStyle/>
          <a:p>
            <a:r>
              <a:rPr lang="pt-BR"/>
              <a:t>Clique para editar o título mestre</a:t>
            </a:r>
            <a:endParaRPr lang="pt-BR"/>
          </a:p>
        </p:txBody>
      </p:sp>
      <p:sp>
        <p:nvSpPr>
          <p:cNvPr id="3" name="Espaço Reservado para Texto 2"/>
          <p:cNvSpPr>
            <a:spLocks noGrp="1"/>
          </p:cNvSpPr>
          <p:nvPr>
            <p:ph type="body" idx="1" hasCustomPrompt="1"/>
          </p:nvPr>
        </p:nvSpPr>
        <p:spPr>
          <a:xfrm>
            <a:off x="473075" y="2241550"/>
            <a:ext cx="2900363"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473075" y="3340100"/>
            <a:ext cx="2900363" cy="4913313"/>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5" name="Espaço Reservado para Texto 4"/>
          <p:cNvSpPr>
            <a:spLocks noGrp="1"/>
          </p:cNvSpPr>
          <p:nvPr>
            <p:ph type="body" sz="quarter" idx="3" hasCustomPrompt="1"/>
          </p:nvPr>
        </p:nvSpPr>
        <p:spPr>
          <a:xfrm>
            <a:off x="3471863" y="2241550"/>
            <a:ext cx="2916237"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71863" y="3340100"/>
            <a:ext cx="2916237" cy="4913313"/>
          </a:xfrm>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7" name="Espaço Reservado para Data 6"/>
          <p:cNvSpPr>
            <a:spLocks noGrp="1"/>
          </p:cNvSpPr>
          <p:nvPr>
            <p:ph type="dt" sz="half" idx="10"/>
          </p:nvPr>
        </p:nvSpPr>
        <p:spPr/>
        <p:txBody>
          <a:bodyPr/>
          <a:lstStyle/>
          <a:p>
            <a:fld id="{22BAAA24-C083-4C57-9312-37C949F8F7ED}" type="datetimeFigureOut">
              <a:rPr lang="pt-BR" smtClean="0"/>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Data 2"/>
          <p:cNvSpPr>
            <a:spLocks noGrp="1"/>
          </p:cNvSpPr>
          <p:nvPr>
            <p:ph type="dt" sz="half" idx="10"/>
          </p:nvPr>
        </p:nvSpPr>
        <p:spPr/>
        <p:txBody>
          <a:bodyPr/>
          <a:lstStyle/>
          <a:p>
            <a:fld id="{22BAAA24-C083-4C57-9312-37C949F8F7ED}" type="datetimeFigureOut">
              <a:rPr lang="pt-BR" smtClean="0"/>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2BAAA24-C083-4C57-9312-37C949F8F7ED}" type="datetimeFigureOut">
              <a:rPr lang="pt-BR" smtClean="0"/>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pt-BR"/>
              <a:t>Clique para editar o título mestre</a:t>
            </a:r>
            <a:endParaRPr lang="pt-BR"/>
          </a:p>
        </p:txBody>
      </p:sp>
      <p:sp>
        <p:nvSpPr>
          <p:cNvPr id="3" name="Espaço Reservado para Conteúdo 2"/>
          <p:cNvSpPr>
            <a:spLocks noGrp="1"/>
          </p:cNvSpPr>
          <p:nvPr>
            <p:ph idx="1" hasCustomPrompt="1"/>
          </p:nvPr>
        </p:nvSpPr>
        <p:spPr>
          <a:xfrm>
            <a:off x="2916238" y="1316038"/>
            <a:ext cx="3471862" cy="64992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Texto 3"/>
          <p:cNvSpPr>
            <a:spLocks noGrp="1"/>
          </p:cNvSpPr>
          <p:nvPr>
            <p:ph type="body" sz="half" idx="2" hasCustomPrompt="1"/>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2BAAA24-C083-4C57-9312-37C949F8F7ED}"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pt-BR"/>
              <a:t>Clique para editar o título mestre</a:t>
            </a:r>
            <a:endParaRPr lang="pt-BR"/>
          </a:p>
        </p:txBody>
      </p:sp>
      <p:sp>
        <p:nvSpPr>
          <p:cNvPr id="3" name="Espaço Reservado para Imagem 2"/>
          <p:cNvSpPr>
            <a:spLocks noGrp="1"/>
          </p:cNvSpPr>
          <p:nvPr>
            <p:ph type="pic" idx="1"/>
          </p:nvPr>
        </p:nvSpPr>
        <p:spPr>
          <a:xfrm>
            <a:off x="2916238" y="1316038"/>
            <a:ext cx="3471862" cy="64992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hasCustomPrompt="1"/>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2BAAA24-C083-4C57-9312-37C949F8F7ED}" type="datetimeFigureOut">
              <a:rPr lang="pt-BR" smtClean="0"/>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pt-BR"/>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22BAAA24-C083-4C57-9312-37C949F8F7ED}"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08550" y="487363"/>
            <a:ext cx="1477963" cy="7748587"/>
          </a:xfrm>
        </p:spPr>
        <p:txBody>
          <a:bodyPr vert="eaVert"/>
          <a:lstStyle/>
          <a:p>
            <a:r>
              <a:rPr lang="pt-BR"/>
              <a:t>Clique para editar o título mestre</a:t>
            </a:r>
            <a:endParaRPr lang="pt-BR"/>
          </a:p>
        </p:txBody>
      </p:sp>
      <p:sp>
        <p:nvSpPr>
          <p:cNvPr id="3" name="Espaço Reservado para Texto Vertical 2"/>
          <p:cNvSpPr>
            <a:spLocks noGrp="1"/>
          </p:cNvSpPr>
          <p:nvPr>
            <p:ph type="body" orient="vert" idx="1" hasCustomPrompt="1"/>
          </p:nvPr>
        </p:nvSpPr>
        <p:spPr>
          <a:xfrm>
            <a:off x="471488" y="487363"/>
            <a:ext cx="4284662" cy="7748587"/>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10"/>
          </p:nvPr>
        </p:nvSpPr>
        <p:spPr/>
        <p:txBody>
          <a:bodyPr/>
          <a:lstStyle/>
          <a:p>
            <a:fld id="{22BAAA24-C083-4C57-9312-37C949F8F7ED}" type="datetimeFigureOut">
              <a:rPr lang="pt-BR" smtClean="0"/>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ED1092-D256-49E6-BBDC-0545E27CC0D4}" type="slidenum">
              <a:rPr lang="pt-BR" smtClean="0"/>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2" Type="http://schemas.openxmlformats.org/officeDocument/2006/relationships/theme" Target="../theme/theme2.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2" Type="http://schemas.openxmlformats.org/officeDocument/2006/relationships/theme" Target="../theme/theme3.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dirty="0"/>
              <a:t>Clique para editar o texto mestre</a:t>
            </a:r>
            <a:endParaRPr lang="pt-BR" dirty="0"/>
          </a:p>
          <a:p>
            <a:pPr lvl="1"/>
            <a:r>
              <a:rPr lang="pt-BR" dirty="0"/>
              <a:t>Segundo nível</a:t>
            </a:r>
            <a:endParaRPr lang="pt-BR" dirty="0"/>
          </a:p>
          <a:p>
            <a:pPr lvl="2"/>
            <a:r>
              <a:rPr lang="pt-BR" dirty="0"/>
              <a:t>Terceiro nível</a:t>
            </a:r>
            <a:endParaRPr lang="pt-BR" dirty="0"/>
          </a:p>
          <a:p>
            <a:pPr lvl="3"/>
            <a:r>
              <a:rPr lang="pt-BR" dirty="0"/>
              <a:t>Quarto nível</a:t>
            </a:r>
            <a:endParaRPr lang="pt-BR" dirty="0"/>
          </a:p>
          <a:p>
            <a:pPr lvl="4"/>
            <a:r>
              <a:rPr lang="pt-BR" dirty="0"/>
              <a:t>Quinto nível</a:t>
            </a:r>
            <a:endParaRPr lang="en-US" dirty="0"/>
          </a:p>
        </p:txBody>
      </p:sp>
      <p:pic>
        <p:nvPicPr>
          <p:cNvPr id="7" name="Imagem 6"/>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rgbClr val="B10F2A"/>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RELATÓRIO</a:t>
            </a:r>
            <a:r>
              <a:rPr lang="pt-BR" sz="1100" baseline="0" dirty="0">
                <a:effectLst/>
                <a:ea typeface="Calibri" panose="020F0502020204030204"/>
                <a:cs typeface="Times New Roman" panose="02020603050405020304"/>
              </a:rPr>
              <a:t> TÉCNICO – LCAC E RAC</a:t>
            </a:r>
            <a:endParaRPr lang="en-US" sz="1100" dirty="0">
              <a:effectLst/>
              <a:ea typeface="Calibri" panose="020F0502020204030204"/>
              <a:cs typeface="Times New Roman" panose="02020603050405020304"/>
            </a:endParaRPr>
          </a:p>
        </p:txBody>
      </p:sp>
      <p:sp>
        <p:nvSpPr>
          <p:cNvPr id="9" name="Retângulo de cantos arredondados 8"/>
          <p:cNvSpPr/>
          <p:nvPr userDrawn="1"/>
        </p:nvSpPr>
        <p:spPr>
          <a:xfrm>
            <a:off x="4457700" y="382270"/>
            <a:ext cx="2400300" cy="285750"/>
          </a:xfrm>
          <a:prstGeom prst="roundRect">
            <a:avLst/>
          </a:prstGeom>
          <a:solidFill>
            <a:srgbClr val="B10F2A"/>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RT</a:t>
            </a:r>
            <a:r>
              <a:rPr lang="pt-BR" sz="1100" baseline="0" dirty="0">
                <a:effectLst/>
                <a:ea typeface="Calibri" panose="020F0502020204030204"/>
                <a:cs typeface="Times New Roman" panose="02020603050405020304"/>
              </a:rPr>
              <a:t> –NWS.E.01-REV.01</a:t>
            </a:r>
            <a:endParaRPr lang="en-US" sz="1100" dirty="0">
              <a:effectLst/>
              <a:ea typeface="Calibri" panose="020F0502020204030204"/>
              <a:cs typeface="Times New Roman" panose="02020603050405020304"/>
            </a:endParaRPr>
          </a:p>
        </p:txBody>
      </p:sp>
      <p:pic>
        <p:nvPicPr>
          <p:cNvPr id="10" name="Imagem 9"/>
          <p:cNvPicPr/>
          <p:nvPr userDrawn="1"/>
        </p:nvPicPr>
        <p:blipFill>
          <a:blip r:embed="rId9"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a:solidFill>
                  <a:srgbClr val="808080"/>
                </a:solidFill>
                <a:effectLst/>
                <a:latin typeface="Arial" panose="020B0604020202020204"/>
                <a:ea typeface="Calibri" panose="020F0502020204030204"/>
                <a:cs typeface="Times New Roman" panose="02020603050405020304"/>
              </a:rPr>
              <a:t>Av. Dr. Chucri Zaidan, 940 - 3º Andar - Vila Cordeiro - São Paulo – SP – CEP: 04583-110</a:t>
            </a:r>
            <a:endParaRPr lang="en-US" sz="1100">
              <a:effectLst/>
              <a:latin typeface="Calibri" panose="020F0502020204030204"/>
              <a:ea typeface="Calibri" panose="020F0502020204030204"/>
              <a:cs typeface="Times New Roman" panose="02020603050405020304"/>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Este</a:t>
            </a:r>
            <a:r>
              <a:rPr lang="pt-BR" sz="700" b="1" i="1" baseline="0" dirty="0">
                <a:effectLst/>
                <a:latin typeface="Arial" panose="020B0604020202020204"/>
                <a:ea typeface="Calibri" panose="020F0502020204030204"/>
                <a:cs typeface="Times New Roman" panose="02020603050405020304"/>
              </a:rPr>
              <a:t> Relatório é valido a partir de 01/10/2021 cancelando os anteriores </a:t>
            </a:r>
            <a:endParaRPr lang="en-US" sz="1100" dirty="0">
              <a:effectLst/>
              <a:ea typeface="Calibri" panose="020F0502020204030204"/>
              <a:cs typeface="Times New Roman" panose="02020603050405020304"/>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Abrangência</a:t>
            </a:r>
            <a:r>
              <a:rPr lang="pt-BR" sz="700" i="1" dirty="0">
                <a:effectLst/>
                <a:latin typeface="Arial" panose="020B0604020202020204"/>
                <a:ea typeface="Calibri" panose="020F0502020204030204"/>
                <a:cs typeface="Times New Roman" panose="02020603050405020304"/>
              </a:rPr>
              <a:t>: Rede Credenciada –</a:t>
            </a:r>
            <a:r>
              <a:rPr lang="pt-BR" sz="700" i="1" baseline="0" dirty="0">
                <a:effectLst/>
                <a:latin typeface="Arial" panose="020B0604020202020204"/>
                <a:ea typeface="Calibri" panose="020F0502020204030204"/>
                <a:cs typeface="Times New Roman" panose="02020603050405020304"/>
              </a:rPr>
              <a:t> Distribuidores / Revenda</a:t>
            </a:r>
            <a:endParaRPr lang="en-US" sz="1100" dirty="0">
              <a:effectLst/>
              <a:ea typeface="Calibri" panose="020F0502020204030204"/>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71488" y="487363"/>
            <a:ext cx="5915025" cy="1766887"/>
          </a:xfrm>
          <a:prstGeom prst="rect">
            <a:avLst/>
          </a:prstGeom>
        </p:spPr>
        <p:txBody>
          <a:bodyPr vert="horz" lIns="91440" tIns="45720" rIns="91440" bIns="45720" rtlCol="0" anchor="ctr">
            <a:normAutofit/>
          </a:bodyPr>
          <a:lstStyle/>
          <a:p>
            <a:r>
              <a:rPr lang="pt-BR"/>
              <a:t>Clique para editar o título mestre</a:t>
            </a:r>
            <a:endParaRPr lang="pt-BR"/>
          </a:p>
        </p:txBody>
      </p:sp>
      <p:sp>
        <p:nvSpPr>
          <p:cNvPr id="3" name="Espaço Reservado para Texto 2"/>
          <p:cNvSpPr>
            <a:spLocks noGrp="1"/>
          </p:cNvSpPr>
          <p:nvPr>
            <p:ph type="body" idx="1"/>
          </p:nvPr>
        </p:nvSpPr>
        <p:spPr>
          <a:xfrm>
            <a:off x="471488" y="2433638"/>
            <a:ext cx="5915025" cy="5802312"/>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2"/>
          </p:nvPr>
        </p:nvSpPr>
        <p:spPr>
          <a:xfrm>
            <a:off x="471488" y="8475663"/>
            <a:ext cx="154305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A968F19D-D95F-42CE-B561-BEA0D7BDAAC4}" type="datetimeFigureOut">
              <a:rPr lang="pt-BR" smtClean="0"/>
            </a:fld>
            <a:endParaRPr lang="pt-BR"/>
          </a:p>
        </p:txBody>
      </p:sp>
      <p:sp>
        <p:nvSpPr>
          <p:cNvPr id="5" name="Espaço Reservado para Rodapé 4"/>
          <p:cNvSpPr>
            <a:spLocks noGrp="1"/>
          </p:cNvSpPr>
          <p:nvPr>
            <p:ph type="ftr" sz="quarter" idx="3"/>
          </p:nvPr>
        </p:nvSpPr>
        <p:spPr>
          <a:xfrm>
            <a:off x="2271713" y="8475663"/>
            <a:ext cx="2314575"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843463" y="8475663"/>
            <a:ext cx="154305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8469AF43-30CA-41BC-A396-C4ECD99DEFCB}" type="slidenum">
              <a:rPr lang="pt-BR" smtClean="0"/>
            </a:fld>
            <a:endParaRPr lang="pt-B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71488" y="487363"/>
            <a:ext cx="5915025" cy="1766887"/>
          </a:xfrm>
          <a:prstGeom prst="rect">
            <a:avLst/>
          </a:prstGeom>
        </p:spPr>
        <p:txBody>
          <a:bodyPr vert="horz" lIns="91440" tIns="45720" rIns="91440" bIns="45720" rtlCol="0" anchor="ctr">
            <a:normAutofit/>
          </a:bodyPr>
          <a:lstStyle/>
          <a:p>
            <a:r>
              <a:rPr lang="pt-BR"/>
              <a:t>Clique para editar o título mestre</a:t>
            </a:r>
            <a:endParaRPr lang="pt-BR"/>
          </a:p>
        </p:txBody>
      </p:sp>
      <p:sp>
        <p:nvSpPr>
          <p:cNvPr id="3" name="Espaço Reservado para Texto 2"/>
          <p:cNvSpPr>
            <a:spLocks noGrp="1"/>
          </p:cNvSpPr>
          <p:nvPr>
            <p:ph type="body" idx="1"/>
          </p:nvPr>
        </p:nvSpPr>
        <p:spPr>
          <a:xfrm>
            <a:off x="471488" y="2433638"/>
            <a:ext cx="5915025" cy="5802312"/>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pt-BR"/>
          </a:p>
        </p:txBody>
      </p:sp>
      <p:sp>
        <p:nvSpPr>
          <p:cNvPr id="4" name="Espaço Reservado para Data 3"/>
          <p:cNvSpPr>
            <a:spLocks noGrp="1"/>
          </p:cNvSpPr>
          <p:nvPr>
            <p:ph type="dt" sz="half" idx="2"/>
          </p:nvPr>
        </p:nvSpPr>
        <p:spPr>
          <a:xfrm>
            <a:off x="471488" y="8475663"/>
            <a:ext cx="154305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22BAAA24-C083-4C57-9312-37C949F8F7ED}" type="datetimeFigureOut">
              <a:rPr lang="pt-BR" smtClean="0"/>
            </a:fld>
            <a:endParaRPr lang="pt-BR"/>
          </a:p>
        </p:txBody>
      </p:sp>
      <p:sp>
        <p:nvSpPr>
          <p:cNvPr id="5" name="Espaço Reservado para Rodapé 4"/>
          <p:cNvSpPr>
            <a:spLocks noGrp="1"/>
          </p:cNvSpPr>
          <p:nvPr>
            <p:ph type="ftr" sz="quarter" idx="3"/>
          </p:nvPr>
        </p:nvSpPr>
        <p:spPr>
          <a:xfrm>
            <a:off x="2271713" y="8475663"/>
            <a:ext cx="2314575"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843463" y="8475663"/>
            <a:ext cx="154305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7EED1092-D256-49E6-BBDC-0545E27CC0D4}" type="slidenum">
              <a:rPr lang="pt-BR" smtClean="0"/>
            </a:fld>
            <a:endParaRPr lang="pt-B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BR019818-S</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p:cNvSpPr/>
          <p:nvPr/>
        </p:nvSpPr>
        <p:spPr>
          <a:xfrm>
            <a:off x="5660243" y="6516216"/>
            <a:ext cx="844054" cy="188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10" name="Retângulo 9"/>
          <p:cNvSpPr/>
          <p:nvPr/>
        </p:nvSpPr>
        <p:spPr>
          <a:xfrm>
            <a:off x="3429000" y="1835696"/>
            <a:ext cx="3168352" cy="237626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da instalação aqui </a:t>
            </a:r>
            <a:endParaRPr lang="en-US" sz="900" dirty="0">
              <a:solidFill>
                <a:schemeClr val="tx1"/>
              </a:solidFill>
            </a:endParaRPr>
          </a:p>
        </p:txBody>
      </p:sp>
      <p:sp>
        <p:nvSpPr>
          <p:cNvPr id="14" name="Retângulo 13"/>
          <p:cNvSpPr/>
          <p:nvPr/>
        </p:nvSpPr>
        <p:spPr>
          <a:xfrm>
            <a:off x="3846817" y="6421809"/>
            <a:ext cx="844054" cy="188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2" name="Retângulo 1"/>
          <p:cNvSpPr/>
          <p:nvPr/>
        </p:nvSpPr>
        <p:spPr>
          <a:xfrm>
            <a:off x="3429000" y="5148064"/>
            <a:ext cx="1261871" cy="127374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p:cNvSpPr/>
          <p:nvPr/>
        </p:nvSpPr>
        <p:spPr>
          <a:xfrm>
            <a:off x="5119457" y="5148064"/>
            <a:ext cx="1261871" cy="127374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p:cNvSpPr/>
          <p:nvPr/>
        </p:nvSpPr>
        <p:spPr>
          <a:xfrm>
            <a:off x="3356992" y="6876256"/>
            <a:ext cx="1440160" cy="158417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p:cNvSpPr/>
          <p:nvPr/>
        </p:nvSpPr>
        <p:spPr>
          <a:xfrm>
            <a:off x="5013176" y="6876256"/>
            <a:ext cx="1440160" cy="158417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p:cNvSpPr/>
          <p:nvPr/>
        </p:nvSpPr>
        <p:spPr>
          <a:xfrm>
            <a:off x="3429000"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12" name="Retângulo 11"/>
          <p:cNvSpPr/>
          <p:nvPr/>
        </p:nvSpPr>
        <p:spPr>
          <a:xfrm>
            <a:off x="5085184"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13" name="Retângulo 12"/>
          <p:cNvSpPr/>
          <p:nvPr/>
        </p:nvSpPr>
        <p:spPr>
          <a:xfrm>
            <a:off x="3356992"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18" name="Retângulo 17"/>
          <p:cNvSpPr/>
          <p:nvPr/>
        </p:nvSpPr>
        <p:spPr>
          <a:xfrm>
            <a:off x="5013176"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60648" y="1606972"/>
            <a:ext cx="194421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505596" y="1606972"/>
            <a:ext cx="409175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7" name="Retângulo 6"/>
          <p:cNvSpPr/>
          <p:nvPr/>
        </p:nvSpPr>
        <p:spPr>
          <a:xfrm>
            <a:off x="260648" y="2327052"/>
            <a:ext cx="6336704" cy="8767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60648" y="3491880"/>
            <a:ext cx="6336704" cy="5040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683520" y="4283968"/>
            <a:ext cx="288032"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 name="Retângulo 10"/>
          <p:cNvSpPr/>
          <p:nvPr/>
        </p:nvSpPr>
        <p:spPr>
          <a:xfrm>
            <a:off x="3573016" y="4283968"/>
            <a:ext cx="288032"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 name="Retângulo 11"/>
          <p:cNvSpPr/>
          <p:nvPr/>
        </p:nvSpPr>
        <p:spPr>
          <a:xfrm>
            <a:off x="3926656" y="4978896"/>
            <a:ext cx="288032"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7" name="Retângulo 16"/>
          <p:cNvSpPr/>
          <p:nvPr/>
        </p:nvSpPr>
        <p:spPr>
          <a:xfrm>
            <a:off x="3284984" y="4986238"/>
            <a:ext cx="288032"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8" name="Retângulo 17"/>
          <p:cNvSpPr/>
          <p:nvPr/>
        </p:nvSpPr>
        <p:spPr>
          <a:xfrm>
            <a:off x="4299446" y="5292080"/>
            <a:ext cx="200987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a:t>
            </a:r>
            <a:endParaRPr lang="en-US" sz="1200" dirty="0">
              <a:solidFill>
                <a:schemeClr val="tx1"/>
              </a:solidFill>
            </a:endParaRPr>
          </a:p>
        </p:txBody>
      </p:sp>
      <p:sp>
        <p:nvSpPr>
          <p:cNvPr id="19" name="Retângulo 18"/>
          <p:cNvSpPr/>
          <p:nvPr/>
        </p:nvSpPr>
        <p:spPr>
          <a:xfrm>
            <a:off x="324148" y="6876256"/>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20" name="Retângulo 19"/>
          <p:cNvSpPr/>
          <p:nvPr/>
        </p:nvSpPr>
        <p:spPr>
          <a:xfrm>
            <a:off x="739304" y="7524328"/>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xxxx</a:t>
            </a:r>
            <a:endParaRPr lang="en-US" sz="1200" dirty="0">
              <a:solidFill>
                <a:schemeClr val="tx1"/>
              </a:solidFill>
            </a:endParaRPr>
          </a:p>
        </p:txBody>
      </p:sp>
      <p:sp>
        <p:nvSpPr>
          <p:cNvPr id="21" name="Retângulo 20"/>
          <p:cNvSpPr/>
          <p:nvPr/>
        </p:nvSpPr>
        <p:spPr>
          <a:xfrm>
            <a:off x="1628800" y="7304459"/>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xxx</a:t>
            </a:r>
            <a:endParaRPr lang="en-US" sz="1200" dirty="0">
              <a:solidFill>
                <a:schemeClr val="tx1"/>
              </a:solidFill>
            </a:endParaRPr>
          </a:p>
        </p:txBody>
      </p:sp>
      <p:sp>
        <p:nvSpPr>
          <p:cNvPr id="23" name="Retângulo 22"/>
          <p:cNvSpPr/>
          <p:nvPr/>
        </p:nvSpPr>
        <p:spPr>
          <a:xfrm>
            <a:off x="5517232" y="6585272"/>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err="1">
                <a:solidFill>
                  <a:schemeClr val="tx1"/>
                </a:solidFill>
              </a:rPr>
              <a:t>xxxx</a:t>
            </a:r>
            <a:endParaRPr lang="en-US" sz="900" dirty="0">
              <a:solidFill>
                <a:schemeClr val="tx1"/>
              </a:solidFill>
            </a:endParaRPr>
          </a:p>
        </p:txBody>
      </p:sp>
      <p:sp>
        <p:nvSpPr>
          <p:cNvPr id="24" name="Retângulo 23"/>
          <p:cNvSpPr/>
          <p:nvPr/>
        </p:nvSpPr>
        <p:spPr>
          <a:xfrm>
            <a:off x="5526980" y="6888956"/>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err="1">
                <a:solidFill>
                  <a:schemeClr val="tx1"/>
                </a:solidFill>
              </a:rPr>
              <a:t>xxxx</a:t>
            </a:r>
            <a:endParaRPr lang="en-US" sz="900" dirty="0">
              <a:solidFill>
                <a:schemeClr val="tx1"/>
              </a:solidFill>
            </a:endParaRPr>
          </a:p>
        </p:txBody>
      </p:sp>
      <p:sp>
        <p:nvSpPr>
          <p:cNvPr id="29" name="Retângulo 28"/>
          <p:cNvSpPr/>
          <p:nvPr/>
        </p:nvSpPr>
        <p:spPr>
          <a:xfrm>
            <a:off x="5520258" y="7865318"/>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err="1">
                <a:solidFill>
                  <a:schemeClr val="tx1"/>
                </a:solidFill>
              </a:rPr>
              <a:t>xxxx</a:t>
            </a:r>
            <a:endParaRPr lang="en-US" sz="900" dirty="0">
              <a:solidFill>
                <a:schemeClr val="tx1"/>
              </a:solidFill>
            </a:endParaRPr>
          </a:p>
        </p:txBody>
      </p:sp>
      <p:sp>
        <p:nvSpPr>
          <p:cNvPr id="30" name="Retângulo 29"/>
          <p:cNvSpPr/>
          <p:nvPr/>
        </p:nvSpPr>
        <p:spPr>
          <a:xfrm>
            <a:off x="5517232" y="7524328"/>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err="1">
                <a:solidFill>
                  <a:schemeClr val="tx1"/>
                </a:solidFill>
              </a:rPr>
              <a:t>xxxx</a:t>
            </a:r>
            <a:endParaRPr lang="en-US" sz="900" dirty="0">
              <a:solidFill>
                <a:schemeClr val="tx1"/>
              </a:solidFill>
            </a:endParaRPr>
          </a:p>
        </p:txBody>
      </p:sp>
      <p:sp>
        <p:nvSpPr>
          <p:cNvPr id="31" name="Retângulo 30"/>
          <p:cNvSpPr/>
          <p:nvPr/>
        </p:nvSpPr>
        <p:spPr>
          <a:xfrm>
            <a:off x="5517232" y="7200292"/>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err="1">
                <a:solidFill>
                  <a:schemeClr val="tx1"/>
                </a:solidFill>
              </a:rPr>
              <a:t>xxxx</a:t>
            </a:r>
            <a:endParaRPr lang="en-US" sz="900" dirty="0">
              <a:solidFill>
                <a:schemeClr val="tx1"/>
              </a:solidFill>
            </a:endParaRPr>
          </a:p>
        </p:txBody>
      </p:sp>
      <p:sp>
        <p:nvSpPr>
          <p:cNvPr id="33" name="Retângulo 32"/>
          <p:cNvSpPr/>
          <p:nvPr/>
        </p:nvSpPr>
        <p:spPr>
          <a:xfrm>
            <a:off x="4805189" y="6584602"/>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34" name="Retângulo 33"/>
          <p:cNvSpPr/>
          <p:nvPr/>
        </p:nvSpPr>
        <p:spPr>
          <a:xfrm>
            <a:off x="4797549" y="6898257"/>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35" name="Retângulo 34"/>
          <p:cNvSpPr/>
          <p:nvPr/>
        </p:nvSpPr>
        <p:spPr>
          <a:xfrm>
            <a:off x="4788024" y="7196447"/>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36" name="Retângulo 35"/>
          <p:cNvSpPr/>
          <p:nvPr/>
        </p:nvSpPr>
        <p:spPr>
          <a:xfrm>
            <a:off x="4797549" y="7533369"/>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37" name="Retângulo 36"/>
          <p:cNvSpPr/>
          <p:nvPr/>
        </p:nvSpPr>
        <p:spPr>
          <a:xfrm>
            <a:off x="4812258" y="7865318"/>
            <a:ext cx="656580"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900" dirty="0">
                <a:solidFill>
                  <a:schemeClr val="tx1"/>
                </a:solidFill>
              </a:rPr>
              <a:t>X/Y”  /  X/Y”</a:t>
            </a:r>
            <a:endParaRPr lang="en-US" sz="900" dirty="0">
              <a:solidFill>
                <a:schemeClr val="tx1"/>
              </a:solidFill>
            </a:endParaRPr>
          </a:p>
        </p:txBody>
      </p:sp>
      <p:sp>
        <p:nvSpPr>
          <p:cNvPr id="38" name="CaixaDeTexto 37"/>
          <p:cNvSpPr txBox="1"/>
          <p:nvPr/>
        </p:nvSpPr>
        <p:spPr>
          <a:xfrm>
            <a:off x="3492445" y="4951727"/>
            <a:ext cx="371208" cy="276999"/>
          </a:xfrm>
          <a:prstGeom prst="rect">
            <a:avLst/>
          </a:prstGeom>
          <a:noFill/>
          <a:ln>
            <a:noFill/>
          </a:ln>
        </p:spPr>
        <p:txBody>
          <a:bodyPr wrap="none" rtlCol="0">
            <a:spAutoFit/>
          </a:bodyPr>
          <a:lstStyle/>
          <a:p>
            <a:r>
              <a:rPr lang="pt-BR" sz="1200" b="0" baseline="0" dirty="0"/>
              <a:t>Sim </a:t>
            </a:r>
            <a:endParaRPr lang="en-US" sz="1200" b="0" dirty="0"/>
          </a:p>
        </p:txBody>
      </p:sp>
      <p:sp>
        <p:nvSpPr>
          <p:cNvPr id="39" name="Retângulo 38"/>
          <p:cNvSpPr/>
          <p:nvPr/>
        </p:nvSpPr>
        <p:spPr>
          <a:xfrm>
            <a:off x="2265462" y="7943911"/>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xxx</a:t>
            </a:r>
            <a:endParaRPr lang="en-US" sz="1200" dirty="0">
              <a:solidFill>
                <a:schemeClr val="tx1"/>
              </a:solidFill>
            </a:endParaRPr>
          </a:p>
        </p:txBody>
      </p:sp>
      <p:sp>
        <p:nvSpPr>
          <p:cNvPr id="40" name="Retângulo 39"/>
          <p:cNvSpPr/>
          <p:nvPr/>
        </p:nvSpPr>
        <p:spPr>
          <a:xfrm>
            <a:off x="2265462" y="8181093"/>
            <a:ext cx="544314" cy="2160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xxx</a:t>
            </a:r>
            <a:endParaRPr lang="en-US" sz="12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5229200" y="5238750"/>
            <a:ext cx="1146200" cy="1885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5" name="Retângulo 4"/>
          <p:cNvSpPr/>
          <p:nvPr/>
        </p:nvSpPr>
        <p:spPr>
          <a:xfrm>
            <a:off x="5229200" y="5467350"/>
            <a:ext cx="1146200" cy="18057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6" name="Retângulo 5"/>
          <p:cNvSpPr/>
          <p:nvPr/>
        </p:nvSpPr>
        <p:spPr>
          <a:xfrm>
            <a:off x="5229200" y="5683250"/>
            <a:ext cx="1146200" cy="18070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7" name="Retângulo 6"/>
          <p:cNvSpPr/>
          <p:nvPr/>
        </p:nvSpPr>
        <p:spPr>
          <a:xfrm>
            <a:off x="5655890" y="6654527"/>
            <a:ext cx="844054" cy="19712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8" name="Retângulo 7"/>
          <p:cNvSpPr/>
          <p:nvPr/>
        </p:nvSpPr>
        <p:spPr>
          <a:xfrm>
            <a:off x="5655890" y="6889749"/>
            <a:ext cx="844054" cy="1841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9" name="Retângulo 8"/>
          <p:cNvSpPr/>
          <p:nvPr/>
        </p:nvSpPr>
        <p:spPr>
          <a:xfrm>
            <a:off x="5655890" y="7118349"/>
            <a:ext cx="844054" cy="18881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Digite aqui</a:t>
            </a:r>
            <a:endParaRPr lang="en-US" sz="900" dirty="0">
              <a:solidFill>
                <a:schemeClr val="tx1"/>
              </a:solidFill>
            </a:endParaRPr>
          </a:p>
        </p:txBody>
      </p:sp>
      <p:sp>
        <p:nvSpPr>
          <p:cNvPr id="11" name="Retângulo 10"/>
          <p:cNvSpPr/>
          <p:nvPr/>
        </p:nvSpPr>
        <p:spPr>
          <a:xfrm>
            <a:off x="3657724" y="7668344"/>
            <a:ext cx="844054" cy="10081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aqui U-V</a:t>
            </a:r>
            <a:endParaRPr lang="en-US" sz="900" dirty="0">
              <a:solidFill>
                <a:schemeClr val="tx1"/>
              </a:solidFill>
            </a:endParaRPr>
          </a:p>
        </p:txBody>
      </p:sp>
      <p:sp>
        <p:nvSpPr>
          <p:cNvPr id="12" name="Retângulo 11"/>
          <p:cNvSpPr/>
          <p:nvPr/>
        </p:nvSpPr>
        <p:spPr>
          <a:xfrm>
            <a:off x="4658903" y="7668344"/>
            <a:ext cx="844054" cy="10081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aqui V-W</a:t>
            </a:r>
            <a:endParaRPr lang="en-US" sz="900" dirty="0">
              <a:solidFill>
                <a:schemeClr val="tx1"/>
              </a:solidFill>
            </a:endParaRPr>
          </a:p>
        </p:txBody>
      </p:sp>
      <p:sp>
        <p:nvSpPr>
          <p:cNvPr id="13" name="Retângulo 12"/>
          <p:cNvSpPr/>
          <p:nvPr/>
        </p:nvSpPr>
        <p:spPr>
          <a:xfrm>
            <a:off x="5660243" y="7668344"/>
            <a:ext cx="844054" cy="10081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aqui W-U</a:t>
            </a:r>
            <a:endParaRPr lang="en-US" sz="900" dirty="0">
              <a:solidFill>
                <a:schemeClr val="tx1"/>
              </a:solidFill>
            </a:endParaRPr>
          </a:p>
        </p:txBody>
      </p:sp>
      <p:sp>
        <p:nvSpPr>
          <p:cNvPr id="14" name="Retângulo 13"/>
          <p:cNvSpPr/>
          <p:nvPr/>
        </p:nvSpPr>
        <p:spPr>
          <a:xfrm>
            <a:off x="3789040" y="1691679"/>
            <a:ext cx="2710903" cy="1296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aqui</a:t>
            </a:r>
            <a:r>
              <a:rPr lang="pt-BR" sz="900" dirty="0">
                <a:solidFill>
                  <a:srgbClr val="FF0000"/>
                </a:solidFill>
              </a:rPr>
              <a:t> </a:t>
            </a:r>
            <a:endParaRPr lang="en-US" sz="900" dirty="0">
              <a:solidFill>
                <a:srgbClr val="FF0000"/>
              </a:solidFill>
            </a:endParaRPr>
          </a:p>
        </p:txBody>
      </p:sp>
      <p:sp>
        <p:nvSpPr>
          <p:cNvPr id="15" name="Retângulo 14"/>
          <p:cNvSpPr/>
          <p:nvPr/>
        </p:nvSpPr>
        <p:spPr>
          <a:xfrm>
            <a:off x="3789040" y="2987824"/>
            <a:ext cx="2710903" cy="12251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 aqui</a:t>
            </a:r>
            <a:r>
              <a:rPr lang="pt-BR" sz="900" dirty="0">
                <a:solidFill>
                  <a:srgbClr val="FF0000"/>
                </a:solidFill>
              </a:rPr>
              <a:t> </a:t>
            </a:r>
            <a:endParaRPr lang="en-US" sz="9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8" y="1619672"/>
            <a:ext cx="6380182"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Insira a foto do Compressor mostrando a etiqueta aqui </a:t>
            </a:r>
            <a:endParaRPr lang="en-US" sz="1200" dirty="0">
              <a:solidFill>
                <a:schemeClr val="tx1"/>
              </a:solidFill>
            </a:endParaRPr>
          </a:p>
        </p:txBody>
      </p:sp>
    </p:spTree>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Words>
  <Application>WPS Presentation</Application>
  <PresentationFormat>Apresentação na tela (4:3)</PresentationFormat>
  <Paragraphs>112</Paragraphs>
  <Slides>5</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5</vt:i4>
      </vt:variant>
    </vt:vector>
  </HeadingPairs>
  <TitlesOfParts>
    <vt:vector size="20" baseType="lpstr">
      <vt:lpstr>Arial</vt:lpstr>
      <vt:lpstr>SimSun</vt:lpstr>
      <vt:lpstr>Wingdings</vt:lpstr>
      <vt:lpstr>Calibri</vt:lpstr>
      <vt:lpstr>Times New Roman</vt:lpstr>
      <vt:lpstr>Arial</vt:lpstr>
      <vt:lpstr>Calibri</vt:lpstr>
      <vt:lpstr>Verdana</vt:lpstr>
      <vt:lpstr>Shonar Bangla</vt:lpstr>
      <vt:lpstr>Segoe UI Symbol</vt:lpstr>
      <vt:lpstr>Microsoft YaHei</vt:lpstr>
      <vt:lpstr>Arial Unicode MS</vt:lpstr>
      <vt:lpstr>Tema do Office</vt:lpstr>
      <vt:lpstr>1_Personalizar design</vt:lpstr>
      <vt:lpstr>Personalizar design</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PÓS-VENDAS 2</cp:lastModifiedBy>
  <cp:revision>78</cp:revision>
  <cp:lastPrinted>2019-09-28T17:19:00Z</cp:lastPrinted>
  <dcterms:created xsi:type="dcterms:W3CDTF">2019-09-28T11:59:00Z</dcterms:created>
  <dcterms:modified xsi:type="dcterms:W3CDTF">2025-01-13T19:30:09Z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1DBFECF67C33440581364B3A1C5EB96D_13</vt:lpwstr>
  </property>
  <property fmtid="{D5CDD505-2E9C-101B-9397-08002B2CF9AE}" pid="3" name="KSOProductBuildVer">
    <vt:lpwstr>1046-12.2.0.19307</vt:lpwstr>
  </property>
</Properties>
</file>