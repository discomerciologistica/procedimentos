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4" r:id="rId2"/>
    <p:sldMasterId id="2147483662" r:id="rId3"/>
  </p:sldMasterIdLst>
  <p:handoutMasterIdLst>
    <p:handoutMasterId r:id="rId9"/>
  </p:handoutMasterIdLst>
  <p:sldIdLst>
    <p:sldId id="256" r:id="rId4"/>
    <p:sldId id="257" r:id="rId5"/>
    <p:sldId id="260" r:id="rId6"/>
    <p:sldId id="258" r:id="rId7"/>
    <p:sldId id="259" r:id="rId8"/>
  </p:sldIdLst>
  <p:sldSz cx="6858000" cy="9144000" type="screen4x3"/>
  <p:notesSz cx="6669088"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1964D743-772E-4BD7-8514-ABA6EC1CBD20}">
          <p14:sldIdLst>
            <p14:sldId id="256"/>
            <p14:sldId id="257"/>
            <p14:sldId id="260"/>
            <p14:sldId id="258"/>
            <p14:sldId id="25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2610" y="90"/>
      </p:cViewPr>
      <p:guideLst>
        <p:guide orient="horz" pos="2880"/>
        <p:guide pos="2160"/>
      </p:guideLst>
    </p:cSldViewPr>
  </p:slideViewPr>
  <p:notesTextViewPr>
    <p:cViewPr>
      <p:scale>
        <a:sx n="1" d="1"/>
        <a:sy n="1" d="1"/>
      </p:scale>
      <p:origin x="0" y="0"/>
    </p:cViewPr>
  </p:notesTextViewPr>
  <p:notesViewPr>
    <p:cSldViewPr>
      <p:cViewPr varScale="1">
        <p:scale>
          <a:sx n="82" d="100"/>
          <a:sy n="82" d="100"/>
        </p:scale>
        <p:origin x="3984"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889250" cy="4953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778250" y="0"/>
            <a:ext cx="2889250" cy="495300"/>
          </a:xfrm>
          <a:prstGeom prst="rect">
            <a:avLst/>
          </a:prstGeom>
        </p:spPr>
        <p:txBody>
          <a:bodyPr vert="horz" lIns="91440" tIns="45720" rIns="91440" bIns="45720" rtlCol="0"/>
          <a:lstStyle>
            <a:lvl1pPr algn="r">
              <a:defRPr sz="1200"/>
            </a:lvl1pPr>
          </a:lstStyle>
          <a:p>
            <a:fld id="{E0A2C54B-2AA2-4081-9CE3-E1CFF7CC4AC9}" type="datetimeFigureOut">
              <a:rPr lang="pt-BR" smtClean="0"/>
              <a:t>26/01/2023</a:t>
            </a:fld>
            <a:endParaRPr lang="pt-BR"/>
          </a:p>
        </p:txBody>
      </p:sp>
      <p:sp>
        <p:nvSpPr>
          <p:cNvPr id="4" name="Espaço Reservado para Rodapé 3"/>
          <p:cNvSpPr>
            <a:spLocks noGrp="1"/>
          </p:cNvSpPr>
          <p:nvPr>
            <p:ph type="ftr" sz="quarter" idx="2"/>
          </p:nvPr>
        </p:nvSpPr>
        <p:spPr>
          <a:xfrm>
            <a:off x="0" y="9377363"/>
            <a:ext cx="2889250" cy="495300"/>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778250" y="9377363"/>
            <a:ext cx="2889250" cy="495300"/>
          </a:xfrm>
          <a:prstGeom prst="rect">
            <a:avLst/>
          </a:prstGeom>
        </p:spPr>
        <p:txBody>
          <a:bodyPr vert="horz" lIns="91440" tIns="45720" rIns="91440" bIns="45720" rtlCol="0" anchor="b"/>
          <a:lstStyle>
            <a:lvl1pPr algn="r">
              <a:defRPr sz="1200"/>
            </a:lvl1pPr>
          </a:lstStyle>
          <a:p>
            <a:fld id="{46BBC37C-01E5-425A-AEA1-9CB159DFF074}" type="slidenum">
              <a:rPr lang="pt-BR" smtClean="0"/>
              <a:t>‹nº›</a:t>
            </a:fld>
            <a:endParaRPr lang="pt-BR"/>
          </a:p>
        </p:txBody>
      </p:sp>
    </p:spTree>
    <p:extLst>
      <p:ext uri="{BB962C8B-B14F-4D97-AF65-F5344CB8AC3E}">
        <p14:creationId xmlns:p14="http://schemas.microsoft.com/office/powerpoint/2010/main" val="379295844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Master" Target="../slideMasters/slideMaster1.xml"/><Relationship Id="rId6" Type="http://schemas.microsoft.com/office/2007/relationships/hdphoto" Target="../media/hdphoto1.wdp"/><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jpeg"/><Relationship Id="rId9" Type="http://schemas.openxmlformats.org/officeDocument/2006/relationships/image" Target="../media/image9.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1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1.xml"/><Relationship Id="rId5" Type="http://schemas.openxmlformats.org/officeDocument/2006/relationships/image" Target="../media/image21.png"/><Relationship Id="rId4" Type="http://schemas.openxmlformats.org/officeDocument/2006/relationships/image" Target="../media/image2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10" name="Retângulo de cantos arredondados 9"/>
          <p:cNvSpPr/>
          <p:nvPr userDrawn="1"/>
        </p:nvSpPr>
        <p:spPr>
          <a:xfrm>
            <a:off x="0" y="999801"/>
            <a:ext cx="6866256" cy="314325"/>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200" b="1" dirty="0">
                <a:effectLst/>
                <a:latin typeface="Arial"/>
                <a:ea typeface="Calibri"/>
                <a:cs typeface="Times New Roman"/>
              </a:rPr>
              <a:t>RELATÓRIO TÉCNICO – ANÁLISE</a:t>
            </a:r>
            <a:r>
              <a:rPr lang="pt-BR" sz="1200" b="1" baseline="0" dirty="0">
                <a:effectLst/>
                <a:latin typeface="Arial"/>
                <a:ea typeface="Calibri"/>
                <a:cs typeface="Times New Roman"/>
              </a:rPr>
              <a:t> DE “PLACAS” PARA GARANTIA LCAC E RAC  </a:t>
            </a:r>
            <a:endParaRPr lang="en-US" sz="1100" dirty="0">
              <a:effectLst/>
              <a:ea typeface="Calibri"/>
              <a:cs typeface="Times New Roman"/>
            </a:endParaRPr>
          </a:p>
        </p:txBody>
      </p:sp>
      <p:sp>
        <p:nvSpPr>
          <p:cNvPr id="11" name="Retângulo de cantos arredondados 10"/>
          <p:cNvSpPr/>
          <p:nvPr userDrawn="1"/>
        </p:nvSpPr>
        <p:spPr>
          <a:xfrm>
            <a:off x="0" y="1362386"/>
            <a:ext cx="3341053" cy="285750"/>
          </a:xfrm>
          <a:prstGeom prst="round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1000"/>
              </a:spcAft>
            </a:pPr>
            <a:r>
              <a:rPr lang="pt-BR" sz="1000" b="1" dirty="0">
                <a:effectLst/>
                <a:latin typeface="Arial"/>
                <a:ea typeface="Calibri"/>
                <a:cs typeface="Times New Roman"/>
              </a:rPr>
              <a:t>CANAL:  ASD /</a:t>
            </a:r>
            <a:r>
              <a:rPr lang="pt-BR" sz="1000" b="1" baseline="0" dirty="0">
                <a:effectLst/>
                <a:latin typeface="Arial"/>
                <a:ea typeface="Calibri"/>
                <a:cs typeface="Times New Roman"/>
              </a:rPr>
              <a:t> ASI – DISTRIBUIDOR / REVENDA </a:t>
            </a:r>
            <a:endParaRPr lang="en-US" sz="1100" dirty="0">
              <a:effectLst/>
              <a:ea typeface="Calibri"/>
              <a:cs typeface="Times New Roman"/>
            </a:endParaRPr>
          </a:p>
        </p:txBody>
      </p:sp>
      <p:sp>
        <p:nvSpPr>
          <p:cNvPr id="12" name="Retângulo de cantos arredondados 11"/>
          <p:cNvSpPr/>
          <p:nvPr userDrawn="1"/>
        </p:nvSpPr>
        <p:spPr>
          <a:xfrm>
            <a:off x="3385503" y="1362386"/>
            <a:ext cx="3472497" cy="285750"/>
          </a:xfrm>
          <a:prstGeom prst="round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1000"/>
              </a:spcAft>
            </a:pPr>
            <a:r>
              <a:rPr lang="pt-BR" sz="1000" b="1" dirty="0">
                <a:effectLst/>
                <a:latin typeface="Arial"/>
                <a:ea typeface="Calibri"/>
                <a:cs typeface="Times New Roman"/>
              </a:rPr>
              <a:t>DATA APLICADA: 05/07/2021</a:t>
            </a:r>
            <a:endParaRPr lang="en-US" sz="1100" dirty="0">
              <a:effectLst/>
              <a:ea typeface="Calibri"/>
              <a:cs typeface="Times New Roman"/>
            </a:endParaRPr>
          </a:p>
        </p:txBody>
      </p:sp>
      <p:sp>
        <p:nvSpPr>
          <p:cNvPr id="30" name="Retângulo 29"/>
          <p:cNvSpPr/>
          <p:nvPr userDrawn="1"/>
        </p:nvSpPr>
        <p:spPr>
          <a:xfrm>
            <a:off x="217714" y="1778769"/>
            <a:ext cx="6451646" cy="888232"/>
          </a:xfrm>
          <a:prstGeom prst="rect">
            <a:avLst/>
          </a:prstGeom>
          <a:solidFill>
            <a:srgbClr val="FFFF00"/>
          </a:solidFill>
          <a:ln w="666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CaixaDeTexto 30"/>
          <p:cNvSpPr txBox="1"/>
          <p:nvPr userDrawn="1"/>
        </p:nvSpPr>
        <p:spPr>
          <a:xfrm>
            <a:off x="291859" y="1867668"/>
            <a:ext cx="6305494" cy="738664"/>
          </a:xfrm>
          <a:prstGeom prst="rect">
            <a:avLst/>
          </a:prstGeom>
          <a:solidFill>
            <a:srgbClr val="FFFF00"/>
          </a:solidFill>
          <a:ln w="19050">
            <a:solidFill>
              <a:schemeClr val="tx1"/>
            </a:solidFill>
          </a:ln>
        </p:spPr>
        <p:txBody>
          <a:bodyPr wrap="square" rtlCol="0">
            <a:spAutoFit/>
          </a:bodyPr>
          <a:lstStyle/>
          <a:p>
            <a:pPr algn="just">
              <a:tabLst>
                <a:tab pos="0" algn="l"/>
              </a:tabLst>
            </a:pPr>
            <a:r>
              <a:rPr lang="pt-BR" sz="1400" b="1" dirty="0">
                <a:latin typeface="Calibri" panose="020F0502020204030204" pitchFamily="34" charset="0"/>
                <a:ea typeface="Verdana" pitchFamily="34" charset="0"/>
                <a:cs typeface="Shonar Bangla" panose="020B0502040204020203" pitchFamily="34" charset="0"/>
              </a:rPr>
              <a:t>	</a:t>
            </a:r>
            <a:br>
              <a:rPr lang="pt-BR" sz="1400" b="1" dirty="0">
                <a:latin typeface="Calibri" panose="020F0502020204030204" pitchFamily="34" charset="0"/>
                <a:ea typeface="Verdana" pitchFamily="34" charset="0"/>
                <a:cs typeface="Shonar Bangla" panose="020B0502040204020203" pitchFamily="34" charset="0"/>
              </a:rPr>
            </a:br>
            <a:r>
              <a:rPr lang="pt-BR" sz="1400" b="1" dirty="0">
                <a:latin typeface="Calibri" panose="020F0502020204030204" pitchFamily="34" charset="0"/>
                <a:ea typeface="Verdana" pitchFamily="34" charset="0"/>
                <a:cs typeface="Shonar Bangla" panose="020B0502040204020203" pitchFamily="34" charset="0"/>
              </a:rPr>
              <a:t>Pa</a:t>
            </a:r>
            <a:r>
              <a:rPr lang="pt-BR" sz="1400" b="1" baseline="0" dirty="0">
                <a:latin typeface="Calibri" panose="020F0502020204030204" pitchFamily="34" charset="0"/>
                <a:ea typeface="Verdana" pitchFamily="34" charset="0"/>
                <a:cs typeface="Shonar Bangla" panose="020B0502040204020203" pitchFamily="34" charset="0"/>
              </a:rPr>
              <a:t>ra a solicitação da Garantia é obrigatório o preenchimento completo deste relatório . O mesmo auxilia a análise do problema.</a:t>
            </a:r>
            <a:endParaRPr lang="pt-BR" sz="1400" b="1" dirty="0">
              <a:latin typeface="Calibri" panose="020F0502020204030204" pitchFamily="34" charset="0"/>
              <a:ea typeface="Verdana" pitchFamily="34" charset="0"/>
              <a:cs typeface="Shonar Bangla" panose="020B0502040204020203" pitchFamily="34" charset="0"/>
            </a:endParaRPr>
          </a:p>
        </p:txBody>
      </p:sp>
      <p:sp>
        <p:nvSpPr>
          <p:cNvPr id="32" name="Retângulo 31"/>
          <p:cNvSpPr/>
          <p:nvPr userDrawn="1"/>
        </p:nvSpPr>
        <p:spPr>
          <a:xfrm>
            <a:off x="291858" y="1842621"/>
            <a:ext cx="6305495" cy="2256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b="1" dirty="0">
                <a:solidFill>
                  <a:srgbClr val="FFFF00"/>
                </a:solidFill>
              </a:rPr>
              <a:t>ATENÇÃO</a:t>
            </a:r>
            <a:endParaRPr lang="en-US" sz="1400" b="1" dirty="0">
              <a:solidFill>
                <a:srgbClr val="FFFF00"/>
              </a:solidFill>
            </a:endParaRPr>
          </a:p>
        </p:txBody>
      </p:sp>
      <p:sp>
        <p:nvSpPr>
          <p:cNvPr id="44" name="CaixaDeTexto 43"/>
          <p:cNvSpPr txBox="1"/>
          <p:nvPr userDrawn="1"/>
        </p:nvSpPr>
        <p:spPr>
          <a:xfrm>
            <a:off x="306006" y="2721564"/>
            <a:ext cx="3140924" cy="307777"/>
          </a:xfrm>
          <a:prstGeom prst="rect">
            <a:avLst/>
          </a:prstGeom>
          <a:noFill/>
        </p:spPr>
        <p:txBody>
          <a:bodyPr wrap="none" rtlCol="0">
            <a:spAutoFit/>
          </a:bodyPr>
          <a:lstStyle/>
          <a:p>
            <a:r>
              <a:rPr lang="pt-BR" sz="1400" b="1" dirty="0"/>
              <a:t>DADOS DA REVENDA E DO INSTALADOR</a:t>
            </a:r>
            <a:endParaRPr lang="en-US" sz="1400" b="1" dirty="0"/>
          </a:p>
        </p:txBody>
      </p:sp>
      <p:sp>
        <p:nvSpPr>
          <p:cNvPr id="45" name="CaixaDeTexto 44"/>
          <p:cNvSpPr txBox="1"/>
          <p:nvPr userDrawn="1"/>
        </p:nvSpPr>
        <p:spPr>
          <a:xfrm>
            <a:off x="141537" y="3004866"/>
            <a:ext cx="1720215" cy="276999"/>
          </a:xfrm>
          <a:prstGeom prst="rect">
            <a:avLst/>
          </a:prstGeom>
          <a:noFill/>
          <a:ln>
            <a:noFill/>
          </a:ln>
        </p:spPr>
        <p:txBody>
          <a:bodyPr wrap="none" rtlCol="0">
            <a:spAutoFit/>
          </a:bodyPr>
          <a:lstStyle/>
          <a:p>
            <a:r>
              <a:rPr lang="pt-BR" sz="1200" b="0" dirty="0"/>
              <a:t>  Nome</a:t>
            </a:r>
            <a:r>
              <a:rPr lang="pt-BR" sz="1200" b="0" baseline="0" dirty="0"/>
              <a:t> da Revenda        :</a:t>
            </a:r>
            <a:endParaRPr lang="en-US" sz="1200" b="0" dirty="0"/>
          </a:p>
        </p:txBody>
      </p:sp>
      <p:sp>
        <p:nvSpPr>
          <p:cNvPr id="49" name="CaixaDeTexto 48"/>
          <p:cNvSpPr txBox="1"/>
          <p:nvPr userDrawn="1"/>
        </p:nvSpPr>
        <p:spPr>
          <a:xfrm>
            <a:off x="122487" y="3392266"/>
            <a:ext cx="1729961" cy="276999"/>
          </a:xfrm>
          <a:prstGeom prst="rect">
            <a:avLst/>
          </a:prstGeom>
          <a:noFill/>
          <a:ln>
            <a:noFill/>
          </a:ln>
        </p:spPr>
        <p:txBody>
          <a:bodyPr wrap="none" rtlCol="0">
            <a:spAutoFit/>
          </a:bodyPr>
          <a:lstStyle/>
          <a:p>
            <a:r>
              <a:rPr lang="pt-BR" sz="1200" b="0" dirty="0"/>
              <a:t>  BR da ASD</a:t>
            </a:r>
            <a:r>
              <a:rPr lang="pt-BR" sz="1200" b="0" baseline="0" dirty="0"/>
              <a:t> / ASI             :</a:t>
            </a:r>
            <a:endParaRPr lang="en-US" sz="1200" b="0" dirty="0"/>
          </a:p>
        </p:txBody>
      </p:sp>
      <p:sp>
        <p:nvSpPr>
          <p:cNvPr id="50" name="CaixaDeTexto 49"/>
          <p:cNvSpPr txBox="1"/>
          <p:nvPr userDrawn="1"/>
        </p:nvSpPr>
        <p:spPr>
          <a:xfrm>
            <a:off x="133205" y="3787131"/>
            <a:ext cx="1713611" cy="276999"/>
          </a:xfrm>
          <a:prstGeom prst="rect">
            <a:avLst/>
          </a:prstGeom>
          <a:noFill/>
          <a:ln>
            <a:noFill/>
          </a:ln>
        </p:spPr>
        <p:txBody>
          <a:bodyPr wrap="none" rtlCol="0">
            <a:spAutoFit/>
          </a:bodyPr>
          <a:lstStyle/>
          <a:p>
            <a:r>
              <a:rPr lang="pt-BR" sz="1200" b="0" dirty="0"/>
              <a:t>  Dados</a:t>
            </a:r>
            <a:r>
              <a:rPr lang="pt-BR" sz="1200" b="0" baseline="0" dirty="0"/>
              <a:t> da Instaladora   :</a:t>
            </a:r>
            <a:endParaRPr lang="en-US" sz="1200" b="0" dirty="0"/>
          </a:p>
        </p:txBody>
      </p:sp>
      <p:sp>
        <p:nvSpPr>
          <p:cNvPr id="51" name="CaixaDeTexto 50"/>
          <p:cNvSpPr txBox="1"/>
          <p:nvPr userDrawn="1"/>
        </p:nvSpPr>
        <p:spPr>
          <a:xfrm>
            <a:off x="128336" y="4181996"/>
            <a:ext cx="1756828" cy="276999"/>
          </a:xfrm>
          <a:prstGeom prst="rect">
            <a:avLst/>
          </a:prstGeom>
          <a:noFill/>
          <a:ln>
            <a:noFill/>
          </a:ln>
        </p:spPr>
        <p:txBody>
          <a:bodyPr wrap="none" rtlCol="0">
            <a:spAutoFit/>
          </a:bodyPr>
          <a:lstStyle/>
          <a:p>
            <a:r>
              <a:rPr lang="pt-BR" sz="1200" b="0" dirty="0"/>
              <a:t>  Dados</a:t>
            </a:r>
            <a:r>
              <a:rPr lang="pt-BR" sz="1200" b="0" baseline="0" dirty="0"/>
              <a:t> do Instalador     :</a:t>
            </a:r>
            <a:endParaRPr lang="en-US" sz="1200" b="0" dirty="0"/>
          </a:p>
        </p:txBody>
      </p:sp>
      <p:sp>
        <p:nvSpPr>
          <p:cNvPr id="52" name="CaixaDeTexto 51"/>
          <p:cNvSpPr txBox="1"/>
          <p:nvPr userDrawn="1"/>
        </p:nvSpPr>
        <p:spPr>
          <a:xfrm>
            <a:off x="126157" y="4590600"/>
            <a:ext cx="1720984" cy="276999"/>
          </a:xfrm>
          <a:prstGeom prst="rect">
            <a:avLst/>
          </a:prstGeom>
          <a:noFill/>
          <a:ln>
            <a:noFill/>
          </a:ln>
        </p:spPr>
        <p:txBody>
          <a:bodyPr wrap="none" rtlCol="0">
            <a:spAutoFit/>
          </a:bodyPr>
          <a:lstStyle/>
          <a:p>
            <a:r>
              <a:rPr lang="pt-BR" sz="1200" b="0" dirty="0"/>
              <a:t>  Telefone</a:t>
            </a:r>
            <a:r>
              <a:rPr lang="pt-BR" sz="1200" b="0" baseline="0" dirty="0"/>
              <a:t> do Instalador :</a:t>
            </a:r>
            <a:endParaRPr lang="en-US" sz="1200" b="0" dirty="0"/>
          </a:p>
        </p:txBody>
      </p:sp>
      <p:sp>
        <p:nvSpPr>
          <p:cNvPr id="53" name="Retângulo 52"/>
          <p:cNvSpPr/>
          <p:nvPr userDrawn="1"/>
        </p:nvSpPr>
        <p:spPr>
          <a:xfrm>
            <a:off x="2028591" y="3003375"/>
            <a:ext cx="45687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4" name="Retângulo 53"/>
          <p:cNvSpPr/>
          <p:nvPr userDrawn="1"/>
        </p:nvSpPr>
        <p:spPr>
          <a:xfrm>
            <a:off x="2015051" y="3383894"/>
            <a:ext cx="1845998"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5" name="Retângulo 54"/>
          <p:cNvSpPr/>
          <p:nvPr userDrawn="1"/>
        </p:nvSpPr>
        <p:spPr>
          <a:xfrm>
            <a:off x="2028592" y="3787454"/>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56" name="Retângulo 55"/>
          <p:cNvSpPr/>
          <p:nvPr userDrawn="1"/>
        </p:nvSpPr>
        <p:spPr>
          <a:xfrm>
            <a:off x="2028191" y="4194179"/>
            <a:ext cx="45691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7" name="Retângulo 56"/>
          <p:cNvSpPr/>
          <p:nvPr userDrawn="1"/>
        </p:nvSpPr>
        <p:spPr>
          <a:xfrm>
            <a:off x="2028592" y="4592148"/>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8" name="CaixaDeTexto 57"/>
          <p:cNvSpPr txBox="1"/>
          <p:nvPr userDrawn="1"/>
        </p:nvSpPr>
        <p:spPr>
          <a:xfrm>
            <a:off x="303021" y="4947323"/>
            <a:ext cx="1680845" cy="307777"/>
          </a:xfrm>
          <a:prstGeom prst="rect">
            <a:avLst/>
          </a:prstGeom>
          <a:noFill/>
        </p:spPr>
        <p:txBody>
          <a:bodyPr wrap="none" rtlCol="0">
            <a:spAutoFit/>
          </a:bodyPr>
          <a:lstStyle/>
          <a:p>
            <a:r>
              <a:rPr lang="pt-BR" sz="1400" b="1" dirty="0"/>
              <a:t>DADOS DO</a:t>
            </a:r>
            <a:r>
              <a:rPr lang="pt-BR" sz="1400" b="1" baseline="0" dirty="0"/>
              <a:t> CLIENTE </a:t>
            </a:r>
            <a:endParaRPr lang="en-US" sz="1400" b="1" dirty="0"/>
          </a:p>
        </p:txBody>
      </p:sp>
      <p:sp>
        <p:nvSpPr>
          <p:cNvPr id="59" name="CaixaDeTexto 58"/>
          <p:cNvSpPr txBox="1"/>
          <p:nvPr userDrawn="1"/>
        </p:nvSpPr>
        <p:spPr>
          <a:xfrm>
            <a:off x="178369" y="5230698"/>
            <a:ext cx="1873514" cy="276999"/>
          </a:xfrm>
          <a:prstGeom prst="rect">
            <a:avLst/>
          </a:prstGeom>
          <a:noFill/>
          <a:ln>
            <a:noFill/>
          </a:ln>
        </p:spPr>
        <p:txBody>
          <a:bodyPr wrap="square" rtlCol="0">
            <a:spAutoFit/>
          </a:bodyPr>
          <a:lstStyle/>
          <a:p>
            <a:r>
              <a:rPr lang="pt-BR" sz="1200" b="0" dirty="0"/>
              <a:t> Nome</a:t>
            </a:r>
            <a:r>
              <a:rPr lang="pt-BR" sz="1200" b="0" baseline="0" dirty="0"/>
              <a:t> do Cliente          :</a:t>
            </a:r>
            <a:endParaRPr lang="en-US" sz="1200" b="0" dirty="0"/>
          </a:p>
        </p:txBody>
      </p:sp>
      <p:sp>
        <p:nvSpPr>
          <p:cNvPr id="60" name="CaixaDeTexto 59"/>
          <p:cNvSpPr txBox="1"/>
          <p:nvPr userDrawn="1"/>
        </p:nvSpPr>
        <p:spPr>
          <a:xfrm>
            <a:off x="225343" y="5618098"/>
            <a:ext cx="1620957" cy="276999"/>
          </a:xfrm>
          <a:prstGeom prst="rect">
            <a:avLst/>
          </a:prstGeom>
          <a:noFill/>
          <a:ln>
            <a:noFill/>
          </a:ln>
        </p:spPr>
        <p:txBody>
          <a:bodyPr wrap="none" rtlCol="0">
            <a:spAutoFit/>
          </a:bodyPr>
          <a:lstStyle/>
          <a:p>
            <a:r>
              <a:rPr lang="pt-BR" sz="1200" b="0" dirty="0"/>
              <a:t>Endereço do Cliente    </a:t>
            </a:r>
            <a:r>
              <a:rPr lang="pt-BR" sz="1200" b="0" baseline="0" dirty="0"/>
              <a:t>:</a:t>
            </a:r>
            <a:endParaRPr lang="en-US" sz="1200" b="0" dirty="0"/>
          </a:p>
        </p:txBody>
      </p:sp>
      <p:sp>
        <p:nvSpPr>
          <p:cNvPr id="61" name="CaixaDeTexto 60"/>
          <p:cNvSpPr txBox="1"/>
          <p:nvPr userDrawn="1"/>
        </p:nvSpPr>
        <p:spPr>
          <a:xfrm>
            <a:off x="194264" y="6012963"/>
            <a:ext cx="1645322" cy="276999"/>
          </a:xfrm>
          <a:prstGeom prst="rect">
            <a:avLst/>
          </a:prstGeom>
          <a:noFill/>
          <a:ln>
            <a:noFill/>
          </a:ln>
        </p:spPr>
        <p:txBody>
          <a:bodyPr wrap="none" rtlCol="0">
            <a:spAutoFit/>
          </a:bodyPr>
          <a:lstStyle/>
          <a:p>
            <a:r>
              <a:rPr lang="pt-BR" sz="1200" b="0" dirty="0"/>
              <a:t>Complemento               </a:t>
            </a:r>
            <a:r>
              <a:rPr lang="pt-BR" sz="1200" b="0" baseline="0" dirty="0"/>
              <a:t>:</a:t>
            </a:r>
            <a:endParaRPr lang="en-US" sz="1200" b="0" dirty="0"/>
          </a:p>
        </p:txBody>
      </p:sp>
      <p:sp>
        <p:nvSpPr>
          <p:cNvPr id="62" name="CaixaDeTexto 61"/>
          <p:cNvSpPr txBox="1"/>
          <p:nvPr userDrawn="1"/>
        </p:nvSpPr>
        <p:spPr>
          <a:xfrm>
            <a:off x="237251" y="6816432"/>
            <a:ext cx="1601272" cy="276999"/>
          </a:xfrm>
          <a:prstGeom prst="rect">
            <a:avLst/>
          </a:prstGeom>
          <a:noFill/>
          <a:ln>
            <a:noFill/>
          </a:ln>
        </p:spPr>
        <p:txBody>
          <a:bodyPr wrap="none" rtlCol="0">
            <a:spAutoFit/>
          </a:bodyPr>
          <a:lstStyle/>
          <a:p>
            <a:r>
              <a:rPr lang="pt-BR" sz="1200" b="0" dirty="0"/>
              <a:t>Telefone</a:t>
            </a:r>
            <a:r>
              <a:rPr lang="pt-BR" sz="1200" b="0" baseline="0" dirty="0"/>
              <a:t> do Cliente     :</a:t>
            </a:r>
            <a:endParaRPr lang="en-US" sz="1200" b="0" dirty="0"/>
          </a:p>
        </p:txBody>
      </p:sp>
      <p:sp>
        <p:nvSpPr>
          <p:cNvPr id="63" name="Retângulo 62"/>
          <p:cNvSpPr/>
          <p:nvPr userDrawn="1"/>
        </p:nvSpPr>
        <p:spPr>
          <a:xfrm>
            <a:off x="2015050" y="5229207"/>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4" name="Retângulo 63"/>
          <p:cNvSpPr/>
          <p:nvPr userDrawn="1"/>
        </p:nvSpPr>
        <p:spPr>
          <a:xfrm>
            <a:off x="2015050" y="5609726"/>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5" name="Retângulo 64"/>
          <p:cNvSpPr/>
          <p:nvPr userDrawn="1"/>
        </p:nvSpPr>
        <p:spPr>
          <a:xfrm>
            <a:off x="2015049" y="6013286"/>
            <a:ext cx="2566079"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66" name="Retângulo 65"/>
          <p:cNvSpPr/>
          <p:nvPr userDrawn="1"/>
        </p:nvSpPr>
        <p:spPr>
          <a:xfrm>
            <a:off x="2015049" y="6420011"/>
            <a:ext cx="458230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5" name="Retângulo 74"/>
          <p:cNvSpPr/>
          <p:nvPr userDrawn="1"/>
        </p:nvSpPr>
        <p:spPr>
          <a:xfrm>
            <a:off x="2015050" y="6817980"/>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6" name="CaixaDeTexto 75"/>
          <p:cNvSpPr txBox="1"/>
          <p:nvPr userDrawn="1"/>
        </p:nvSpPr>
        <p:spPr>
          <a:xfrm>
            <a:off x="4589682" y="6009182"/>
            <a:ext cx="482440" cy="276999"/>
          </a:xfrm>
          <a:prstGeom prst="rect">
            <a:avLst/>
          </a:prstGeom>
          <a:noFill/>
          <a:ln>
            <a:noFill/>
          </a:ln>
        </p:spPr>
        <p:txBody>
          <a:bodyPr wrap="none" rtlCol="0">
            <a:spAutoFit/>
          </a:bodyPr>
          <a:lstStyle/>
          <a:p>
            <a:r>
              <a:rPr lang="pt-BR" sz="1200" b="0" dirty="0"/>
              <a:t>CEP.</a:t>
            </a:r>
            <a:r>
              <a:rPr lang="pt-BR" sz="1200" b="0" baseline="0" dirty="0"/>
              <a:t>:</a:t>
            </a:r>
            <a:endParaRPr lang="en-US" sz="1200" b="0" dirty="0"/>
          </a:p>
        </p:txBody>
      </p:sp>
      <p:sp>
        <p:nvSpPr>
          <p:cNvPr id="80" name="Retângulo 79"/>
          <p:cNvSpPr/>
          <p:nvPr userDrawn="1"/>
        </p:nvSpPr>
        <p:spPr>
          <a:xfrm>
            <a:off x="5124938" y="5995468"/>
            <a:ext cx="14724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1" name="CaixaDeTexto 80"/>
          <p:cNvSpPr txBox="1"/>
          <p:nvPr userDrawn="1"/>
        </p:nvSpPr>
        <p:spPr>
          <a:xfrm>
            <a:off x="213257" y="6407827"/>
            <a:ext cx="1626984" cy="276999"/>
          </a:xfrm>
          <a:prstGeom prst="rect">
            <a:avLst/>
          </a:prstGeom>
          <a:noFill/>
          <a:ln>
            <a:noFill/>
          </a:ln>
        </p:spPr>
        <p:txBody>
          <a:bodyPr wrap="none" rtlCol="0">
            <a:spAutoFit/>
          </a:bodyPr>
          <a:lstStyle/>
          <a:p>
            <a:r>
              <a:rPr lang="pt-BR" sz="1200" b="0" baseline="0" dirty="0"/>
              <a:t>Cidade / Estado            :</a:t>
            </a:r>
            <a:endParaRPr lang="en-US" sz="1200" b="0" dirty="0"/>
          </a:p>
        </p:txBody>
      </p:sp>
      <p:sp>
        <p:nvSpPr>
          <p:cNvPr id="82" name="CaixaDeTexto 81"/>
          <p:cNvSpPr txBox="1"/>
          <p:nvPr userDrawn="1"/>
        </p:nvSpPr>
        <p:spPr>
          <a:xfrm>
            <a:off x="304069" y="7164288"/>
            <a:ext cx="1792927" cy="307777"/>
          </a:xfrm>
          <a:prstGeom prst="rect">
            <a:avLst/>
          </a:prstGeom>
          <a:noFill/>
        </p:spPr>
        <p:txBody>
          <a:bodyPr wrap="none" rtlCol="0">
            <a:spAutoFit/>
          </a:bodyPr>
          <a:lstStyle/>
          <a:p>
            <a:r>
              <a:rPr lang="pt-BR" sz="1400" b="1" dirty="0"/>
              <a:t>DADOS DO</a:t>
            </a:r>
            <a:r>
              <a:rPr lang="pt-BR" sz="1400" b="1" baseline="0" dirty="0"/>
              <a:t> PRODUTO</a:t>
            </a:r>
            <a:endParaRPr lang="en-US" sz="1400" b="1" dirty="0"/>
          </a:p>
        </p:txBody>
      </p:sp>
      <p:sp>
        <p:nvSpPr>
          <p:cNvPr id="83" name="CaixaDeTexto 82"/>
          <p:cNvSpPr txBox="1"/>
          <p:nvPr userDrawn="1"/>
        </p:nvSpPr>
        <p:spPr>
          <a:xfrm>
            <a:off x="220321" y="7469074"/>
            <a:ext cx="1365833" cy="461665"/>
          </a:xfrm>
          <a:prstGeom prst="rect">
            <a:avLst/>
          </a:prstGeom>
          <a:noFill/>
          <a:ln>
            <a:noFill/>
          </a:ln>
        </p:spPr>
        <p:txBody>
          <a:bodyPr wrap="square" rtlCol="0">
            <a:spAutoFit/>
          </a:bodyPr>
          <a:lstStyle/>
          <a:p>
            <a:r>
              <a:rPr lang="pt-BR" sz="1200" b="0" dirty="0"/>
              <a:t>Mod. do Evap</a:t>
            </a:r>
            <a:r>
              <a:rPr lang="pt-BR" sz="1200" b="0" baseline="0" dirty="0"/>
              <a:t> ou</a:t>
            </a:r>
            <a:endParaRPr lang="pt-BR" sz="1200" b="0" dirty="0"/>
          </a:p>
          <a:p>
            <a:r>
              <a:rPr lang="pt-BR" sz="1200" b="0" dirty="0"/>
              <a:t>Condensador       :</a:t>
            </a:r>
            <a:endParaRPr lang="en-US" sz="1200" b="0" dirty="0"/>
          </a:p>
        </p:txBody>
      </p:sp>
      <p:sp>
        <p:nvSpPr>
          <p:cNvPr id="84" name="CaixaDeTexto 83"/>
          <p:cNvSpPr txBox="1"/>
          <p:nvPr userDrawn="1"/>
        </p:nvSpPr>
        <p:spPr>
          <a:xfrm>
            <a:off x="3645024" y="7468605"/>
            <a:ext cx="978153" cy="461665"/>
          </a:xfrm>
          <a:prstGeom prst="rect">
            <a:avLst/>
          </a:prstGeom>
          <a:noFill/>
          <a:ln>
            <a:noFill/>
          </a:ln>
        </p:spPr>
        <p:txBody>
          <a:bodyPr wrap="none" rtlCol="0">
            <a:spAutoFit/>
          </a:bodyPr>
          <a:lstStyle/>
          <a:p>
            <a:r>
              <a:rPr lang="pt-BR" sz="1200" b="0" dirty="0"/>
              <a:t>Número </a:t>
            </a:r>
          </a:p>
          <a:p>
            <a:r>
              <a:rPr lang="pt-BR" sz="1200" b="0" dirty="0"/>
              <a:t>de Série       </a:t>
            </a:r>
            <a:r>
              <a:rPr lang="pt-BR" sz="1200" b="0" baseline="0" dirty="0"/>
              <a:t>:</a:t>
            </a:r>
            <a:endParaRPr lang="en-US" sz="1200" b="0" dirty="0"/>
          </a:p>
        </p:txBody>
      </p:sp>
      <p:sp>
        <p:nvSpPr>
          <p:cNvPr id="85" name="CaixaDeTexto 84"/>
          <p:cNvSpPr txBox="1"/>
          <p:nvPr userDrawn="1"/>
        </p:nvSpPr>
        <p:spPr>
          <a:xfrm>
            <a:off x="208532" y="7976369"/>
            <a:ext cx="1407758" cy="276999"/>
          </a:xfrm>
          <a:prstGeom prst="rect">
            <a:avLst/>
          </a:prstGeom>
          <a:noFill/>
          <a:ln>
            <a:noFill/>
          </a:ln>
        </p:spPr>
        <p:txBody>
          <a:bodyPr wrap="none" rtlCol="0">
            <a:spAutoFit/>
          </a:bodyPr>
          <a:lstStyle/>
          <a:p>
            <a:r>
              <a:rPr lang="pt-BR" sz="1200" b="0" dirty="0"/>
              <a:t>Data</a:t>
            </a:r>
            <a:r>
              <a:rPr lang="pt-BR" sz="1200" b="0" baseline="0" dirty="0"/>
              <a:t> da Compra    :</a:t>
            </a:r>
            <a:endParaRPr lang="en-US" sz="1200" b="0" dirty="0"/>
          </a:p>
        </p:txBody>
      </p:sp>
      <p:sp>
        <p:nvSpPr>
          <p:cNvPr id="86" name="Retângulo 85"/>
          <p:cNvSpPr/>
          <p:nvPr userDrawn="1"/>
        </p:nvSpPr>
        <p:spPr>
          <a:xfrm>
            <a:off x="1586154" y="7456713"/>
            <a:ext cx="2058870" cy="463861"/>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tângulo 86"/>
          <p:cNvSpPr/>
          <p:nvPr userDrawn="1"/>
        </p:nvSpPr>
        <p:spPr>
          <a:xfrm>
            <a:off x="4581126" y="7474643"/>
            <a:ext cx="2016226" cy="462313"/>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tângulo 87"/>
          <p:cNvSpPr/>
          <p:nvPr userDrawn="1"/>
        </p:nvSpPr>
        <p:spPr>
          <a:xfrm>
            <a:off x="1586154" y="7993958"/>
            <a:ext cx="15548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9" name="Retângulo 88"/>
          <p:cNvSpPr/>
          <p:nvPr userDrawn="1"/>
        </p:nvSpPr>
        <p:spPr>
          <a:xfrm>
            <a:off x="1586155" y="8361620"/>
            <a:ext cx="205887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CaixaDeTexto 89"/>
          <p:cNvSpPr txBox="1"/>
          <p:nvPr userDrawn="1"/>
        </p:nvSpPr>
        <p:spPr>
          <a:xfrm>
            <a:off x="201637" y="8354736"/>
            <a:ext cx="1401409" cy="276999"/>
          </a:xfrm>
          <a:prstGeom prst="rect">
            <a:avLst/>
          </a:prstGeom>
          <a:noFill/>
          <a:ln>
            <a:noFill/>
          </a:ln>
        </p:spPr>
        <p:txBody>
          <a:bodyPr wrap="none" rtlCol="0">
            <a:spAutoFit/>
          </a:bodyPr>
          <a:lstStyle/>
          <a:p>
            <a:r>
              <a:rPr lang="pt-BR" sz="1200" b="0" baseline="0" dirty="0"/>
              <a:t>Nº da Nota Fiscal   :</a:t>
            </a:r>
            <a:endParaRPr lang="en-US" sz="1200" b="0" dirty="0"/>
          </a:p>
        </p:txBody>
      </p:sp>
      <p:sp>
        <p:nvSpPr>
          <p:cNvPr id="91" name="CaixaDeTexto 90"/>
          <p:cNvSpPr txBox="1"/>
          <p:nvPr userDrawn="1"/>
        </p:nvSpPr>
        <p:spPr>
          <a:xfrm>
            <a:off x="3095345" y="7998260"/>
            <a:ext cx="1511824" cy="276999"/>
          </a:xfrm>
          <a:prstGeom prst="rect">
            <a:avLst/>
          </a:prstGeom>
          <a:noFill/>
          <a:ln>
            <a:noFill/>
          </a:ln>
        </p:spPr>
        <p:txBody>
          <a:bodyPr wrap="none" rtlCol="0">
            <a:spAutoFit/>
          </a:bodyPr>
          <a:lstStyle/>
          <a:p>
            <a:r>
              <a:rPr lang="pt-BR" sz="1200" b="0" dirty="0"/>
              <a:t>Data</a:t>
            </a:r>
            <a:r>
              <a:rPr lang="pt-BR" sz="1200" b="0" baseline="0" dirty="0"/>
              <a:t> da Instalação    :</a:t>
            </a:r>
            <a:endParaRPr lang="en-US" sz="1200" b="0" dirty="0"/>
          </a:p>
        </p:txBody>
      </p:sp>
      <p:sp>
        <p:nvSpPr>
          <p:cNvPr id="92" name="Retângulo 91"/>
          <p:cNvSpPr/>
          <p:nvPr userDrawn="1"/>
        </p:nvSpPr>
        <p:spPr>
          <a:xfrm>
            <a:off x="4581127" y="7983191"/>
            <a:ext cx="2016225"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3" name="Retângulo de cantos arredondados 92"/>
          <p:cNvSpPr/>
          <p:nvPr userDrawn="1"/>
        </p:nvSpPr>
        <p:spPr>
          <a:xfrm>
            <a:off x="217714" y="2965275"/>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tângulo de cantos arredondados 93"/>
          <p:cNvSpPr/>
          <p:nvPr userDrawn="1"/>
        </p:nvSpPr>
        <p:spPr>
          <a:xfrm>
            <a:off x="229099" y="5194272"/>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tângulo de cantos arredondados 94"/>
          <p:cNvSpPr/>
          <p:nvPr userDrawn="1"/>
        </p:nvSpPr>
        <p:spPr>
          <a:xfrm>
            <a:off x="284932" y="7427028"/>
            <a:ext cx="6451646" cy="126873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1/4</a:t>
            </a:r>
            <a:endParaRPr lang="en-US" sz="1200" dirty="0">
              <a:effectLst/>
              <a:latin typeface="Times New Roman"/>
              <a:ea typeface="Times New Roman"/>
            </a:endParaRPr>
          </a:p>
        </p:txBody>
      </p:sp>
      <p:sp>
        <p:nvSpPr>
          <p:cNvPr id="48" name="CaixaDeTexto 47"/>
          <p:cNvSpPr txBox="1"/>
          <p:nvPr userDrawn="1"/>
        </p:nvSpPr>
        <p:spPr>
          <a:xfrm>
            <a:off x="3931287" y="3393129"/>
            <a:ext cx="2594057" cy="276999"/>
          </a:xfrm>
          <a:prstGeom prst="rect">
            <a:avLst/>
          </a:prstGeom>
          <a:noFill/>
          <a:ln>
            <a:noFill/>
          </a:ln>
        </p:spPr>
        <p:txBody>
          <a:bodyPr wrap="square" rtlCol="0">
            <a:spAutoFit/>
          </a:bodyPr>
          <a:lstStyle/>
          <a:p>
            <a:r>
              <a:rPr lang="pt-BR" sz="1200" b="0" dirty="0"/>
              <a:t>  Código BR do</a:t>
            </a:r>
            <a:r>
              <a:rPr lang="pt-BR" sz="1200" b="0" baseline="0" dirty="0"/>
              <a:t> Distribuidor / Revenda</a:t>
            </a:r>
            <a:endParaRPr lang="en-US" sz="1200" b="0" dirty="0"/>
          </a:p>
        </p:txBody>
      </p:sp>
    </p:spTree>
    <p:extLst>
      <p:ext uri="{BB962C8B-B14F-4D97-AF65-F5344CB8AC3E}">
        <p14:creationId xmlns:p14="http://schemas.microsoft.com/office/powerpoint/2010/main" val="41162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p:spTree>
      <p:nvGrpSpPr>
        <p:cNvPr id="1" name=""/>
        <p:cNvGrpSpPr/>
        <p:nvPr/>
      </p:nvGrpSpPr>
      <p:grpSpPr>
        <a:xfrm>
          <a:off x="0" y="0"/>
          <a:ext cx="0" cy="0"/>
          <a:chOff x="0" y="0"/>
          <a:chExt cx="0" cy="0"/>
        </a:xfrm>
      </p:grpSpPr>
      <p:sp>
        <p:nvSpPr>
          <p:cNvPr id="7" name="CaixaDeTexto 6"/>
          <p:cNvSpPr txBox="1"/>
          <p:nvPr userDrawn="1"/>
        </p:nvSpPr>
        <p:spPr>
          <a:xfrm>
            <a:off x="141537" y="899592"/>
            <a:ext cx="3302186" cy="307777"/>
          </a:xfrm>
          <a:prstGeom prst="rect">
            <a:avLst/>
          </a:prstGeom>
          <a:noFill/>
        </p:spPr>
        <p:txBody>
          <a:bodyPr wrap="none" rtlCol="0">
            <a:spAutoFit/>
          </a:bodyPr>
          <a:lstStyle/>
          <a:p>
            <a:r>
              <a:rPr lang="pt-BR" sz="1400" b="1" dirty="0"/>
              <a:t> ANÁLISE</a:t>
            </a:r>
            <a:r>
              <a:rPr lang="pt-BR" sz="1400" b="1" baseline="0" dirty="0"/>
              <a:t> A SER REALIZADA PELO TÉCNICO</a:t>
            </a:r>
            <a:endParaRPr lang="en-US" sz="1400" b="1" dirty="0"/>
          </a:p>
        </p:txBody>
      </p:sp>
      <p:sp>
        <p:nvSpPr>
          <p:cNvPr id="8" name="CaixaDeTexto 7"/>
          <p:cNvSpPr txBox="1"/>
          <p:nvPr userDrawn="1"/>
        </p:nvSpPr>
        <p:spPr>
          <a:xfrm>
            <a:off x="160588" y="1314934"/>
            <a:ext cx="3052126" cy="461665"/>
          </a:xfrm>
          <a:prstGeom prst="rect">
            <a:avLst/>
          </a:prstGeom>
          <a:noFill/>
          <a:ln>
            <a:noFill/>
          </a:ln>
        </p:spPr>
        <p:txBody>
          <a:bodyPr wrap="square" rtlCol="0">
            <a:spAutoFit/>
          </a:bodyPr>
          <a:lstStyle/>
          <a:p>
            <a:r>
              <a:rPr lang="pt-BR" sz="1200" b="0" baseline="0" dirty="0"/>
              <a:t>1.1. Local da Instalação – Siga as distâncias conforme indicado no manual de instalação  </a:t>
            </a:r>
            <a:endParaRPr lang="en-US" sz="1200" b="0" dirty="0"/>
          </a:p>
        </p:txBody>
      </p:sp>
      <p:sp>
        <p:nvSpPr>
          <p:cNvPr id="9" name="Retângulo 8"/>
          <p:cNvSpPr/>
          <p:nvPr userDrawn="1"/>
        </p:nvSpPr>
        <p:spPr>
          <a:xfrm>
            <a:off x="260649" y="1823200"/>
            <a:ext cx="2952064" cy="2407809"/>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CaixaDeTexto 13"/>
          <p:cNvSpPr txBox="1"/>
          <p:nvPr userDrawn="1"/>
        </p:nvSpPr>
        <p:spPr>
          <a:xfrm>
            <a:off x="3443723" y="1324676"/>
            <a:ext cx="3414277" cy="461665"/>
          </a:xfrm>
          <a:prstGeom prst="rect">
            <a:avLst/>
          </a:prstGeom>
          <a:noFill/>
          <a:ln>
            <a:noFill/>
          </a:ln>
        </p:spPr>
        <p:txBody>
          <a:bodyPr wrap="square" rtlCol="0">
            <a:spAutoFit/>
          </a:bodyPr>
          <a:lstStyle/>
          <a:p>
            <a:r>
              <a:rPr lang="pt-BR" sz="1200" b="0" baseline="0" dirty="0"/>
              <a:t>1.2 Instalação – Anexar umas fotos da instalação unidade interna/externa conforme exemplo ao lado </a:t>
            </a:r>
            <a:endParaRPr lang="en-US" sz="1200" b="0" dirty="0"/>
          </a:p>
        </p:txBody>
      </p:sp>
      <p:sp>
        <p:nvSpPr>
          <p:cNvPr id="16" name="Retângulo 15"/>
          <p:cNvSpPr/>
          <p:nvPr userDrawn="1"/>
        </p:nvSpPr>
        <p:spPr>
          <a:xfrm>
            <a:off x="3443722" y="1823201"/>
            <a:ext cx="3153629" cy="2407808"/>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030" name="Picture 6" descr="Resultado de imagem para foto instalação split L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3495" r="24416"/>
          <a:stretch/>
        </p:blipFill>
        <p:spPr bwMode="auto">
          <a:xfrm>
            <a:off x="303723" y="2689632"/>
            <a:ext cx="1051146" cy="151348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
          <p:cNvPicPr>
            <a:picLocks noChangeAspect="1" noChangeArrowheads="1"/>
          </p:cNvPicPr>
          <p:nvPr userDrawn="1"/>
        </p:nvPicPr>
        <p:blipFill>
          <a:blip r:embed="rId3" cstate="print"/>
          <a:srcRect/>
          <a:stretch>
            <a:fillRect/>
          </a:stretch>
        </p:blipFill>
        <p:spPr bwMode="auto">
          <a:xfrm>
            <a:off x="1484784" y="2732893"/>
            <a:ext cx="1699353" cy="1469542"/>
          </a:xfrm>
          <a:prstGeom prst="rect">
            <a:avLst/>
          </a:prstGeom>
          <a:noFill/>
          <a:ln w="9525">
            <a:noFill/>
            <a:miter lim="800000"/>
            <a:headEnd/>
            <a:tailEnd/>
          </a:ln>
          <a:effectLst/>
        </p:spPr>
      </p:pic>
      <p:sp>
        <p:nvSpPr>
          <p:cNvPr id="35"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2/5</a:t>
            </a:r>
            <a:endParaRPr lang="en-US" sz="1200" dirty="0">
              <a:effectLst/>
              <a:latin typeface="Times New Roman"/>
              <a:ea typeface="Times New Roman"/>
            </a:endParaRPr>
          </a:p>
        </p:txBody>
      </p:sp>
      <p:sp>
        <p:nvSpPr>
          <p:cNvPr id="47" name="CaixaDeTexto 46"/>
          <p:cNvSpPr txBox="1"/>
          <p:nvPr userDrawn="1"/>
        </p:nvSpPr>
        <p:spPr>
          <a:xfrm>
            <a:off x="3245078" y="6391504"/>
            <a:ext cx="758843" cy="338554"/>
          </a:xfrm>
          <a:prstGeom prst="rect">
            <a:avLst/>
          </a:prstGeom>
          <a:noFill/>
          <a:ln>
            <a:noFill/>
          </a:ln>
        </p:spPr>
        <p:txBody>
          <a:bodyPr wrap="square" rtlCol="0">
            <a:spAutoFit/>
          </a:bodyPr>
          <a:lstStyle/>
          <a:p>
            <a:pPr algn="ctr"/>
            <a:r>
              <a:rPr lang="pt-BR" sz="800" b="1" baseline="0" dirty="0"/>
              <a:t>Capacidade </a:t>
            </a:r>
          </a:p>
          <a:p>
            <a:pPr algn="ctr"/>
            <a:r>
              <a:rPr lang="pt-BR" sz="800" b="1" baseline="0" dirty="0"/>
              <a:t>do Disjuntor</a:t>
            </a:r>
            <a:endParaRPr lang="en-US" sz="800" b="1" dirty="0"/>
          </a:p>
        </p:txBody>
      </p:sp>
      <p:sp>
        <p:nvSpPr>
          <p:cNvPr id="53" name="Retângulo 52"/>
          <p:cNvSpPr/>
          <p:nvPr userDrawn="1"/>
        </p:nvSpPr>
        <p:spPr>
          <a:xfrm>
            <a:off x="3371319" y="5141477"/>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4" name="Retângulo 53"/>
          <p:cNvSpPr/>
          <p:nvPr userDrawn="1"/>
        </p:nvSpPr>
        <p:spPr>
          <a:xfrm>
            <a:off x="5071882" y="5138382"/>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55" name="Picture 8" descr="https://encrypted-tbn0.gstatic.com/images?q=tbn:ANd9GcQJqCwyb_tu5ch_AFuDI62JyHOKC2gj3jd3A1hIpAr_IZgxC5-0jg"/>
          <p:cNvPicPr>
            <a:picLocks noChangeAspect="1" noChangeArrowheads="1"/>
          </p:cNvPicPr>
          <p:nvPr userDrawn="1"/>
        </p:nvPicPr>
        <p:blipFill rotWithShape="1">
          <a:blip r:embed="rId4" cstate="print">
            <a:lum bright="70000" contrast="-70000"/>
          </a:blip>
          <a:srcRect l="58123" t="8884" r="10530" b="19537"/>
          <a:stretch/>
        </p:blipFill>
        <p:spPr bwMode="auto">
          <a:xfrm>
            <a:off x="3407252" y="5152510"/>
            <a:ext cx="1279936" cy="1276212"/>
          </a:xfrm>
          <a:prstGeom prst="rect">
            <a:avLst/>
          </a:prstGeom>
          <a:noFill/>
        </p:spPr>
      </p:pic>
      <p:pic>
        <p:nvPicPr>
          <p:cNvPr id="56" name="Picture 36" descr="87V_01_200p"/>
          <p:cNvPicPr>
            <a:picLocks noChangeAspect="1" noChangeArrowheads="1"/>
          </p:cNvPicPr>
          <p:nvPr userDrawn="1"/>
        </p:nvPicPr>
        <p:blipFill>
          <a:blip r:embed="rId5" cstate="print">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6">
                    <a14:imgEffect>
                      <a14:colorTemperature colorTemp="4700"/>
                    </a14:imgEffect>
                    <a14:imgEffect>
                      <a14:saturation sat="0"/>
                    </a14:imgEffect>
                  </a14:imgLayer>
                </a14:imgProps>
              </a:ext>
            </a:extLst>
          </a:blip>
          <a:srcRect/>
          <a:stretch>
            <a:fillRect/>
          </a:stretch>
        </p:blipFill>
        <p:spPr bwMode="auto">
          <a:xfrm>
            <a:off x="5113116" y="5152510"/>
            <a:ext cx="1277168" cy="1267704"/>
          </a:xfrm>
          <a:prstGeom prst="rect">
            <a:avLst/>
          </a:prstGeom>
          <a:noFill/>
          <a:ln w="9525">
            <a:noFill/>
            <a:miter lim="800000"/>
            <a:headEnd/>
            <a:tailEnd/>
          </a:ln>
        </p:spPr>
      </p:pic>
      <p:sp>
        <p:nvSpPr>
          <p:cNvPr id="57" name="Retângulo 56"/>
          <p:cNvSpPr/>
          <p:nvPr userDrawn="1"/>
        </p:nvSpPr>
        <p:spPr>
          <a:xfrm>
            <a:off x="3954969" y="6447483"/>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A</a:t>
            </a:r>
            <a:endParaRPr lang="en-US" sz="900" b="1" dirty="0">
              <a:solidFill>
                <a:schemeClr val="tx1"/>
              </a:solidFill>
            </a:endParaRPr>
          </a:p>
        </p:txBody>
      </p:sp>
      <p:sp>
        <p:nvSpPr>
          <p:cNvPr id="58" name="CaixaDeTexto 57"/>
          <p:cNvSpPr txBox="1"/>
          <p:nvPr userDrawn="1"/>
        </p:nvSpPr>
        <p:spPr>
          <a:xfrm>
            <a:off x="4985687" y="6376935"/>
            <a:ext cx="758843" cy="338554"/>
          </a:xfrm>
          <a:prstGeom prst="rect">
            <a:avLst/>
          </a:prstGeom>
          <a:noFill/>
          <a:ln>
            <a:noFill/>
          </a:ln>
        </p:spPr>
        <p:txBody>
          <a:bodyPr wrap="square" rtlCol="0">
            <a:spAutoFit/>
          </a:bodyPr>
          <a:lstStyle/>
          <a:p>
            <a:pPr algn="ctr"/>
            <a:r>
              <a:rPr lang="pt-BR" sz="800" b="1" baseline="0" dirty="0"/>
              <a:t>Tensão de Alimentação</a:t>
            </a:r>
            <a:endParaRPr lang="en-US" sz="800" b="1" dirty="0"/>
          </a:p>
        </p:txBody>
      </p:sp>
      <p:sp>
        <p:nvSpPr>
          <p:cNvPr id="59" name="Retângulo 58"/>
          <p:cNvSpPr/>
          <p:nvPr userDrawn="1"/>
        </p:nvSpPr>
        <p:spPr>
          <a:xfrm>
            <a:off x="5664880" y="6442084"/>
            <a:ext cx="750804"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V</a:t>
            </a:r>
            <a:endParaRPr lang="en-US" sz="900" b="1" dirty="0">
              <a:solidFill>
                <a:schemeClr val="tx1"/>
              </a:solidFill>
            </a:endParaRPr>
          </a:p>
        </p:txBody>
      </p:sp>
      <p:pic>
        <p:nvPicPr>
          <p:cNvPr id="61" name="Picture 1"/>
          <p:cNvPicPr>
            <a:picLocks noChangeAspect="1" noChangeArrowheads="1"/>
          </p:cNvPicPr>
          <p:nvPr userDrawn="1"/>
        </p:nvPicPr>
        <p:blipFill>
          <a:blip r:embed="rId7" cstate="print"/>
          <a:srcRect/>
          <a:stretch>
            <a:fillRect/>
          </a:stretch>
        </p:blipFill>
        <p:spPr bwMode="auto">
          <a:xfrm>
            <a:off x="3645133" y="4322108"/>
            <a:ext cx="2840304" cy="751766"/>
          </a:xfrm>
          <a:prstGeom prst="rect">
            <a:avLst/>
          </a:prstGeom>
          <a:noFill/>
          <a:ln w="9525">
            <a:noFill/>
            <a:miter lim="800000"/>
            <a:headEnd/>
            <a:tailEnd/>
          </a:ln>
        </p:spPr>
      </p:pic>
      <p:sp>
        <p:nvSpPr>
          <p:cNvPr id="63" name="Retângulo 62"/>
          <p:cNvSpPr/>
          <p:nvPr userDrawn="1"/>
        </p:nvSpPr>
        <p:spPr>
          <a:xfrm>
            <a:off x="4985686" y="6874074"/>
            <a:ext cx="1429997"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4" name="CaixaDeTexto 63"/>
          <p:cNvSpPr txBox="1"/>
          <p:nvPr userDrawn="1"/>
        </p:nvSpPr>
        <p:spPr>
          <a:xfrm>
            <a:off x="4985687" y="8481918"/>
            <a:ext cx="1408420" cy="338554"/>
          </a:xfrm>
          <a:prstGeom prst="rect">
            <a:avLst/>
          </a:prstGeom>
          <a:noFill/>
          <a:ln>
            <a:noFill/>
          </a:ln>
        </p:spPr>
        <p:txBody>
          <a:bodyPr wrap="square" rtlCol="0">
            <a:spAutoFit/>
          </a:bodyPr>
          <a:lstStyle/>
          <a:p>
            <a:pPr algn="ctr"/>
            <a:r>
              <a:rPr lang="pt-BR" sz="800" b="1" baseline="0" dirty="0"/>
              <a:t>Foto dos cabos interligado no borne do Condensador</a:t>
            </a:r>
            <a:endParaRPr lang="en-US" sz="800" b="1" dirty="0"/>
          </a:p>
        </p:txBody>
      </p:sp>
      <p:sp>
        <p:nvSpPr>
          <p:cNvPr id="65" name="Retângulo 64"/>
          <p:cNvSpPr/>
          <p:nvPr userDrawn="1"/>
        </p:nvSpPr>
        <p:spPr>
          <a:xfrm>
            <a:off x="3343386" y="6874074"/>
            <a:ext cx="1408420"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6" name="CaixaDeTexto 65"/>
          <p:cNvSpPr txBox="1"/>
          <p:nvPr userDrawn="1"/>
        </p:nvSpPr>
        <p:spPr>
          <a:xfrm>
            <a:off x="3339010" y="8481918"/>
            <a:ext cx="1408420" cy="338554"/>
          </a:xfrm>
          <a:prstGeom prst="rect">
            <a:avLst/>
          </a:prstGeom>
          <a:noFill/>
          <a:ln>
            <a:noFill/>
          </a:ln>
        </p:spPr>
        <p:txBody>
          <a:bodyPr wrap="square" rtlCol="0">
            <a:spAutoFit/>
          </a:bodyPr>
          <a:lstStyle/>
          <a:p>
            <a:pPr algn="ctr"/>
            <a:r>
              <a:rPr lang="pt-BR" sz="800" b="1" baseline="0" dirty="0"/>
              <a:t>Foto dos cabos interligado no borne do Evaporador </a:t>
            </a:r>
            <a:endParaRPr lang="en-US" sz="800" b="1" dirty="0"/>
          </a:p>
        </p:txBody>
      </p:sp>
      <p:pic>
        <p:nvPicPr>
          <p:cNvPr id="67" name="Imagem 66"/>
          <p:cNvPicPr>
            <a:picLocks noChangeAspect="1"/>
          </p:cNvPicPr>
          <p:nvPr userDrawn="1"/>
        </p:nvPicPr>
        <p:blipFill>
          <a:blip r:embed="rId8" cstate="print">
            <a:lum bright="70000" contrast="-70000"/>
            <a:extLst>
              <a:ext uri="{28A0092B-C50C-407E-A947-70E740481C1C}">
                <a14:useLocalDpi xmlns:a14="http://schemas.microsoft.com/office/drawing/2010/main" val="0"/>
              </a:ext>
            </a:extLst>
          </a:blip>
          <a:stretch>
            <a:fillRect/>
          </a:stretch>
        </p:blipFill>
        <p:spPr>
          <a:xfrm>
            <a:off x="3358775" y="7251912"/>
            <a:ext cx="1385686" cy="990314"/>
          </a:xfrm>
          <a:prstGeom prst="rect">
            <a:avLst/>
          </a:prstGeom>
        </p:spPr>
      </p:pic>
      <p:pic>
        <p:nvPicPr>
          <p:cNvPr id="68" name="Imagem 67"/>
          <p:cNvPicPr>
            <a:picLocks noChangeAspect="1"/>
          </p:cNvPicPr>
          <p:nvPr userDrawn="1"/>
        </p:nvPicPr>
        <p:blipFill rotWithShape="1">
          <a:blip r:embed="rId9" cstate="print">
            <a:lum bright="70000" contrast="-70000"/>
            <a:extLst>
              <a:ext uri="{28A0092B-C50C-407E-A947-70E740481C1C}">
                <a14:useLocalDpi xmlns:a14="http://schemas.microsoft.com/office/drawing/2010/main" val="0"/>
              </a:ext>
            </a:extLst>
          </a:blip>
          <a:srcRect l="22694" t="3024" r="11356" b="5709"/>
          <a:stretch/>
        </p:blipFill>
        <p:spPr>
          <a:xfrm>
            <a:off x="5008546" y="7251912"/>
            <a:ext cx="1404598" cy="983248"/>
          </a:xfrm>
          <a:prstGeom prst="rect">
            <a:avLst/>
          </a:prstGeom>
        </p:spPr>
      </p:pic>
      <p:sp>
        <p:nvSpPr>
          <p:cNvPr id="69" name="CaixaDeTexto 68"/>
          <p:cNvSpPr txBox="1"/>
          <p:nvPr userDrawn="1"/>
        </p:nvSpPr>
        <p:spPr>
          <a:xfrm>
            <a:off x="148734" y="6536537"/>
            <a:ext cx="1152128" cy="338554"/>
          </a:xfrm>
          <a:prstGeom prst="rect">
            <a:avLst/>
          </a:prstGeom>
          <a:noFill/>
          <a:ln>
            <a:noFill/>
          </a:ln>
        </p:spPr>
        <p:txBody>
          <a:bodyPr wrap="square" rtlCol="0">
            <a:spAutoFit/>
          </a:bodyPr>
          <a:lstStyle/>
          <a:p>
            <a:pPr algn="ctr"/>
            <a:r>
              <a:rPr lang="pt-BR" sz="800" b="1" baseline="0" dirty="0"/>
              <a:t>Qual o bitola do cabo de Alimentação </a:t>
            </a:r>
            <a:endParaRPr lang="en-US" sz="800" b="1" dirty="0"/>
          </a:p>
        </p:txBody>
      </p:sp>
      <p:sp>
        <p:nvSpPr>
          <p:cNvPr id="70" name="Retângulo 69"/>
          <p:cNvSpPr/>
          <p:nvPr userDrawn="1"/>
        </p:nvSpPr>
        <p:spPr>
          <a:xfrm>
            <a:off x="1237273" y="6595336"/>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mm</a:t>
            </a:r>
            <a:endParaRPr lang="en-US" sz="900" b="1" dirty="0">
              <a:solidFill>
                <a:schemeClr val="tx1"/>
              </a:solidFill>
            </a:endParaRPr>
          </a:p>
        </p:txBody>
      </p:sp>
      <p:pic>
        <p:nvPicPr>
          <p:cNvPr id="2" name="Imagem 1"/>
          <p:cNvPicPr>
            <a:picLocks noChangeAspect="1"/>
          </p:cNvPicPr>
          <p:nvPr userDrawn="1"/>
        </p:nvPicPr>
        <p:blipFill>
          <a:blip r:embed="rId10"/>
          <a:stretch>
            <a:fillRect/>
          </a:stretch>
        </p:blipFill>
        <p:spPr>
          <a:xfrm>
            <a:off x="1772815" y="1835696"/>
            <a:ext cx="1400255" cy="897197"/>
          </a:xfrm>
          <a:prstGeom prst="rect">
            <a:avLst/>
          </a:prstGeom>
        </p:spPr>
      </p:pic>
      <p:pic>
        <p:nvPicPr>
          <p:cNvPr id="3" name="Imagem 2"/>
          <p:cNvPicPr>
            <a:picLocks noChangeAspect="1"/>
          </p:cNvPicPr>
          <p:nvPr userDrawn="1"/>
        </p:nvPicPr>
        <p:blipFill>
          <a:blip r:embed="rId11"/>
          <a:stretch>
            <a:fillRect/>
          </a:stretch>
        </p:blipFill>
        <p:spPr>
          <a:xfrm>
            <a:off x="286435" y="1854502"/>
            <a:ext cx="1506195" cy="878391"/>
          </a:xfrm>
          <a:prstGeom prst="rect">
            <a:avLst/>
          </a:prstGeom>
        </p:spPr>
      </p:pic>
      <p:sp>
        <p:nvSpPr>
          <p:cNvPr id="71" name="CaixaDeTexto 70"/>
          <p:cNvSpPr txBox="1"/>
          <p:nvPr userDrawn="1"/>
        </p:nvSpPr>
        <p:spPr>
          <a:xfrm>
            <a:off x="57046" y="4283968"/>
            <a:ext cx="2840265" cy="276999"/>
          </a:xfrm>
          <a:prstGeom prst="rect">
            <a:avLst/>
          </a:prstGeom>
          <a:noFill/>
          <a:ln>
            <a:noFill/>
          </a:ln>
        </p:spPr>
        <p:txBody>
          <a:bodyPr wrap="none" rtlCol="0">
            <a:spAutoFit/>
          </a:bodyPr>
          <a:lstStyle/>
          <a:p>
            <a:r>
              <a:rPr lang="pt-BR" sz="1200" b="1" baseline="0" dirty="0"/>
              <a:t>2. Informação sobre a instalação elétrica: </a:t>
            </a:r>
            <a:endParaRPr lang="en-US" sz="1200" b="1" dirty="0"/>
          </a:p>
        </p:txBody>
      </p:sp>
      <p:sp>
        <p:nvSpPr>
          <p:cNvPr id="72" name="CaixaDeTexto 71"/>
          <p:cNvSpPr txBox="1"/>
          <p:nvPr userDrawn="1"/>
        </p:nvSpPr>
        <p:spPr>
          <a:xfrm>
            <a:off x="50696" y="4499992"/>
            <a:ext cx="3501536" cy="276999"/>
          </a:xfrm>
          <a:prstGeom prst="rect">
            <a:avLst/>
          </a:prstGeom>
          <a:noFill/>
          <a:ln>
            <a:noFill/>
          </a:ln>
        </p:spPr>
        <p:txBody>
          <a:bodyPr wrap="none" rtlCol="0">
            <a:spAutoFit/>
          </a:bodyPr>
          <a:lstStyle/>
          <a:p>
            <a:r>
              <a:rPr lang="pt-BR" sz="1200" b="0" baseline="0" dirty="0"/>
              <a:t>2.1 Qual a tensão de alimentação na Condensadora? </a:t>
            </a:r>
            <a:endParaRPr lang="en-US" sz="1200" b="0" dirty="0"/>
          </a:p>
        </p:txBody>
      </p:sp>
      <p:sp>
        <p:nvSpPr>
          <p:cNvPr id="73" name="CaixaDeTexto 72"/>
          <p:cNvSpPr txBox="1"/>
          <p:nvPr userDrawn="1"/>
        </p:nvSpPr>
        <p:spPr>
          <a:xfrm>
            <a:off x="140460" y="1119139"/>
            <a:ext cx="2261966" cy="307777"/>
          </a:xfrm>
          <a:prstGeom prst="rect">
            <a:avLst/>
          </a:prstGeom>
          <a:noFill/>
        </p:spPr>
        <p:txBody>
          <a:bodyPr wrap="none" rtlCol="0">
            <a:spAutoFit/>
          </a:bodyPr>
          <a:lstStyle/>
          <a:p>
            <a:r>
              <a:rPr lang="pt-BR" sz="1400" b="1" dirty="0"/>
              <a:t> </a:t>
            </a:r>
            <a:r>
              <a:rPr lang="pt-BR" sz="1200" b="1" kern="1200" baseline="0" dirty="0">
                <a:solidFill>
                  <a:schemeClr val="tx1"/>
                </a:solidFill>
                <a:latin typeface="+mn-lt"/>
                <a:ea typeface="+mn-ea"/>
                <a:cs typeface="+mn-cs"/>
              </a:rPr>
              <a:t>1. Instalação física das unidades</a:t>
            </a:r>
            <a:endParaRPr lang="en-US" sz="1200" b="1" kern="1200" baseline="0" dirty="0">
              <a:solidFill>
                <a:schemeClr val="tx1"/>
              </a:solidFill>
              <a:latin typeface="+mn-lt"/>
              <a:ea typeface="+mn-ea"/>
              <a:cs typeface="+mn-cs"/>
            </a:endParaRPr>
          </a:p>
        </p:txBody>
      </p:sp>
      <p:pic>
        <p:nvPicPr>
          <p:cNvPr id="4" name="Imagem 3"/>
          <p:cNvPicPr>
            <a:picLocks noChangeAspect="1"/>
          </p:cNvPicPr>
          <p:nvPr userDrawn="1"/>
        </p:nvPicPr>
        <p:blipFill rotWithShape="1">
          <a:blip r:embed="rId12"/>
          <a:srcRect t="5259" r="6248" b="243"/>
          <a:stretch/>
        </p:blipFill>
        <p:spPr>
          <a:xfrm rot="16200000">
            <a:off x="802868" y="4391488"/>
            <a:ext cx="1339480" cy="2664296"/>
          </a:xfrm>
          <a:prstGeom prst="rect">
            <a:avLst/>
          </a:prstGeom>
        </p:spPr>
      </p:pic>
      <p:pic>
        <p:nvPicPr>
          <p:cNvPr id="5" name="Imagem 4"/>
          <p:cNvPicPr>
            <a:picLocks noChangeAspect="1"/>
          </p:cNvPicPr>
          <p:nvPr userDrawn="1"/>
        </p:nvPicPr>
        <p:blipFill rotWithShape="1">
          <a:blip r:embed="rId13"/>
          <a:srcRect l="15112"/>
          <a:stretch/>
        </p:blipFill>
        <p:spPr>
          <a:xfrm>
            <a:off x="188640" y="7235130"/>
            <a:ext cx="1568594" cy="1657350"/>
          </a:xfrm>
          <a:prstGeom prst="rect">
            <a:avLst/>
          </a:prstGeom>
        </p:spPr>
      </p:pic>
      <p:sp>
        <p:nvSpPr>
          <p:cNvPr id="6" name="CaixaDeTexto 5"/>
          <p:cNvSpPr txBox="1"/>
          <p:nvPr userDrawn="1"/>
        </p:nvSpPr>
        <p:spPr>
          <a:xfrm>
            <a:off x="148734" y="4776991"/>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a:t>
            </a:r>
            <a:r>
              <a:rPr lang="pt-BR" sz="1600" baseline="0" dirty="0"/>
              <a:t>condensadora</a:t>
            </a:r>
            <a:endParaRPr lang="pt-BR" sz="1600" dirty="0"/>
          </a:p>
        </p:txBody>
      </p:sp>
      <p:sp>
        <p:nvSpPr>
          <p:cNvPr id="74" name="CaixaDeTexto 73"/>
          <p:cNvSpPr txBox="1"/>
          <p:nvPr userDrawn="1"/>
        </p:nvSpPr>
        <p:spPr>
          <a:xfrm>
            <a:off x="148734" y="6897742"/>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Evaporad</a:t>
            </a:r>
            <a:r>
              <a:rPr lang="pt-BR" sz="1600" baseline="0" dirty="0"/>
              <a:t>ora</a:t>
            </a:r>
            <a:endParaRPr lang="pt-BR" sz="1600" dirty="0"/>
          </a:p>
        </p:txBody>
      </p:sp>
    </p:spTree>
    <p:extLst>
      <p:ext uri="{BB962C8B-B14F-4D97-AF65-F5344CB8AC3E}">
        <p14:creationId xmlns:p14="http://schemas.microsoft.com/office/powerpoint/2010/main" val="2972807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7" name="CaixaDeTexto 6"/>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sp>
        <p:nvSpPr>
          <p:cNvPr id="8" name="CaixaDeTexto 7"/>
          <p:cNvSpPr txBox="1"/>
          <p:nvPr userDrawn="1"/>
        </p:nvSpPr>
        <p:spPr>
          <a:xfrm>
            <a:off x="160587" y="1314934"/>
            <a:ext cx="1736245" cy="276999"/>
          </a:xfrm>
          <a:prstGeom prst="rect">
            <a:avLst/>
          </a:prstGeom>
          <a:noFill/>
          <a:ln>
            <a:noFill/>
          </a:ln>
        </p:spPr>
        <p:txBody>
          <a:bodyPr wrap="none" rtlCol="0">
            <a:spAutoFit/>
          </a:bodyPr>
          <a:lstStyle/>
          <a:p>
            <a:r>
              <a:rPr lang="pt-BR" sz="1200" b="1" baseline="0" dirty="0"/>
              <a:t>3. Qual o Código de Erro</a:t>
            </a:r>
            <a:endParaRPr lang="en-US" sz="1200" b="1" dirty="0"/>
          </a:p>
        </p:txBody>
      </p:sp>
      <p:sp>
        <p:nvSpPr>
          <p:cNvPr id="9" name="Retângulo 8"/>
          <p:cNvSpPr/>
          <p:nvPr userDrawn="1"/>
        </p:nvSpPr>
        <p:spPr>
          <a:xfrm>
            <a:off x="260648" y="1591933"/>
            <a:ext cx="1944216"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CaixaDeTexto 10"/>
          <p:cNvSpPr txBox="1"/>
          <p:nvPr userDrawn="1"/>
        </p:nvSpPr>
        <p:spPr>
          <a:xfrm>
            <a:off x="2516204" y="1314933"/>
            <a:ext cx="2136932" cy="276999"/>
          </a:xfrm>
          <a:prstGeom prst="rect">
            <a:avLst/>
          </a:prstGeom>
          <a:noFill/>
          <a:ln>
            <a:noFill/>
          </a:ln>
        </p:spPr>
        <p:txBody>
          <a:bodyPr wrap="none" rtlCol="0">
            <a:spAutoFit/>
          </a:bodyPr>
          <a:lstStyle/>
          <a:p>
            <a:r>
              <a:rPr lang="pt-BR" sz="1200" b="1" baseline="0" dirty="0"/>
              <a:t>4. Qual é o sintoma / Defeito? </a:t>
            </a:r>
            <a:endParaRPr lang="en-US" sz="1200" b="1" dirty="0"/>
          </a:p>
        </p:txBody>
      </p:sp>
      <p:sp>
        <p:nvSpPr>
          <p:cNvPr id="12" name="Retângulo 11"/>
          <p:cNvSpPr/>
          <p:nvPr userDrawn="1"/>
        </p:nvSpPr>
        <p:spPr>
          <a:xfrm>
            <a:off x="2516204" y="1591933"/>
            <a:ext cx="4081147"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CaixaDeTexto 12"/>
          <p:cNvSpPr txBox="1"/>
          <p:nvPr userDrawn="1"/>
        </p:nvSpPr>
        <p:spPr>
          <a:xfrm>
            <a:off x="168960" y="2051720"/>
            <a:ext cx="2360454" cy="276999"/>
          </a:xfrm>
          <a:prstGeom prst="rect">
            <a:avLst/>
          </a:prstGeom>
          <a:noFill/>
          <a:ln>
            <a:noFill/>
          </a:ln>
        </p:spPr>
        <p:txBody>
          <a:bodyPr wrap="none" rtlCol="0">
            <a:spAutoFit/>
          </a:bodyPr>
          <a:lstStyle/>
          <a:p>
            <a:r>
              <a:rPr lang="pt-BR" sz="1200" b="1" baseline="0" dirty="0"/>
              <a:t>5. Quais Testes foram Realizados? </a:t>
            </a:r>
            <a:endParaRPr lang="en-US" sz="1200" b="1" dirty="0"/>
          </a:p>
        </p:txBody>
      </p:sp>
      <p:sp>
        <p:nvSpPr>
          <p:cNvPr id="14" name="Retângulo 13"/>
          <p:cNvSpPr/>
          <p:nvPr userDrawn="1"/>
        </p:nvSpPr>
        <p:spPr>
          <a:xfrm>
            <a:off x="260648" y="2313891"/>
            <a:ext cx="6336703" cy="889957"/>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CaixaDeTexto 14"/>
          <p:cNvSpPr txBox="1"/>
          <p:nvPr userDrawn="1"/>
        </p:nvSpPr>
        <p:spPr>
          <a:xfrm>
            <a:off x="175310" y="3231175"/>
            <a:ext cx="5478295" cy="276999"/>
          </a:xfrm>
          <a:prstGeom prst="rect">
            <a:avLst/>
          </a:prstGeom>
          <a:noFill/>
          <a:ln>
            <a:noFill/>
          </a:ln>
        </p:spPr>
        <p:txBody>
          <a:bodyPr wrap="none" rtlCol="0">
            <a:spAutoFit/>
          </a:bodyPr>
          <a:lstStyle/>
          <a:p>
            <a:r>
              <a:rPr lang="pt-BR" sz="1200" b="1" baseline="0" dirty="0"/>
              <a:t>6. Qual Peça será solicitada em garantia?  Informe o Part Number / Código da Peça.</a:t>
            </a:r>
            <a:endParaRPr lang="en-US" sz="1200" b="1" dirty="0"/>
          </a:p>
        </p:txBody>
      </p:sp>
      <p:sp>
        <p:nvSpPr>
          <p:cNvPr id="16" name="Retângulo 15"/>
          <p:cNvSpPr/>
          <p:nvPr userDrawn="1"/>
        </p:nvSpPr>
        <p:spPr>
          <a:xfrm>
            <a:off x="263987" y="3478950"/>
            <a:ext cx="6333364" cy="51698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 name="CaixaDeTexto 16"/>
          <p:cNvSpPr txBox="1"/>
          <p:nvPr userDrawn="1"/>
        </p:nvSpPr>
        <p:spPr>
          <a:xfrm>
            <a:off x="168960" y="4002286"/>
            <a:ext cx="5266570" cy="276999"/>
          </a:xfrm>
          <a:prstGeom prst="rect">
            <a:avLst/>
          </a:prstGeom>
          <a:noFill/>
          <a:ln>
            <a:noFill/>
          </a:ln>
        </p:spPr>
        <p:txBody>
          <a:bodyPr wrap="none" rtlCol="0">
            <a:spAutoFit/>
          </a:bodyPr>
          <a:lstStyle/>
          <a:p>
            <a:r>
              <a:rPr lang="pt-BR" sz="1200" b="1" baseline="0" dirty="0"/>
              <a:t>7. Testes dos fusíveis de proteção a serem realizado nas unidades IDU e ODU </a:t>
            </a:r>
            <a:endParaRPr lang="en-US" sz="1200" b="1" dirty="0"/>
          </a:p>
        </p:txBody>
      </p:sp>
      <p:sp>
        <p:nvSpPr>
          <p:cNvPr id="32"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2/4</a:t>
            </a:r>
            <a:endParaRPr lang="en-US" sz="1200" dirty="0">
              <a:effectLst/>
              <a:latin typeface="Times New Roman"/>
              <a:ea typeface="Times New Roman"/>
            </a:endParaRPr>
          </a:p>
        </p:txBody>
      </p:sp>
      <p:sp>
        <p:nvSpPr>
          <p:cNvPr id="84" name="CaixaDeTexto 83"/>
          <p:cNvSpPr txBox="1"/>
          <p:nvPr userDrawn="1"/>
        </p:nvSpPr>
        <p:spPr>
          <a:xfrm>
            <a:off x="168959" y="4222993"/>
            <a:ext cx="6458087" cy="461665"/>
          </a:xfrm>
          <a:prstGeom prst="rect">
            <a:avLst/>
          </a:prstGeom>
          <a:noFill/>
          <a:ln>
            <a:noFill/>
          </a:ln>
        </p:spPr>
        <p:txBody>
          <a:bodyPr wrap="square" rtlCol="0">
            <a:spAutoFit/>
          </a:bodyPr>
          <a:lstStyle/>
          <a:p>
            <a:r>
              <a:rPr lang="pt-BR" sz="1200" b="0" baseline="0" dirty="0"/>
              <a:t>7.1 Favor checar os fusíveis de proteção, caso esteja queimado efetue a troca, a queima de fusível não é um defeito do produto e sim uma proteção contra sobre corrente devido a variação de tensão.</a:t>
            </a:r>
            <a:endParaRPr lang="en-US" sz="1200" b="0" dirty="0"/>
          </a:p>
        </p:txBody>
      </p:sp>
      <p:sp>
        <p:nvSpPr>
          <p:cNvPr id="86" name="Retângulo 85"/>
          <p:cNvSpPr/>
          <p:nvPr userDrawn="1"/>
        </p:nvSpPr>
        <p:spPr>
          <a:xfrm>
            <a:off x="3443723" y="6061642"/>
            <a:ext cx="3062297" cy="2470798"/>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7" name="CaixaDeTexto 86"/>
          <p:cNvSpPr txBox="1"/>
          <p:nvPr userDrawn="1"/>
        </p:nvSpPr>
        <p:spPr>
          <a:xfrm>
            <a:off x="3573016" y="5868144"/>
            <a:ext cx="2481750" cy="215444"/>
          </a:xfrm>
          <a:prstGeom prst="rect">
            <a:avLst/>
          </a:prstGeom>
          <a:noFill/>
          <a:ln>
            <a:noFill/>
          </a:ln>
        </p:spPr>
        <p:txBody>
          <a:bodyPr wrap="square" rtlCol="0">
            <a:spAutoFit/>
          </a:bodyPr>
          <a:lstStyle/>
          <a:p>
            <a:pPr algn="ctr"/>
            <a:r>
              <a:rPr lang="pt-BR" sz="800" b="1" baseline="0" dirty="0"/>
              <a:t>Foto do  teste comunicação </a:t>
            </a:r>
            <a:endParaRPr lang="en-US" sz="800" b="1" dirty="0"/>
          </a:p>
        </p:txBody>
      </p:sp>
      <p:sp>
        <p:nvSpPr>
          <p:cNvPr id="88" name="Retângulo 87"/>
          <p:cNvSpPr/>
          <p:nvPr userDrawn="1"/>
        </p:nvSpPr>
        <p:spPr>
          <a:xfrm>
            <a:off x="332656" y="6061642"/>
            <a:ext cx="3062297" cy="2470798"/>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9" name="CaixaDeTexto 88"/>
          <p:cNvSpPr txBox="1"/>
          <p:nvPr userDrawn="1"/>
        </p:nvSpPr>
        <p:spPr>
          <a:xfrm>
            <a:off x="461949" y="5868144"/>
            <a:ext cx="2481750" cy="215444"/>
          </a:xfrm>
          <a:prstGeom prst="rect">
            <a:avLst/>
          </a:prstGeom>
          <a:noFill/>
          <a:ln>
            <a:noFill/>
          </a:ln>
        </p:spPr>
        <p:txBody>
          <a:bodyPr wrap="square" rtlCol="0">
            <a:spAutoFit/>
          </a:bodyPr>
          <a:lstStyle/>
          <a:p>
            <a:pPr algn="ctr"/>
            <a:r>
              <a:rPr lang="pt-BR" sz="800" b="1" baseline="0" dirty="0"/>
              <a:t>Foto do  teste realizado nos fusíveis de proteção</a:t>
            </a:r>
            <a:endParaRPr lang="en-US" sz="800" b="1" dirty="0"/>
          </a:p>
        </p:txBody>
      </p:sp>
      <p:pic>
        <p:nvPicPr>
          <p:cNvPr id="3" name="Imagem 2"/>
          <p:cNvPicPr>
            <a:picLocks noChangeAspect="1"/>
          </p:cNvPicPr>
          <p:nvPr userDrawn="1"/>
        </p:nvPicPr>
        <p:blipFill>
          <a:blip r:embed="rId2"/>
          <a:stretch>
            <a:fillRect/>
          </a:stretch>
        </p:blipFill>
        <p:spPr>
          <a:xfrm>
            <a:off x="260649" y="4812559"/>
            <a:ext cx="1584000" cy="945667"/>
          </a:xfrm>
          <a:prstGeom prst="rect">
            <a:avLst/>
          </a:prstGeom>
        </p:spPr>
      </p:pic>
      <p:pic>
        <p:nvPicPr>
          <p:cNvPr id="4" name="Imagem 3"/>
          <p:cNvPicPr>
            <a:picLocks noChangeAspect="1"/>
          </p:cNvPicPr>
          <p:nvPr userDrawn="1"/>
        </p:nvPicPr>
        <p:blipFill>
          <a:blip r:embed="rId3"/>
          <a:stretch>
            <a:fillRect/>
          </a:stretch>
        </p:blipFill>
        <p:spPr>
          <a:xfrm>
            <a:off x="1844649" y="4802588"/>
            <a:ext cx="1584000" cy="955638"/>
          </a:xfrm>
          <a:prstGeom prst="rect">
            <a:avLst/>
          </a:prstGeom>
        </p:spPr>
      </p:pic>
      <p:pic>
        <p:nvPicPr>
          <p:cNvPr id="5" name="Imagem 4"/>
          <p:cNvPicPr>
            <a:picLocks noChangeAspect="1"/>
          </p:cNvPicPr>
          <p:nvPr userDrawn="1"/>
        </p:nvPicPr>
        <p:blipFill>
          <a:blip r:embed="rId4"/>
          <a:stretch>
            <a:fillRect/>
          </a:stretch>
        </p:blipFill>
        <p:spPr>
          <a:xfrm>
            <a:off x="3394953" y="4802588"/>
            <a:ext cx="1546215" cy="866915"/>
          </a:xfrm>
          <a:prstGeom prst="rect">
            <a:avLst/>
          </a:prstGeom>
        </p:spPr>
      </p:pic>
      <p:pic>
        <p:nvPicPr>
          <p:cNvPr id="6" name="Imagem 5"/>
          <p:cNvPicPr>
            <a:picLocks noChangeAspect="1"/>
          </p:cNvPicPr>
          <p:nvPr userDrawn="1"/>
        </p:nvPicPr>
        <p:blipFill>
          <a:blip r:embed="rId5"/>
          <a:stretch>
            <a:fillRect/>
          </a:stretch>
        </p:blipFill>
        <p:spPr>
          <a:xfrm>
            <a:off x="4941168" y="4640098"/>
            <a:ext cx="1576686" cy="1118128"/>
          </a:xfrm>
          <a:prstGeom prst="rect">
            <a:avLst/>
          </a:prstGeom>
        </p:spPr>
      </p:pic>
    </p:spTree>
    <p:extLst>
      <p:ext uri="{BB962C8B-B14F-4D97-AF65-F5344CB8AC3E}">
        <p14:creationId xmlns:p14="http://schemas.microsoft.com/office/powerpoint/2010/main" val="686865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beçalho da Seção">
    <p:spTree>
      <p:nvGrpSpPr>
        <p:cNvPr id="1" name=""/>
        <p:cNvGrpSpPr/>
        <p:nvPr/>
      </p:nvGrpSpPr>
      <p:grpSpPr>
        <a:xfrm>
          <a:off x="0" y="0"/>
          <a:ext cx="0" cy="0"/>
          <a:chOff x="0" y="0"/>
          <a:chExt cx="0" cy="0"/>
        </a:xfrm>
      </p:grpSpPr>
      <p:sp>
        <p:nvSpPr>
          <p:cNvPr id="7" name="CaixaDeTexto 6"/>
          <p:cNvSpPr txBox="1"/>
          <p:nvPr userDrawn="1"/>
        </p:nvSpPr>
        <p:spPr>
          <a:xfrm>
            <a:off x="141537" y="1031632"/>
            <a:ext cx="5220468" cy="307777"/>
          </a:xfrm>
          <a:prstGeom prst="rect">
            <a:avLst/>
          </a:prstGeom>
          <a:noFill/>
        </p:spPr>
        <p:txBody>
          <a:bodyPr wrap="none" rtlCol="0">
            <a:spAutoFit/>
          </a:bodyPr>
          <a:lstStyle/>
          <a:p>
            <a:r>
              <a:rPr lang="pt-BR" sz="1400" b="1" dirty="0"/>
              <a:t>8. ANÁLISE</a:t>
            </a:r>
            <a:r>
              <a:rPr lang="pt-BR" sz="1400" b="1" baseline="0" dirty="0"/>
              <a:t> A SER REALIZADA PARA TESTE DA TENSÃO DC E IPM IGBT</a:t>
            </a:r>
            <a:endParaRPr lang="en-US" sz="1400" b="1" dirty="0"/>
          </a:p>
        </p:txBody>
      </p:sp>
      <p:sp>
        <p:nvSpPr>
          <p:cNvPr id="47" name="Rectangle 2"/>
          <p:cNvSpPr>
            <a:spLocks noChangeArrowheads="1"/>
          </p:cNvSpPr>
          <p:nvPr userDrawn="1"/>
        </p:nvSpPr>
        <p:spPr bwMode="auto">
          <a:xfrm>
            <a:off x="162610" y="4222993"/>
            <a:ext cx="6198752" cy="276999"/>
          </a:xfrm>
          <a:prstGeom prst="rect">
            <a:avLst/>
          </a:prstGeom>
          <a:noFill/>
          <a:ln w="9525" algn="ctr">
            <a:noFill/>
            <a:miter lim="800000"/>
            <a:headEnd/>
            <a:tailEnd/>
          </a:ln>
        </p:spPr>
        <p:txBody>
          <a:bodyPr wrap="square">
            <a:spAutoFit/>
          </a:bodyPr>
          <a:lstStyle/>
          <a:p>
            <a:r>
              <a:rPr lang="pt-BR" sz="1200" dirty="0"/>
              <a:t>8.1 Geralmente os contatos apresentam estas codificações : 27, 21 ou 17, 24 ou  29, 35 ou  P, N</a:t>
            </a:r>
          </a:p>
        </p:txBody>
      </p:sp>
      <p:pic>
        <p:nvPicPr>
          <p:cNvPr id="48" name="Imagem 47" descr="IMG-20160803-WA0013.jpg"/>
          <p:cNvPicPr>
            <a:picLocks noChangeAspect="1"/>
          </p:cNvPicPr>
          <p:nvPr userDrawn="1"/>
        </p:nvPicPr>
        <p:blipFill>
          <a:blip r:embed="rId2" cstate="print"/>
          <a:stretch>
            <a:fillRect/>
          </a:stretch>
        </p:blipFill>
        <p:spPr>
          <a:xfrm>
            <a:off x="146885" y="4511025"/>
            <a:ext cx="2799655" cy="1728192"/>
          </a:xfrm>
          <a:prstGeom prst="rect">
            <a:avLst/>
          </a:prstGeom>
        </p:spPr>
      </p:pic>
      <p:sp>
        <p:nvSpPr>
          <p:cNvPr id="51" name="Retângulo 50"/>
          <p:cNvSpPr/>
          <p:nvPr userDrawn="1"/>
        </p:nvSpPr>
        <p:spPr>
          <a:xfrm>
            <a:off x="3140969" y="4532434"/>
            <a:ext cx="3456384" cy="1706783"/>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2" name="Rectangle 2"/>
          <p:cNvSpPr>
            <a:spLocks noChangeArrowheads="1"/>
          </p:cNvSpPr>
          <p:nvPr userDrawn="1"/>
        </p:nvSpPr>
        <p:spPr bwMode="auto">
          <a:xfrm>
            <a:off x="3125729" y="6239217"/>
            <a:ext cx="3549305" cy="276999"/>
          </a:xfrm>
          <a:prstGeom prst="rect">
            <a:avLst/>
          </a:prstGeom>
          <a:noFill/>
          <a:ln w="9525" algn="ctr">
            <a:noFill/>
            <a:miter lim="800000"/>
            <a:headEnd/>
            <a:tailEnd/>
          </a:ln>
        </p:spPr>
        <p:txBody>
          <a:bodyPr wrap="none">
            <a:spAutoFit/>
          </a:bodyPr>
          <a:lstStyle/>
          <a:p>
            <a:r>
              <a:rPr lang="pt-BR" sz="1200" dirty="0"/>
              <a:t>Insira</a:t>
            </a:r>
            <a:r>
              <a:rPr lang="pt-BR" sz="1200" baseline="0" dirty="0"/>
              <a:t> fotos com as medições (placa da condensadora)</a:t>
            </a:r>
            <a:endParaRPr lang="pt-BR" sz="1200" dirty="0"/>
          </a:p>
        </p:txBody>
      </p:sp>
      <p:sp>
        <p:nvSpPr>
          <p:cNvPr id="57" name="Retângulo 56"/>
          <p:cNvSpPr/>
          <p:nvPr userDrawn="1"/>
        </p:nvSpPr>
        <p:spPr>
          <a:xfrm>
            <a:off x="309209" y="1259632"/>
            <a:ext cx="3195985" cy="338554"/>
          </a:xfrm>
          <a:prstGeom prst="rect">
            <a:avLst/>
          </a:prstGeom>
        </p:spPr>
        <p:txBody>
          <a:bodyPr wrap="square">
            <a:spAutoFit/>
          </a:bodyPr>
          <a:lstStyle/>
          <a:p>
            <a:r>
              <a:rPr lang="pt-BR" altLang="ko-KR" sz="800" dirty="0">
                <a:solidFill>
                  <a:srgbClr val="FF0000"/>
                </a:solidFill>
              </a:rPr>
              <a:t>Os números “27” e “21” são referências do Multi Split Inverter, em outros modelos aparecerá como “P” e “N”.</a:t>
            </a:r>
            <a:endParaRPr lang="pt-BR" sz="800" dirty="0"/>
          </a:p>
        </p:txBody>
      </p:sp>
      <p:pic>
        <p:nvPicPr>
          <p:cNvPr id="62" name="Picture 6"/>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24566" y="1598186"/>
            <a:ext cx="2414588" cy="8310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3" name="Rectangle 7"/>
          <p:cNvSpPr>
            <a:spLocks noChangeArrowheads="1"/>
          </p:cNvSpPr>
          <p:nvPr userDrawn="1"/>
        </p:nvSpPr>
        <p:spPr bwMode="auto">
          <a:xfrm>
            <a:off x="3010451" y="1598653"/>
            <a:ext cx="3505246" cy="507821"/>
          </a:xfrm>
          <a:prstGeom prst="rect">
            <a:avLst/>
          </a:prstGeom>
          <a:noFill/>
          <a:ln w="9525">
            <a:noFill/>
            <a:miter lim="800000"/>
            <a:headEnd/>
            <a:tailEnd/>
          </a:ln>
        </p:spPr>
        <p:txBody>
          <a:bodyPr wrap="square" lIns="91431" tIns="45715" rIns="91431" bIns="45715">
            <a:spAutoFit/>
          </a:bodyPr>
          <a:lstStyle/>
          <a:p>
            <a:pPr algn="just"/>
            <a:r>
              <a:rPr lang="pt-BR" sz="900" dirty="0">
                <a:solidFill>
                  <a:schemeClr val="tx1"/>
                </a:solidFill>
              </a:rPr>
              <a:t>Na leitura da </a:t>
            </a:r>
            <a:r>
              <a:rPr lang="pt-BR" sz="900" b="1" dirty="0">
                <a:solidFill>
                  <a:schemeClr val="tx1"/>
                </a:solidFill>
              </a:rPr>
              <a:t>tensão da placa para o compressor</a:t>
            </a:r>
            <a:r>
              <a:rPr lang="pt-BR" sz="900" dirty="0">
                <a:solidFill>
                  <a:schemeClr val="tx1"/>
                </a:solidFill>
              </a:rPr>
              <a:t>, medir a voltagem entre </a:t>
            </a:r>
            <a:r>
              <a:rPr lang="pt-BR" sz="900" dirty="0">
                <a:solidFill>
                  <a:srgbClr val="FF0000"/>
                </a:solidFill>
              </a:rPr>
              <a:t>27</a:t>
            </a:r>
            <a:r>
              <a:rPr lang="pt-BR" sz="900" dirty="0">
                <a:solidFill>
                  <a:schemeClr val="tx1"/>
                </a:solidFill>
              </a:rPr>
              <a:t> e </a:t>
            </a:r>
            <a:r>
              <a:rPr lang="pt-BR" sz="900" dirty="0">
                <a:solidFill>
                  <a:srgbClr val="FF0000"/>
                </a:solidFill>
              </a:rPr>
              <a:t>21</a:t>
            </a:r>
            <a:r>
              <a:rPr lang="pt-BR" sz="900" dirty="0">
                <a:solidFill>
                  <a:schemeClr val="tx1"/>
                </a:solidFill>
              </a:rPr>
              <a:t>, devendo encontrar o valor de tensão entre 290 e 310 DCV.</a:t>
            </a:r>
          </a:p>
        </p:txBody>
      </p:sp>
      <p:sp>
        <p:nvSpPr>
          <p:cNvPr id="25"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3/4</a:t>
            </a:r>
            <a:endParaRPr lang="en-US" sz="1200" dirty="0">
              <a:effectLst/>
              <a:latin typeface="Times New Roman"/>
              <a:ea typeface="Times New Roman"/>
            </a:endParaRPr>
          </a:p>
        </p:txBody>
      </p:sp>
      <p:sp>
        <p:nvSpPr>
          <p:cNvPr id="28" name="CaixaDeTexto 27"/>
          <p:cNvSpPr txBox="1"/>
          <p:nvPr userDrawn="1"/>
        </p:nvSpPr>
        <p:spPr>
          <a:xfrm>
            <a:off x="162610" y="6444208"/>
            <a:ext cx="4534768" cy="276999"/>
          </a:xfrm>
          <a:prstGeom prst="rect">
            <a:avLst/>
          </a:prstGeom>
          <a:noFill/>
          <a:ln>
            <a:noFill/>
          </a:ln>
        </p:spPr>
        <p:txBody>
          <a:bodyPr wrap="none" rtlCol="0">
            <a:spAutoFit/>
          </a:bodyPr>
          <a:lstStyle/>
          <a:p>
            <a:r>
              <a:rPr lang="pt-BR" sz="1200" b="0" baseline="0" dirty="0"/>
              <a:t>8.2 Mostre o teste de IPM IGBT para placa da unidade condensadora</a:t>
            </a:r>
            <a:endParaRPr lang="en-US" sz="1200" b="0" dirty="0"/>
          </a:p>
        </p:txBody>
      </p:sp>
      <p:sp>
        <p:nvSpPr>
          <p:cNvPr id="29" name="Retângulo 28"/>
          <p:cNvSpPr/>
          <p:nvPr userDrawn="1"/>
        </p:nvSpPr>
        <p:spPr>
          <a:xfrm>
            <a:off x="3091723" y="6919968"/>
            <a:ext cx="3414297" cy="1762837"/>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CaixaDeTexto 29"/>
          <p:cNvSpPr txBox="1"/>
          <p:nvPr userDrawn="1"/>
        </p:nvSpPr>
        <p:spPr>
          <a:xfrm>
            <a:off x="3573016" y="6726470"/>
            <a:ext cx="2481750" cy="215444"/>
          </a:xfrm>
          <a:prstGeom prst="rect">
            <a:avLst/>
          </a:prstGeom>
          <a:noFill/>
          <a:ln>
            <a:noFill/>
          </a:ln>
        </p:spPr>
        <p:txBody>
          <a:bodyPr wrap="square" rtlCol="0">
            <a:spAutoFit/>
          </a:bodyPr>
          <a:lstStyle/>
          <a:p>
            <a:pPr algn="ctr"/>
            <a:r>
              <a:rPr lang="pt-BR" sz="800" b="1" baseline="0" dirty="0"/>
              <a:t>Foto do  teste realizado somente para placa da ODU </a:t>
            </a:r>
            <a:endParaRPr lang="en-US" sz="800" b="1" dirty="0"/>
          </a:p>
        </p:txBody>
      </p:sp>
      <p:pic>
        <p:nvPicPr>
          <p:cNvPr id="31" name="Imagem 30"/>
          <p:cNvPicPr>
            <a:picLocks noChangeAspect="1"/>
          </p:cNvPicPr>
          <p:nvPr userDrawn="1"/>
        </p:nvPicPr>
        <p:blipFill>
          <a:blip r:embed="rId4"/>
          <a:stretch>
            <a:fillRect/>
          </a:stretch>
        </p:blipFill>
        <p:spPr>
          <a:xfrm>
            <a:off x="265937" y="6799565"/>
            <a:ext cx="2680603" cy="1883240"/>
          </a:xfrm>
          <a:prstGeom prst="rect">
            <a:avLst/>
          </a:prstGeom>
        </p:spPr>
      </p:pic>
      <p:pic>
        <p:nvPicPr>
          <p:cNvPr id="33" name="Picture 5"/>
          <p:cNvPicPr>
            <a:picLocks noChangeAspect="1" noChangeArrowheads="1"/>
          </p:cNvPicPr>
          <p:nvPr userDrawn="1"/>
        </p:nvPicPr>
        <p:blipFill rotWithShape="1">
          <a:blip r:embed="rId5" cstate="print">
            <a:extLst>
              <a:ext uri="{28A0092B-C50C-407E-A947-70E740481C1C}">
                <a14:useLocalDpi xmlns:a14="http://schemas.microsoft.com/office/drawing/2010/main" val="0"/>
              </a:ext>
            </a:extLst>
          </a:blip>
          <a:srcRect r="24259"/>
          <a:stretch/>
        </p:blipFill>
        <p:spPr bwMode="auto">
          <a:xfrm>
            <a:off x="188640" y="2607927"/>
            <a:ext cx="1152128" cy="12582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CaixaDeTexto 33"/>
          <p:cNvSpPr txBox="1"/>
          <p:nvPr userDrawn="1"/>
        </p:nvSpPr>
        <p:spPr>
          <a:xfrm>
            <a:off x="1349187" y="2555776"/>
            <a:ext cx="2160240" cy="830997"/>
          </a:xfrm>
          <a:prstGeom prst="rect">
            <a:avLst/>
          </a:prstGeom>
          <a:noFill/>
          <a:ln>
            <a:noFill/>
          </a:ln>
        </p:spPr>
        <p:txBody>
          <a:bodyPr wrap="square" rtlCol="0">
            <a:spAutoFit/>
          </a:bodyPr>
          <a:lstStyle/>
          <a:p>
            <a:pPr algn="just"/>
            <a:r>
              <a:rPr lang="pt-BR" sz="800" b="1" dirty="0">
                <a:ea typeface="Verdana" pitchFamily="34" charset="0"/>
                <a:cs typeface="Arial" pitchFamily="34" charset="0"/>
              </a:rPr>
              <a:t>Local: </a:t>
            </a:r>
            <a:r>
              <a:rPr lang="pt-BR" sz="800" b="0" dirty="0">
                <a:ea typeface="Verdana" pitchFamily="34" charset="0"/>
                <a:cs typeface="Arial" pitchFamily="34" charset="0"/>
              </a:rPr>
              <a:t>P</a:t>
            </a:r>
            <a:r>
              <a:rPr lang="pt-BR" sz="800" dirty="0">
                <a:ea typeface="Verdana" pitchFamily="34" charset="0"/>
                <a:cs typeface="Arial" pitchFamily="34" charset="0"/>
              </a:rPr>
              <a:t>laca eletrônica, nas extremidades do cabeamento de</a:t>
            </a:r>
            <a:r>
              <a:rPr lang="pt-BR" sz="800" baseline="0" dirty="0">
                <a:ea typeface="Verdana" pitchFamily="34" charset="0"/>
                <a:cs typeface="Arial" pitchFamily="34" charset="0"/>
              </a:rPr>
              <a:t> alimentação </a:t>
            </a:r>
            <a:r>
              <a:rPr lang="pt-BR" sz="800" dirty="0">
                <a:ea typeface="Verdana" pitchFamily="34" charset="0"/>
                <a:cs typeface="Arial" pitchFamily="34" charset="0"/>
              </a:rPr>
              <a:t>do compressor.</a:t>
            </a:r>
          </a:p>
          <a:p>
            <a:pPr algn="just"/>
            <a:endParaRPr lang="pt-BR" sz="800" dirty="0">
              <a:ea typeface="Verdana" pitchFamily="34" charset="0"/>
              <a:cs typeface="Arial" pitchFamily="34" charset="0"/>
            </a:endParaRPr>
          </a:p>
          <a:p>
            <a:pPr algn="just"/>
            <a:r>
              <a:rPr lang="pt-BR" sz="800" dirty="0">
                <a:ea typeface="Verdana" pitchFamily="34" charset="0"/>
                <a:cs typeface="Arial" pitchFamily="34" charset="0"/>
              </a:rPr>
              <a:t>Escala do multímetro = 1.000 DCV</a:t>
            </a:r>
          </a:p>
          <a:p>
            <a:pPr algn="just"/>
            <a:r>
              <a:rPr lang="pt-BR" sz="800" dirty="0">
                <a:ea typeface="Verdana" pitchFamily="34" charset="0"/>
                <a:cs typeface="Arial" pitchFamily="34" charset="0"/>
              </a:rPr>
              <a:t>devemos encontrar uma variação de 290 até 310 DCV, dependendo do modelo.</a:t>
            </a:r>
          </a:p>
        </p:txBody>
      </p:sp>
      <p:grpSp>
        <p:nvGrpSpPr>
          <p:cNvPr id="35" name="Grupo 13"/>
          <p:cNvGrpSpPr/>
          <p:nvPr userDrawn="1"/>
        </p:nvGrpSpPr>
        <p:grpSpPr>
          <a:xfrm>
            <a:off x="3520310" y="2586287"/>
            <a:ext cx="3077040" cy="905623"/>
            <a:chOff x="-88542" y="5970094"/>
            <a:chExt cx="8519030" cy="358344"/>
          </a:xfrm>
        </p:grpSpPr>
        <p:sp>
          <p:nvSpPr>
            <p:cNvPr id="36" name="Text Box 237"/>
            <p:cNvSpPr txBox="1">
              <a:spLocks noChangeArrowheads="1"/>
            </p:cNvSpPr>
            <p:nvPr/>
          </p:nvSpPr>
          <p:spPr bwMode="auto">
            <a:xfrm>
              <a:off x="1560216" y="5985221"/>
              <a:ext cx="6870272" cy="343208"/>
            </a:xfrm>
            <a:prstGeom prst="rect">
              <a:avLst/>
            </a:prstGeom>
            <a:solidFill>
              <a:srgbClr val="FFFF00"/>
            </a:solidFill>
            <a:ln w="9525" algn="ctr">
              <a:noFill/>
              <a:miter lim="800000"/>
              <a:headEnd/>
              <a:tailEnd/>
            </a:ln>
          </p:spPr>
          <p:txBody>
            <a:bodyPr wrap="square">
              <a:spAutoFit/>
            </a:bodyPr>
            <a:lstStyle/>
            <a:p>
              <a:pPr algn="just" fontAlgn="auto" latinLnBrk="1">
                <a:spcBef>
                  <a:spcPts val="0"/>
                </a:spcBef>
                <a:spcAft>
                  <a:spcPts val="0"/>
                </a:spcAft>
                <a:defRPr/>
              </a:pPr>
              <a:r>
                <a:rPr lang="pt-BR" altLang="ko-KR" sz="800" dirty="0">
                  <a:solidFill>
                    <a:srgbClr val="FF0000"/>
                  </a:solidFill>
                </a:rPr>
                <a:t>Antes de condenar uma placa, efetue o reset para que a energização da placa volte ao normal e você consiga fazer os testes adequadamente.</a:t>
              </a:r>
            </a:p>
            <a:p>
              <a:pPr algn="just" fontAlgn="auto" latinLnBrk="1">
                <a:spcBef>
                  <a:spcPts val="0"/>
                </a:spcBef>
                <a:spcAft>
                  <a:spcPts val="0"/>
                </a:spcAft>
                <a:defRPr/>
              </a:pPr>
              <a:r>
                <a:rPr lang="pt-BR" altLang="ko-KR" sz="800" dirty="0">
                  <a:solidFill>
                    <a:srgbClr val="FF0000"/>
                  </a:solidFill>
                </a:rPr>
                <a:t>Se preocupe com a qualidade dos instrumentos adquiridos e use sempre baterias novas.</a:t>
              </a:r>
            </a:p>
            <a:p>
              <a:pPr algn="just" fontAlgn="auto" latinLnBrk="1">
                <a:spcBef>
                  <a:spcPts val="0"/>
                </a:spcBef>
                <a:spcAft>
                  <a:spcPts val="0"/>
                </a:spcAft>
                <a:defRPr/>
              </a:pPr>
              <a:r>
                <a:rPr lang="pt-BR" altLang="ko-KR" sz="800" dirty="0">
                  <a:solidFill>
                    <a:srgbClr val="FF0000"/>
                  </a:solidFill>
                </a:rPr>
                <a:t>Caso tenha dificuldades de manusear os instrumentos de medição adquira modelos de escala automática.</a:t>
              </a:r>
            </a:p>
          </p:txBody>
        </p:sp>
        <p:sp>
          <p:nvSpPr>
            <p:cNvPr id="37" name="Rectangle 238"/>
            <p:cNvSpPr>
              <a:spLocks noChangeArrowheads="1"/>
            </p:cNvSpPr>
            <p:nvPr/>
          </p:nvSpPr>
          <p:spPr bwMode="auto">
            <a:xfrm>
              <a:off x="-78849" y="5970094"/>
              <a:ext cx="1586324" cy="358335"/>
            </a:xfrm>
            <a:prstGeom prst="rect">
              <a:avLst/>
            </a:prstGeom>
            <a:solidFill>
              <a:srgbClr val="FF0000"/>
            </a:solidFill>
            <a:ln w="9525" algn="ctr">
              <a:solidFill>
                <a:srgbClr val="FF0000"/>
              </a:solidFill>
              <a:miter lim="800000"/>
              <a:headEnd/>
              <a:tailEnd/>
            </a:ln>
          </p:spPr>
          <p:txBody>
            <a:bodyPr wrap="none" anchor="ctr"/>
            <a:lstStyle/>
            <a:p>
              <a:pPr>
                <a:spcBef>
                  <a:spcPct val="50000"/>
                </a:spcBef>
              </a:pPr>
              <a:r>
                <a:rPr lang="en-US" altLang="ko-KR" sz="800" b="1" dirty="0">
                  <a:solidFill>
                    <a:schemeClr val="bg1"/>
                  </a:solidFill>
                  <a:ea typeface="HY헤드라인M"/>
                  <a:cs typeface="HY헤드라인M"/>
                </a:rPr>
                <a:t>ATENÇÃO</a:t>
              </a:r>
            </a:p>
          </p:txBody>
        </p:sp>
        <p:sp>
          <p:nvSpPr>
            <p:cNvPr id="38" name="Rectangle 239"/>
            <p:cNvSpPr>
              <a:spLocks noChangeArrowheads="1"/>
            </p:cNvSpPr>
            <p:nvPr/>
          </p:nvSpPr>
          <p:spPr bwMode="auto">
            <a:xfrm>
              <a:off x="-88542" y="5974715"/>
              <a:ext cx="8519030" cy="353723"/>
            </a:xfrm>
            <a:prstGeom prst="rect">
              <a:avLst/>
            </a:prstGeom>
            <a:noFill/>
            <a:ln w="9525" algn="ctr">
              <a:solidFill>
                <a:srgbClr val="FF0000"/>
              </a:solidFill>
              <a:miter lim="800000"/>
              <a:headEnd/>
              <a:tailEnd/>
            </a:ln>
          </p:spPr>
          <p:txBody>
            <a:bodyPr wrap="none" anchor="ctr"/>
            <a:lstStyle/>
            <a:p>
              <a:endParaRPr lang="pt-BR"/>
            </a:p>
          </p:txBody>
        </p:sp>
      </p:grpSp>
      <p:sp>
        <p:nvSpPr>
          <p:cNvPr id="39" name="Rectangle 2"/>
          <p:cNvSpPr>
            <a:spLocks noChangeArrowheads="1"/>
          </p:cNvSpPr>
          <p:nvPr userDrawn="1"/>
        </p:nvSpPr>
        <p:spPr bwMode="auto">
          <a:xfrm>
            <a:off x="1340768" y="3635896"/>
            <a:ext cx="4392488" cy="276999"/>
          </a:xfrm>
          <a:prstGeom prst="rect">
            <a:avLst/>
          </a:prstGeom>
          <a:noFill/>
          <a:ln w="9525" algn="ctr">
            <a:noFill/>
            <a:miter lim="800000"/>
            <a:headEnd/>
            <a:tailEnd/>
          </a:ln>
        </p:spPr>
        <p:txBody>
          <a:bodyPr wrap="square">
            <a:spAutoFit/>
          </a:bodyPr>
          <a:lstStyle/>
          <a:p>
            <a:r>
              <a:rPr lang="pt-BR" sz="1200" b="1" dirty="0">
                <a:solidFill>
                  <a:srgbClr val="FF0000"/>
                </a:solidFill>
              </a:rPr>
              <a:t>Realizar a</a:t>
            </a:r>
            <a:r>
              <a:rPr lang="pt-BR" sz="1200" b="1" baseline="0" dirty="0">
                <a:solidFill>
                  <a:srgbClr val="FF0000"/>
                </a:solidFill>
              </a:rPr>
              <a:t> leitura com o equipamento desligado porem energizado</a:t>
            </a:r>
            <a:endParaRPr lang="pt-BR" sz="1200" b="1" dirty="0">
              <a:solidFill>
                <a:srgbClr val="FF0000"/>
              </a:solidFill>
            </a:endParaRPr>
          </a:p>
        </p:txBody>
      </p:sp>
    </p:spTree>
    <p:extLst>
      <p:ext uri="{BB962C8B-B14F-4D97-AF65-F5344CB8AC3E}">
        <p14:creationId xmlns:p14="http://schemas.microsoft.com/office/powerpoint/2010/main" val="136526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sp>
        <p:nvSpPr>
          <p:cNvPr id="3" name="CaixaDeTexto 2"/>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graphicFrame>
        <p:nvGraphicFramePr>
          <p:cNvPr id="4" name="Tabela 3"/>
          <p:cNvGraphicFramePr>
            <a:graphicFrameLocks noGrp="1"/>
          </p:cNvGraphicFramePr>
          <p:nvPr userDrawn="1">
            <p:extLst>
              <p:ext uri="{D42A27DB-BD31-4B8C-83A1-F6EECF244321}">
                <p14:modId xmlns:p14="http://schemas.microsoft.com/office/powerpoint/2010/main" val="4050806905"/>
              </p:ext>
            </p:extLst>
          </p:nvPr>
        </p:nvGraphicFramePr>
        <p:xfrm>
          <a:off x="259262" y="6193873"/>
          <a:ext cx="6368921" cy="467914"/>
        </p:xfrm>
        <a:graphic>
          <a:graphicData uri="http://schemas.openxmlformats.org/drawingml/2006/table">
            <a:tbl>
              <a:tblPr firstRow="1" firstCol="1" bandRow="1">
                <a:tableStyleId>{5C22544A-7EE6-4342-B048-85BDC9FD1C3A}</a:tableStyleId>
              </a:tblPr>
              <a:tblGrid>
                <a:gridCol w="746242">
                  <a:extLst>
                    <a:ext uri="{9D8B030D-6E8A-4147-A177-3AD203B41FA5}">
                      <a16:colId xmlns:a16="http://schemas.microsoft.com/office/drawing/2014/main" val="20000"/>
                    </a:ext>
                  </a:extLst>
                </a:gridCol>
                <a:gridCol w="800946">
                  <a:extLst>
                    <a:ext uri="{9D8B030D-6E8A-4147-A177-3AD203B41FA5}">
                      <a16:colId xmlns:a16="http://schemas.microsoft.com/office/drawing/2014/main" val="20001"/>
                    </a:ext>
                  </a:extLst>
                </a:gridCol>
                <a:gridCol w="918680">
                  <a:extLst>
                    <a:ext uri="{9D8B030D-6E8A-4147-A177-3AD203B41FA5}">
                      <a16:colId xmlns:a16="http://schemas.microsoft.com/office/drawing/2014/main" val="20002"/>
                    </a:ext>
                  </a:extLst>
                </a:gridCol>
                <a:gridCol w="892517">
                  <a:extLst>
                    <a:ext uri="{9D8B030D-6E8A-4147-A177-3AD203B41FA5}">
                      <a16:colId xmlns:a16="http://schemas.microsoft.com/office/drawing/2014/main" val="20003"/>
                    </a:ext>
                  </a:extLst>
                </a:gridCol>
                <a:gridCol w="1105984">
                  <a:extLst>
                    <a:ext uri="{9D8B030D-6E8A-4147-A177-3AD203B41FA5}">
                      <a16:colId xmlns:a16="http://schemas.microsoft.com/office/drawing/2014/main" val="20004"/>
                    </a:ext>
                  </a:extLst>
                </a:gridCol>
                <a:gridCol w="1904552">
                  <a:extLst>
                    <a:ext uri="{9D8B030D-6E8A-4147-A177-3AD203B41FA5}">
                      <a16:colId xmlns:a16="http://schemas.microsoft.com/office/drawing/2014/main" val="20005"/>
                    </a:ext>
                  </a:extLst>
                </a:gridCol>
              </a:tblGrid>
              <a:tr h="233957">
                <a:tc>
                  <a:txBody>
                    <a:bodyPr/>
                    <a:lstStyle/>
                    <a:p>
                      <a:pPr algn="ctr">
                        <a:lnSpc>
                          <a:spcPct val="115000"/>
                        </a:lnSpc>
                        <a:spcAft>
                          <a:spcPts val="0"/>
                        </a:spcAft>
                      </a:pPr>
                      <a:r>
                        <a:rPr lang="pt-BR" sz="1000" dirty="0">
                          <a:effectLst/>
                        </a:rPr>
                        <a:t>Revisão</a:t>
                      </a:r>
                      <a:endParaRPr lang="en-US" sz="1000" dirty="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Data</a:t>
                      </a:r>
                      <a:endParaRPr lang="en-US" sz="1000" dirty="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a:effectLst/>
                        </a:rPr>
                        <a:t>Elaborado</a:t>
                      </a:r>
                      <a:endParaRPr lang="en-US" sz="100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a:effectLst/>
                        </a:rPr>
                        <a:t>Revisado</a:t>
                      </a:r>
                      <a:endParaRPr lang="en-US" sz="100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a:effectLst/>
                        </a:rPr>
                        <a:t>Aprovado</a:t>
                      </a:r>
                      <a:endParaRPr lang="en-US" sz="100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Descrição da Alteração</a:t>
                      </a:r>
                      <a:endParaRPr lang="en-US" sz="1000" dirty="0">
                        <a:effectLst/>
                        <a:latin typeface="Calibri"/>
                        <a:ea typeface="Calibri"/>
                        <a:cs typeface="Times New Roman"/>
                      </a:endParaRPr>
                    </a:p>
                  </a:txBody>
                  <a:tcPr marL="40337" marR="40337" marT="0" marB="0" anchor="ctr">
                    <a:solidFill>
                      <a:srgbClr val="C00000"/>
                    </a:solidFill>
                  </a:tcPr>
                </a:tc>
                <a:extLst>
                  <a:ext uri="{0D108BD9-81ED-4DB2-BD59-A6C34878D82A}">
                    <a16:rowId xmlns:a16="http://schemas.microsoft.com/office/drawing/2014/main" val="10000"/>
                  </a:ext>
                </a:extLst>
              </a:tr>
              <a:tr h="233957">
                <a:tc>
                  <a:txBody>
                    <a:bodyPr/>
                    <a:lstStyle/>
                    <a:p>
                      <a:pPr algn="ctr">
                        <a:lnSpc>
                          <a:spcPct val="115000"/>
                        </a:lnSpc>
                        <a:spcAft>
                          <a:spcPts val="0"/>
                        </a:spcAft>
                      </a:pPr>
                      <a:r>
                        <a:rPr lang="pt-BR" sz="1000" dirty="0">
                          <a:effectLst/>
                        </a:rPr>
                        <a:t>01</a:t>
                      </a:r>
                      <a:endParaRPr lang="en-US" sz="1000" dirty="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05/07/2020</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rPr>
                        <a:t>Pedro Pasinato</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latin typeface="+mn-lt"/>
                          <a:ea typeface="+mn-ea"/>
                          <a:cs typeface="+mn-cs"/>
                        </a:rPr>
                        <a:t>Carlos</a:t>
                      </a:r>
                      <a:r>
                        <a:rPr lang="pt-BR" sz="1000" baseline="0" dirty="0">
                          <a:effectLst/>
                          <a:latin typeface="+mn-lt"/>
                          <a:ea typeface="+mn-ea"/>
                          <a:cs typeface="+mn-cs"/>
                        </a:rPr>
                        <a:t> Jesus</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rPr>
                        <a:t>Alexandre Souza</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rPr>
                        <a:t>Orientação para testes</a:t>
                      </a:r>
                      <a:endParaRPr lang="en-US" sz="1000" dirty="0">
                        <a:effectLst/>
                        <a:latin typeface="Calibri"/>
                        <a:ea typeface="Calibri"/>
                        <a:cs typeface="Times New Roman"/>
                      </a:endParaRPr>
                    </a:p>
                  </a:txBody>
                  <a:tcPr marL="40337" marR="40337" marT="0" marB="0" anchor="ctr">
                    <a:noFill/>
                  </a:tcPr>
                </a:tc>
                <a:extLst>
                  <a:ext uri="{0D108BD9-81ED-4DB2-BD59-A6C34878D82A}">
                    <a16:rowId xmlns:a16="http://schemas.microsoft.com/office/drawing/2014/main" val="10001"/>
                  </a:ext>
                </a:extLst>
              </a:tr>
            </a:tbl>
          </a:graphicData>
        </a:graphic>
      </p:graphicFrame>
      <p:sp>
        <p:nvSpPr>
          <p:cNvPr id="5" name="Retângulo de cantos arredondados 4"/>
          <p:cNvSpPr>
            <a:spLocks noChangeArrowheads="1"/>
          </p:cNvSpPr>
          <p:nvPr userDrawn="1"/>
        </p:nvSpPr>
        <p:spPr bwMode="auto">
          <a:xfrm>
            <a:off x="404664" y="6732240"/>
            <a:ext cx="6224905" cy="1867535"/>
          </a:xfrm>
          <a:prstGeom prst="roundRect">
            <a:avLst>
              <a:gd name="adj" fmla="val 16667"/>
            </a:avLst>
          </a:prstGeom>
          <a:noFill/>
          <a:ln w="9525" algn="in">
            <a:solidFill>
              <a:srgbClr val="0C0C0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rot="0" vert="horz" wrap="square" lIns="36576" tIns="36576" rIns="36576" bIns="36576" anchor="t" anchorCtr="0" upright="1">
            <a:noAutofit/>
          </a:bodyPr>
          <a:lstStyle/>
          <a:p>
            <a:pPr>
              <a:lnSpc>
                <a:spcPct val="115000"/>
              </a:lnSpc>
              <a:spcAft>
                <a:spcPts val="1000"/>
              </a:spcAft>
            </a:pPr>
            <a:r>
              <a:rPr lang="pt-BR" sz="800" dirty="0">
                <a:effectLst/>
                <a:latin typeface="Arial"/>
                <a:ea typeface="Calibri"/>
                <a:cs typeface="Times New Roman"/>
              </a:rPr>
              <a:t>Copyright © 2021 por LG Electronics do Brasil Ltda.</a:t>
            </a:r>
            <a:endParaRPr lang="en-US" sz="1100" dirty="0">
              <a:effectLst/>
              <a:latin typeface="Calibri"/>
              <a:ea typeface="Calibri"/>
              <a:cs typeface="Times New Roman"/>
            </a:endParaRPr>
          </a:p>
          <a:p>
            <a:pPr>
              <a:lnSpc>
                <a:spcPct val="115000"/>
              </a:lnSpc>
              <a:spcAft>
                <a:spcPts val="1000"/>
              </a:spcAft>
            </a:pPr>
            <a:r>
              <a:rPr lang="pt-BR" sz="800" dirty="0">
                <a:effectLst/>
                <a:latin typeface="Arial"/>
                <a:ea typeface="Calibri"/>
                <a:cs typeface="Times New Roman"/>
              </a:rPr>
              <a:t> </a:t>
            </a:r>
            <a:endParaRPr lang="en-US" sz="1100" dirty="0">
              <a:effectLst/>
              <a:latin typeface="Calibri"/>
              <a:ea typeface="Calibri"/>
              <a:cs typeface="Times New Roman"/>
            </a:endParaRPr>
          </a:p>
          <a:p>
            <a:pPr>
              <a:lnSpc>
                <a:spcPct val="115000"/>
              </a:lnSpc>
              <a:spcAft>
                <a:spcPts val="1000"/>
              </a:spcAft>
            </a:pPr>
            <a:r>
              <a:rPr lang="pt-BR" sz="800" dirty="0">
                <a:effectLst/>
                <a:latin typeface="Arial"/>
                <a:ea typeface="Calibri"/>
                <a:cs typeface="Times New Roman"/>
              </a:rPr>
              <a:t>Todos os direitos reservados. Nenhuma parte deste documento pode ser reproduzida, por qualquer processo ou técnica, traduzido ou convertido em qualquer forma eletrônica, ou legível por qualquer meio, em parte ou no todo, sem a aprovação prévia, por escrito, sem o expresso consentimento por escrito da LG Electronics do Brasil Ltda., estando o contrafator sujeito a responder por crime de Violação de Direito Autoral, conforme o art.184 do Código Penal Brasileiro, além de responder por Perdas e Danos. Todos os logotipos e marcas utilizados neste material pertencem às suas respectivas empresas.</a:t>
            </a:r>
            <a:endParaRPr lang="en-US" sz="1100" dirty="0">
              <a:effectLst/>
              <a:latin typeface="Calibri"/>
              <a:ea typeface="Calibri"/>
              <a:cs typeface="Times New Roman"/>
            </a:endParaRPr>
          </a:p>
          <a:p>
            <a:pPr>
              <a:lnSpc>
                <a:spcPct val="115000"/>
              </a:lnSpc>
              <a:spcAft>
                <a:spcPts val="1000"/>
              </a:spcAft>
            </a:pPr>
            <a:r>
              <a:rPr lang="pt-BR" sz="800" i="1" dirty="0">
                <a:effectLst/>
                <a:latin typeface="Arial"/>
                <a:ea typeface="Calibri"/>
                <a:cs typeface="Times New Roman"/>
              </a:rPr>
              <a:t>“As marcas registradas e os nomes comerciais citados nesta obra, mesmo que não sejam assim identificados, pertencem aos seus respectivos proprietários nos termos das leis, convenções e diretrizes nacionais e internacionais.”</a:t>
            </a:r>
            <a:endParaRPr lang="en-US" sz="1100" dirty="0">
              <a:effectLst/>
              <a:latin typeface="Calibri"/>
              <a:ea typeface="Calibri"/>
              <a:cs typeface="Times New Roman"/>
            </a:endParaRPr>
          </a:p>
        </p:txBody>
      </p:sp>
      <p:sp>
        <p:nvSpPr>
          <p:cNvPr id="6" name="Retângulo 5"/>
          <p:cNvSpPr/>
          <p:nvPr userDrawn="1"/>
        </p:nvSpPr>
        <p:spPr>
          <a:xfrm>
            <a:off x="260649" y="1619672"/>
            <a:ext cx="3184460" cy="45365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ixaDeTexto 6"/>
          <p:cNvSpPr txBox="1"/>
          <p:nvPr userDrawn="1"/>
        </p:nvSpPr>
        <p:spPr>
          <a:xfrm>
            <a:off x="260649" y="1311895"/>
            <a:ext cx="2592826" cy="307777"/>
          </a:xfrm>
          <a:prstGeom prst="rect">
            <a:avLst/>
          </a:prstGeom>
          <a:noFill/>
        </p:spPr>
        <p:txBody>
          <a:bodyPr wrap="none" rtlCol="0">
            <a:spAutoFit/>
          </a:bodyPr>
          <a:lstStyle/>
          <a:p>
            <a:r>
              <a:rPr lang="pt-BR" sz="1400" b="0" dirty="0"/>
              <a:t>9. Foto da</a:t>
            </a:r>
            <a:r>
              <a:rPr lang="pt-BR" sz="1400" b="0" baseline="0" dirty="0"/>
              <a:t> Placa – Frente e Verso </a:t>
            </a:r>
            <a:endParaRPr lang="en-US" sz="1400" b="0" dirty="0"/>
          </a:p>
        </p:txBody>
      </p:sp>
      <p:sp>
        <p:nvSpPr>
          <p:cNvPr id="8" name="Retângulo 7"/>
          <p:cNvSpPr/>
          <p:nvPr userDrawn="1"/>
        </p:nvSpPr>
        <p:spPr>
          <a:xfrm>
            <a:off x="3445109" y="1619672"/>
            <a:ext cx="3184460" cy="45365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4/4</a:t>
            </a:r>
            <a:endParaRPr lang="en-US" sz="1200" dirty="0">
              <a:effectLst/>
              <a:latin typeface="Times New Roman"/>
              <a:ea typeface="Times New Roman"/>
            </a:endParaRPr>
          </a:p>
        </p:txBody>
      </p:sp>
    </p:spTree>
    <p:extLst>
      <p:ext uri="{BB962C8B-B14F-4D97-AF65-F5344CB8AC3E}">
        <p14:creationId xmlns:p14="http://schemas.microsoft.com/office/powerpoint/2010/main" val="3036293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78" name="CaixaDeTexto 77"/>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sp>
        <p:nvSpPr>
          <p:cNvPr id="79" name="CaixaDeTexto 78"/>
          <p:cNvSpPr txBox="1"/>
          <p:nvPr userDrawn="1"/>
        </p:nvSpPr>
        <p:spPr>
          <a:xfrm>
            <a:off x="160587" y="1314934"/>
            <a:ext cx="3203890" cy="276999"/>
          </a:xfrm>
          <a:prstGeom prst="rect">
            <a:avLst/>
          </a:prstGeom>
          <a:noFill/>
          <a:ln>
            <a:noFill/>
          </a:ln>
        </p:spPr>
        <p:txBody>
          <a:bodyPr wrap="none" rtlCol="0">
            <a:spAutoFit/>
          </a:bodyPr>
          <a:lstStyle/>
          <a:p>
            <a:r>
              <a:rPr lang="pt-BR" sz="1200" b="0" baseline="0" dirty="0"/>
              <a:t>5.5. Isolamento – Padrão Recomendado pela LG </a:t>
            </a:r>
            <a:endParaRPr lang="en-US" sz="1200" b="0" dirty="0"/>
          </a:p>
        </p:txBody>
      </p:sp>
      <p:sp>
        <p:nvSpPr>
          <p:cNvPr id="80" name="Retângulo 79"/>
          <p:cNvSpPr/>
          <p:nvPr userDrawn="1"/>
        </p:nvSpPr>
        <p:spPr>
          <a:xfrm>
            <a:off x="1124744" y="1583867"/>
            <a:ext cx="3816424" cy="1518780"/>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pic>
        <p:nvPicPr>
          <p:cNvPr id="102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744" y="1583866"/>
            <a:ext cx="3816424" cy="1518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3" name="CaixaDeTexto 82"/>
          <p:cNvSpPr txBox="1"/>
          <p:nvPr userDrawn="1"/>
        </p:nvSpPr>
        <p:spPr>
          <a:xfrm>
            <a:off x="1110804" y="2771415"/>
            <a:ext cx="806028" cy="323165"/>
          </a:xfrm>
          <a:prstGeom prst="rect">
            <a:avLst/>
          </a:prstGeom>
          <a:solidFill>
            <a:schemeClr val="bg1">
              <a:lumMod val="85000"/>
            </a:schemeClr>
          </a:solidFill>
          <a:ln>
            <a:noFill/>
          </a:ln>
        </p:spPr>
        <p:txBody>
          <a:bodyPr wrap="square" lIns="36000" tIns="36000" rIns="36000" bIns="0" rtlCol="0">
            <a:spAutoFit/>
          </a:bodyPr>
          <a:lstStyle/>
          <a:p>
            <a:pPr algn="ctr"/>
            <a:r>
              <a:rPr lang="pt-BR" sz="900" b="1" baseline="0" dirty="0"/>
              <a:t>Conexão dos Cabos </a:t>
            </a:r>
            <a:endParaRPr lang="en-US" sz="900" b="1" dirty="0"/>
          </a:p>
        </p:txBody>
      </p:sp>
      <p:sp>
        <p:nvSpPr>
          <p:cNvPr id="84" name="CaixaDeTexto 83"/>
          <p:cNvSpPr txBox="1"/>
          <p:nvPr userDrawn="1"/>
        </p:nvSpPr>
        <p:spPr>
          <a:xfrm>
            <a:off x="1469368" y="1592555"/>
            <a:ext cx="1627149" cy="230832"/>
          </a:xfrm>
          <a:prstGeom prst="rect">
            <a:avLst/>
          </a:prstGeom>
          <a:solidFill>
            <a:schemeClr val="bg1">
              <a:lumMod val="85000"/>
            </a:schemeClr>
          </a:solidFill>
          <a:ln>
            <a:noFill/>
          </a:ln>
        </p:spPr>
        <p:txBody>
          <a:bodyPr wrap="square" rtlCol="0">
            <a:spAutoFit/>
          </a:bodyPr>
          <a:lstStyle/>
          <a:p>
            <a:pPr algn="ctr"/>
            <a:r>
              <a:rPr lang="pt-BR" sz="900" b="1" baseline="0" dirty="0"/>
              <a:t>Tubos Refrigerantes – LG / LL  </a:t>
            </a:r>
            <a:endParaRPr lang="en-US" sz="900" b="1" dirty="0"/>
          </a:p>
        </p:txBody>
      </p:sp>
      <p:sp>
        <p:nvSpPr>
          <p:cNvPr id="85" name="CaixaDeTexto 84"/>
          <p:cNvSpPr txBox="1"/>
          <p:nvPr userDrawn="1"/>
        </p:nvSpPr>
        <p:spPr>
          <a:xfrm>
            <a:off x="2348880" y="2709487"/>
            <a:ext cx="792087" cy="138499"/>
          </a:xfrm>
          <a:prstGeom prst="rect">
            <a:avLst/>
          </a:prstGeom>
          <a:solidFill>
            <a:schemeClr val="bg1">
              <a:lumMod val="85000"/>
            </a:schemeClr>
          </a:solidFill>
          <a:ln>
            <a:noFill/>
          </a:ln>
        </p:spPr>
        <p:txBody>
          <a:bodyPr wrap="square" lIns="36000" tIns="0" rIns="36000" bIns="0" rtlCol="0">
            <a:spAutoFit/>
          </a:bodyPr>
          <a:lstStyle/>
          <a:p>
            <a:pPr algn="ctr"/>
            <a:r>
              <a:rPr lang="pt-BR" sz="900" b="1" baseline="0" dirty="0"/>
              <a:t>Drenagem </a:t>
            </a:r>
            <a:endParaRPr lang="en-US" sz="900" b="1" dirty="0"/>
          </a:p>
        </p:txBody>
      </p:sp>
      <p:sp>
        <p:nvSpPr>
          <p:cNvPr id="86" name="CaixaDeTexto 85"/>
          <p:cNvSpPr txBox="1"/>
          <p:nvPr userDrawn="1"/>
        </p:nvSpPr>
        <p:spPr>
          <a:xfrm>
            <a:off x="206347" y="3203848"/>
            <a:ext cx="4079194" cy="276999"/>
          </a:xfrm>
          <a:prstGeom prst="rect">
            <a:avLst/>
          </a:prstGeom>
          <a:noFill/>
          <a:ln>
            <a:noFill/>
          </a:ln>
        </p:spPr>
        <p:txBody>
          <a:bodyPr wrap="none" rtlCol="0">
            <a:spAutoFit/>
          </a:bodyPr>
          <a:lstStyle/>
          <a:p>
            <a:r>
              <a:rPr lang="pt-BR" sz="1200" b="0" baseline="0" dirty="0"/>
              <a:t>5.6 Isolamento – Anexar uma foto do isolamento da tubulação </a:t>
            </a:r>
            <a:endParaRPr lang="en-US" sz="1200" b="0" dirty="0"/>
          </a:p>
        </p:txBody>
      </p:sp>
      <p:sp>
        <p:nvSpPr>
          <p:cNvPr id="82" name="Retângulo 81"/>
          <p:cNvSpPr/>
          <p:nvPr userDrawn="1"/>
        </p:nvSpPr>
        <p:spPr>
          <a:xfrm>
            <a:off x="260648" y="3480847"/>
            <a:ext cx="6408712" cy="1955249"/>
          </a:xfrm>
          <a:prstGeom prst="rect">
            <a:avLst/>
          </a:prstGeom>
          <a:noFill/>
          <a:ln w="349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8890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1/26/2023</a:t>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1283113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1/26/2023</a:t>
            </a:fld>
            <a:endParaRPr lang="en-US"/>
          </a:p>
        </p:txBody>
      </p:sp>
      <p:sp>
        <p:nvSpPr>
          <p:cNvPr id="8" name="Espaço Reservado para Rodapé 7"/>
          <p:cNvSpPr>
            <a:spLocks noGrp="1"/>
          </p:cNvSpPr>
          <p:nvPr>
            <p:ph type="ftr" sz="quarter" idx="11"/>
          </p:nvPr>
        </p:nvSpPr>
        <p:spPr>
          <a:xfrm>
            <a:off x="2343150" y="8475134"/>
            <a:ext cx="2171700" cy="486833"/>
          </a:xfrm>
          <a:prstGeom prst="rect">
            <a:avLst/>
          </a:prstGeom>
        </p:spPr>
        <p:txBody>
          <a:bodyPr/>
          <a:lstStyle/>
          <a:p>
            <a:endParaRPr lang="en-US"/>
          </a:p>
        </p:txBody>
      </p:sp>
      <p:sp>
        <p:nvSpPr>
          <p:cNvPr id="9" name="Espaço Reservado para Número de Slide 8"/>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3107099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Data 2"/>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1/26/2023</a:t>
            </a:fld>
            <a:endParaRPr lang="en-US"/>
          </a:p>
        </p:txBody>
      </p:sp>
      <p:sp>
        <p:nvSpPr>
          <p:cNvPr id="4" name="Espaço Reservado para Rodapé 3"/>
          <p:cNvSpPr>
            <a:spLocks noGrp="1"/>
          </p:cNvSpPr>
          <p:nvPr>
            <p:ph type="ftr" sz="quarter" idx="11"/>
          </p:nvPr>
        </p:nvSpPr>
        <p:spPr>
          <a:xfrm>
            <a:off x="2343150" y="8475134"/>
            <a:ext cx="2171700" cy="486833"/>
          </a:xfrm>
          <a:prstGeom prst="rect">
            <a:avLst/>
          </a:prstGeom>
        </p:spPr>
        <p:txBody>
          <a:bodyPr/>
          <a:lstStyle/>
          <a:p>
            <a:endParaRPr lang="en-US"/>
          </a:p>
        </p:txBody>
      </p:sp>
      <p:sp>
        <p:nvSpPr>
          <p:cNvPr id="5" name="Espaço Reservado para Número de Slide 4"/>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3257620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1/26/2023</a:t>
            </a:fld>
            <a:endParaRPr lang="en-US"/>
          </a:p>
        </p:txBody>
      </p:sp>
      <p:sp>
        <p:nvSpPr>
          <p:cNvPr id="3" name="Espaço Reservado para Rodapé 2"/>
          <p:cNvSpPr>
            <a:spLocks noGrp="1"/>
          </p:cNvSpPr>
          <p:nvPr>
            <p:ph type="ftr" sz="quarter" idx="11"/>
          </p:nvPr>
        </p:nvSpPr>
        <p:spPr>
          <a:xfrm>
            <a:off x="2343150" y="8475134"/>
            <a:ext cx="2171700" cy="486833"/>
          </a:xfrm>
          <a:prstGeom prst="rect">
            <a:avLst/>
          </a:prstGeom>
        </p:spPr>
        <p:txBody>
          <a:bodyPr/>
          <a:lstStyle/>
          <a:p>
            <a:endParaRPr lang="en-US"/>
          </a:p>
        </p:txBody>
      </p:sp>
      <p:sp>
        <p:nvSpPr>
          <p:cNvPr id="4" name="Espaço Reservado para Número de Slide 3"/>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3374506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4067"/>
            <a:ext cx="2256235" cy="1549400"/>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1/26/2023</a:t>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10498922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400800"/>
            <a:ext cx="4114800" cy="755651"/>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1/26/2023</a:t>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356655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1/26/2023</a:t>
            </a:fld>
            <a:endParaRPr lang="en-US"/>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2903915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185"/>
            <a:ext cx="1543050" cy="7802033"/>
          </a:xfrm>
          <a:prstGeom prst="rect">
            <a:avLst/>
          </a:prstGeo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342900" y="366185"/>
            <a:ext cx="4514850" cy="780203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1/26/2023</a:t>
            </a:fld>
            <a:endParaRPr lang="en-US"/>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2012652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2840038"/>
            <a:ext cx="5829300" cy="1960562"/>
          </a:xfrm>
        </p:spPr>
        <p:txBody>
          <a:bodyPr/>
          <a:lstStyle/>
          <a:p>
            <a:r>
              <a:rPr lang="pt-BR"/>
              <a:t>Clique para editar o título mestre</a:t>
            </a:r>
            <a:endParaRPr lang="en-US"/>
          </a:p>
        </p:txBody>
      </p:sp>
      <p:sp>
        <p:nvSpPr>
          <p:cNvPr id="3" name="Subtítulo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a:p>
        </p:txBody>
      </p:sp>
      <p:sp>
        <p:nvSpPr>
          <p:cNvPr id="4" name="Espaço Reservado para Data 3"/>
          <p:cNvSpPr>
            <a:spLocks noGrp="1"/>
          </p:cNvSpPr>
          <p:nvPr>
            <p:ph type="dt" sz="half" idx="10"/>
          </p:nvPr>
        </p:nvSpPr>
        <p:spPr/>
        <p:txBody>
          <a:bodyPr/>
          <a:lstStyle/>
          <a:p>
            <a:fld id="{9A0B64FF-580D-4F32-95EC-CC914E864EC2}" type="datetimeFigureOut">
              <a:rPr lang="en-US" smtClean="0"/>
              <a:t>1/26/2023</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8297153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9A0B64FF-580D-4F32-95EC-CC914E864EC2}" type="datetimeFigureOut">
              <a:rPr lang="en-US" smtClean="0"/>
              <a:t>1/26/2023</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25254252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338" y="5875338"/>
            <a:ext cx="5829300" cy="1816100"/>
          </a:xfrm>
        </p:spPr>
        <p:txBody>
          <a:bodyPr anchor="t"/>
          <a:lstStyle>
            <a:lvl1pPr algn="l">
              <a:defRPr sz="4000" b="1" cap="all"/>
            </a:lvl1pPr>
          </a:lstStyle>
          <a:p>
            <a:r>
              <a:rPr lang="pt-BR"/>
              <a:t>Clique para editar o título mestre</a:t>
            </a:r>
            <a:endParaRPr lang="en-US"/>
          </a:p>
        </p:txBody>
      </p:sp>
      <p:sp>
        <p:nvSpPr>
          <p:cNvPr id="3" name="Espaço Reservado para Texto 2"/>
          <p:cNvSpPr>
            <a:spLocks noGrp="1"/>
          </p:cNvSpPr>
          <p:nvPr>
            <p:ph type="body" idx="1"/>
          </p:nvPr>
        </p:nvSpPr>
        <p:spPr>
          <a:xfrm>
            <a:off x="541338" y="3875088"/>
            <a:ext cx="5829300" cy="200025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9A0B64FF-580D-4F32-95EC-CC914E864EC2}" type="datetimeFigureOut">
              <a:rPr lang="en-US" smtClean="0"/>
              <a:t>1/26/2023</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28057326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3429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35052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p:txBody>
          <a:bodyPr/>
          <a:lstStyle/>
          <a:p>
            <a:fld id="{9A0B64FF-580D-4F32-95EC-CC914E864EC2}" type="datetimeFigureOut">
              <a:rPr lang="en-US" smtClean="0"/>
              <a:t>1/26/2023</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16433292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p:txBody>
          <a:bodyPr/>
          <a:lstStyle/>
          <a:p>
            <a:fld id="{9A0B64FF-580D-4F32-95EC-CC914E864EC2}" type="datetimeFigureOut">
              <a:rPr lang="en-US" smtClean="0"/>
              <a:t>1/26/2023</a:t>
            </a:fld>
            <a:endParaRPr lang="en-US"/>
          </a:p>
        </p:txBody>
      </p:sp>
      <p:sp>
        <p:nvSpPr>
          <p:cNvPr id="8" name="Espaço Reservado para Rodapé 7"/>
          <p:cNvSpPr>
            <a:spLocks noGrp="1"/>
          </p:cNvSpPr>
          <p:nvPr>
            <p:ph type="ftr" sz="quarter" idx="11"/>
          </p:nvPr>
        </p:nvSpPr>
        <p:spPr/>
        <p:txBody>
          <a:bodyPr/>
          <a:lstStyle/>
          <a:p>
            <a:endParaRPr lang="en-US"/>
          </a:p>
        </p:txBody>
      </p:sp>
      <p:sp>
        <p:nvSpPr>
          <p:cNvPr id="9" name="Espaço Reservado para Número de Slide 8"/>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18770310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Data 2"/>
          <p:cNvSpPr>
            <a:spLocks noGrp="1"/>
          </p:cNvSpPr>
          <p:nvPr>
            <p:ph type="dt" sz="half" idx="10"/>
          </p:nvPr>
        </p:nvSpPr>
        <p:spPr/>
        <p:txBody>
          <a:bodyPr/>
          <a:lstStyle/>
          <a:p>
            <a:fld id="{9A0B64FF-580D-4F32-95EC-CC914E864EC2}" type="datetimeFigureOut">
              <a:rPr lang="en-US" smtClean="0"/>
              <a:t>1/26/2023</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40771912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9A0B64FF-580D-4F32-95EC-CC914E864EC2}" type="datetimeFigureOut">
              <a:rPr lang="en-US" smtClean="0"/>
              <a:t>1/26/2023</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32546844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3538"/>
            <a:ext cx="2255838" cy="1549400"/>
          </a:xfr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9A0B64FF-580D-4F32-95EC-CC914E864EC2}" type="datetimeFigureOut">
              <a:rPr lang="en-US" smtClean="0"/>
              <a:t>1/26/2023</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3788418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613" y="6400800"/>
            <a:ext cx="4114800" cy="755650"/>
          </a:xfr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9A0B64FF-580D-4F32-95EC-CC914E864EC2}" type="datetimeFigureOut">
              <a:rPr lang="en-US" smtClean="0"/>
              <a:t>1/26/2023</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16467448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9A0B64FF-580D-4F32-95EC-CC914E864EC2}" type="datetimeFigureOut">
              <a:rPr lang="en-US" smtClean="0"/>
              <a:t>1/26/2023</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1046319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713"/>
            <a:ext cx="1543050" cy="7800975"/>
          </a:xfr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342900" y="366713"/>
            <a:ext cx="4476750" cy="780097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9A0B64FF-580D-4F32-95EC-CC914E864EC2}" type="datetimeFigureOut">
              <a:rPr lang="en-US" smtClean="0"/>
              <a:t>1/26/2023</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7EE26A2A-0B9B-438C-9E8A-326A503B8ED6}" type="slidenum">
              <a:rPr lang="en-US" smtClean="0"/>
              <a:t>‹nº›</a:t>
            </a:fld>
            <a:endParaRPr lang="en-US"/>
          </a:p>
        </p:txBody>
      </p:sp>
    </p:spTree>
    <p:extLst>
      <p:ext uri="{BB962C8B-B14F-4D97-AF65-F5344CB8AC3E}">
        <p14:creationId xmlns:p14="http://schemas.microsoft.com/office/powerpoint/2010/main" val="11006910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2840038"/>
            <a:ext cx="5829300" cy="1960562"/>
          </a:xfrm>
        </p:spPr>
        <p:txBody>
          <a:bodyPr/>
          <a:lstStyle/>
          <a:p>
            <a:r>
              <a:rPr lang="pt-BR"/>
              <a:t>Clique para editar o título mestre</a:t>
            </a:r>
            <a:endParaRPr lang="en-US"/>
          </a:p>
        </p:txBody>
      </p:sp>
      <p:sp>
        <p:nvSpPr>
          <p:cNvPr id="3" name="Subtítulo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a:p>
        </p:txBody>
      </p:sp>
      <p:sp>
        <p:nvSpPr>
          <p:cNvPr id="4" name="Espaço Reservado para Data 3"/>
          <p:cNvSpPr>
            <a:spLocks noGrp="1"/>
          </p:cNvSpPr>
          <p:nvPr>
            <p:ph type="dt" sz="half" idx="10"/>
          </p:nvPr>
        </p:nvSpPr>
        <p:spPr/>
        <p:txBody>
          <a:bodyPr/>
          <a:lstStyle/>
          <a:p>
            <a:fld id="{E61E185C-0CFF-4A6E-B678-29CE13560A86}" type="datetimeFigureOut">
              <a:rPr lang="en-US" smtClean="0"/>
              <a:t>1/26/2023</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25272605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E61E185C-0CFF-4A6E-B678-29CE13560A86}" type="datetimeFigureOut">
              <a:rPr lang="en-US" smtClean="0"/>
              <a:t>1/26/2023</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9821270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338" y="5875338"/>
            <a:ext cx="5829300" cy="1816100"/>
          </a:xfrm>
        </p:spPr>
        <p:txBody>
          <a:bodyPr anchor="t"/>
          <a:lstStyle>
            <a:lvl1pPr algn="l">
              <a:defRPr sz="4000" b="1" cap="all"/>
            </a:lvl1pPr>
          </a:lstStyle>
          <a:p>
            <a:r>
              <a:rPr lang="pt-BR"/>
              <a:t>Clique para editar o título mestre</a:t>
            </a:r>
            <a:endParaRPr lang="en-US"/>
          </a:p>
        </p:txBody>
      </p:sp>
      <p:sp>
        <p:nvSpPr>
          <p:cNvPr id="3" name="Espaço Reservado para Texto 2"/>
          <p:cNvSpPr>
            <a:spLocks noGrp="1"/>
          </p:cNvSpPr>
          <p:nvPr>
            <p:ph type="body" idx="1"/>
          </p:nvPr>
        </p:nvSpPr>
        <p:spPr>
          <a:xfrm>
            <a:off x="541338" y="3875088"/>
            <a:ext cx="5829300" cy="200025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E61E185C-0CFF-4A6E-B678-29CE13560A86}" type="datetimeFigureOut">
              <a:rPr lang="en-US" smtClean="0"/>
              <a:t>1/26/2023</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12037152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3429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35052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p:txBody>
          <a:bodyPr/>
          <a:lstStyle/>
          <a:p>
            <a:fld id="{E61E185C-0CFF-4A6E-B678-29CE13560A86}" type="datetimeFigureOut">
              <a:rPr lang="en-US" smtClean="0"/>
              <a:t>1/26/2023</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31455081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p:txBody>
          <a:bodyPr/>
          <a:lstStyle/>
          <a:p>
            <a:fld id="{E61E185C-0CFF-4A6E-B678-29CE13560A86}" type="datetimeFigureOut">
              <a:rPr lang="en-US" smtClean="0"/>
              <a:t>1/26/2023</a:t>
            </a:fld>
            <a:endParaRPr lang="en-US"/>
          </a:p>
        </p:txBody>
      </p:sp>
      <p:sp>
        <p:nvSpPr>
          <p:cNvPr id="8" name="Espaço Reservado para Rodapé 7"/>
          <p:cNvSpPr>
            <a:spLocks noGrp="1"/>
          </p:cNvSpPr>
          <p:nvPr>
            <p:ph type="ftr" sz="quarter" idx="11"/>
          </p:nvPr>
        </p:nvSpPr>
        <p:spPr/>
        <p:txBody>
          <a:bodyPr/>
          <a:lstStyle/>
          <a:p>
            <a:endParaRPr lang="en-US"/>
          </a:p>
        </p:txBody>
      </p:sp>
      <p:sp>
        <p:nvSpPr>
          <p:cNvPr id="9" name="Espaço Reservado para Número de Slide 8"/>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19133947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Data 2"/>
          <p:cNvSpPr>
            <a:spLocks noGrp="1"/>
          </p:cNvSpPr>
          <p:nvPr>
            <p:ph type="dt" sz="half" idx="10"/>
          </p:nvPr>
        </p:nvSpPr>
        <p:spPr/>
        <p:txBody>
          <a:bodyPr/>
          <a:lstStyle/>
          <a:p>
            <a:fld id="{E61E185C-0CFF-4A6E-B678-29CE13560A86}" type="datetimeFigureOut">
              <a:rPr lang="en-US" smtClean="0"/>
              <a:t>1/26/2023</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2159181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61E185C-0CFF-4A6E-B678-29CE13560A86}" type="datetimeFigureOut">
              <a:rPr lang="en-US" smtClean="0"/>
              <a:t>1/26/2023</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27607913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3538"/>
            <a:ext cx="2255838" cy="1549400"/>
          </a:xfr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E61E185C-0CFF-4A6E-B678-29CE13560A86}" type="datetimeFigureOut">
              <a:rPr lang="en-US" smtClean="0"/>
              <a:t>1/26/2023</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29435221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613" y="6400800"/>
            <a:ext cx="4114800" cy="755650"/>
          </a:xfr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E61E185C-0CFF-4A6E-B678-29CE13560A86}" type="datetimeFigureOut">
              <a:rPr lang="en-US" smtClean="0"/>
              <a:t>1/26/2023</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42026370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E61E185C-0CFF-4A6E-B678-29CE13560A86}" type="datetimeFigureOut">
              <a:rPr lang="en-US" smtClean="0"/>
              <a:t>1/26/2023</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32560731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713"/>
            <a:ext cx="1543050" cy="7800975"/>
          </a:xfr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342900" y="366713"/>
            <a:ext cx="4476750" cy="780097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E61E185C-0CFF-4A6E-B678-29CE13560A86}" type="datetimeFigureOut">
              <a:rPr lang="en-US" smtClean="0"/>
              <a:t>1/26/2023</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A38B0CB-B565-4A93-9F11-EFFDBC75186E}" type="slidenum">
              <a:rPr lang="en-US" smtClean="0"/>
              <a:t>‹nº›</a:t>
            </a:fld>
            <a:endParaRPr lang="en-US"/>
          </a:p>
        </p:txBody>
      </p:sp>
    </p:spTree>
    <p:extLst>
      <p:ext uri="{BB962C8B-B14F-4D97-AF65-F5344CB8AC3E}">
        <p14:creationId xmlns:p14="http://schemas.microsoft.com/office/powerpoint/2010/main" val="430448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pic>
        <p:nvPicPr>
          <p:cNvPr id="7" name="Imagem 6"/>
          <p:cNvPicPr/>
          <p:nvPr userDrawn="1"/>
        </p:nvPicPr>
        <p:blipFill>
          <a:blip r:embed="rId16" cstate="print">
            <a:extLst>
              <a:ext uri="{28A0092B-C50C-407E-A947-70E740481C1C}">
                <a14:useLocalDpi xmlns:a14="http://schemas.microsoft.com/office/drawing/2010/main" val="0"/>
              </a:ext>
            </a:extLst>
          </a:blip>
          <a:stretch>
            <a:fillRect/>
          </a:stretch>
        </p:blipFill>
        <p:spPr>
          <a:xfrm>
            <a:off x="0" y="0"/>
            <a:ext cx="2590800" cy="593090"/>
          </a:xfrm>
          <a:prstGeom prst="rect">
            <a:avLst/>
          </a:prstGeom>
        </p:spPr>
      </p:pic>
      <p:sp>
        <p:nvSpPr>
          <p:cNvPr id="8" name="Retângulo de cantos arredondados 7"/>
          <p:cNvSpPr/>
          <p:nvPr userDrawn="1"/>
        </p:nvSpPr>
        <p:spPr>
          <a:xfrm>
            <a:off x="4457700" y="10795"/>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100" dirty="0">
                <a:effectLst/>
                <a:ea typeface="Calibri"/>
                <a:cs typeface="Times New Roman"/>
              </a:rPr>
              <a:t>RELATÓRIO</a:t>
            </a:r>
            <a:r>
              <a:rPr lang="pt-BR" sz="1100" baseline="0" dirty="0">
                <a:effectLst/>
                <a:ea typeface="Calibri"/>
                <a:cs typeface="Times New Roman"/>
              </a:rPr>
              <a:t> TÉCNICO – LCAC E RAC</a:t>
            </a:r>
            <a:endParaRPr lang="en-US" sz="1100" dirty="0">
              <a:effectLst/>
              <a:ea typeface="Calibri"/>
              <a:cs typeface="Times New Roman"/>
            </a:endParaRPr>
          </a:p>
        </p:txBody>
      </p:sp>
      <p:sp>
        <p:nvSpPr>
          <p:cNvPr id="9" name="Retângulo de cantos arredondados 8"/>
          <p:cNvSpPr/>
          <p:nvPr userDrawn="1"/>
        </p:nvSpPr>
        <p:spPr>
          <a:xfrm>
            <a:off x="4457700" y="382270"/>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100" dirty="0">
                <a:effectLst/>
                <a:ea typeface="Calibri"/>
                <a:cs typeface="Times New Roman"/>
              </a:rPr>
              <a:t>RT-NWS.E.02-REV.01</a:t>
            </a:r>
            <a:endParaRPr lang="en-US" sz="1100" dirty="0">
              <a:effectLst/>
              <a:ea typeface="Calibri"/>
              <a:cs typeface="Times New Roman"/>
            </a:endParaRPr>
          </a:p>
        </p:txBody>
      </p:sp>
      <p:pic>
        <p:nvPicPr>
          <p:cNvPr id="10" name="Imagem 9"/>
          <p:cNvPicPr/>
          <p:nvPr userDrawn="1"/>
        </p:nvPicPr>
        <p:blipFill>
          <a:blip r:embed="rId17" cstate="print">
            <a:extLst>
              <a:ext uri="{28A0092B-C50C-407E-A947-70E740481C1C}">
                <a14:useLocalDpi xmlns:a14="http://schemas.microsoft.com/office/drawing/2010/main" val="0"/>
              </a:ext>
            </a:extLst>
          </a:blip>
          <a:stretch>
            <a:fillRect/>
          </a:stretch>
        </p:blipFill>
        <p:spPr>
          <a:xfrm>
            <a:off x="4798695" y="8672639"/>
            <a:ext cx="2059305" cy="483235"/>
          </a:xfrm>
          <a:prstGeom prst="rect">
            <a:avLst/>
          </a:prstGeom>
        </p:spPr>
      </p:pic>
      <p:sp>
        <p:nvSpPr>
          <p:cNvPr id="11" name="Caixa de texto 40"/>
          <p:cNvSpPr txBox="1">
            <a:spLocks noChangeArrowheads="1"/>
          </p:cNvSpPr>
          <p:nvPr userDrawn="1"/>
        </p:nvSpPr>
        <p:spPr bwMode="auto">
          <a:xfrm>
            <a:off x="-1" y="8949881"/>
            <a:ext cx="6181125" cy="194119"/>
          </a:xfrm>
          <a:prstGeom prst="rect">
            <a:avLst/>
          </a:prstGeom>
          <a:noFill/>
          <a:ln>
            <a:noFill/>
          </a:ln>
        </p:spPr>
        <p:txBody>
          <a:bodyPr rot="0" vert="horz" wrap="square" lIns="91440" tIns="45720" rIns="91440" bIns="45720" anchor="t" anchorCtr="0" upright="1">
            <a:noAutofit/>
          </a:bodyPr>
          <a:lstStyle/>
          <a:p>
            <a:pPr algn="ctr">
              <a:lnSpc>
                <a:spcPct val="115000"/>
              </a:lnSpc>
              <a:spcAft>
                <a:spcPts val="1000"/>
              </a:spcAft>
              <a:tabLst>
                <a:tab pos="2860040" algn="ctr"/>
                <a:tab pos="6566535" algn="r"/>
              </a:tabLst>
            </a:pPr>
            <a:r>
              <a:rPr lang="pt-BR" sz="600" i="1" kern="1200">
                <a:solidFill>
                  <a:srgbClr val="808080"/>
                </a:solidFill>
                <a:effectLst/>
                <a:latin typeface="Arial"/>
                <a:ea typeface="Calibri"/>
                <a:cs typeface="Times New Roman"/>
              </a:rPr>
              <a:t>Av. Dr. Chucri Zaidan, 940 - 3º Andar - Vila Cordeiro - São Paulo – SP – CEP: 04583-110</a:t>
            </a:r>
            <a:endParaRPr lang="en-US" sz="1100">
              <a:effectLst/>
              <a:latin typeface="Calibri"/>
              <a:ea typeface="Calibri"/>
              <a:cs typeface="Times New Roman"/>
            </a:endParaRPr>
          </a:p>
        </p:txBody>
      </p:sp>
      <p:sp>
        <p:nvSpPr>
          <p:cNvPr id="13" name="Caixa de texto 43"/>
          <p:cNvSpPr txBox="1"/>
          <p:nvPr userDrawn="1"/>
        </p:nvSpPr>
        <p:spPr>
          <a:xfrm>
            <a:off x="0" y="623661"/>
            <a:ext cx="4005064" cy="13144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pt-BR" sz="700" b="1" i="1" dirty="0">
                <a:effectLst/>
                <a:latin typeface="Arial"/>
                <a:ea typeface="Calibri"/>
                <a:cs typeface="Times New Roman"/>
              </a:rPr>
              <a:t>Este</a:t>
            </a:r>
            <a:r>
              <a:rPr lang="pt-BR" sz="700" b="1" i="1" baseline="0" dirty="0">
                <a:effectLst/>
                <a:latin typeface="Arial"/>
                <a:ea typeface="Calibri"/>
                <a:cs typeface="Times New Roman"/>
              </a:rPr>
              <a:t> Relatório é valido a partir de 01/10/2021 cancelando os anteriores </a:t>
            </a:r>
            <a:endParaRPr lang="en-US" sz="1100" dirty="0">
              <a:effectLst/>
              <a:ea typeface="Calibri"/>
              <a:cs typeface="Times New Roman"/>
            </a:endParaRPr>
          </a:p>
        </p:txBody>
      </p:sp>
      <p:sp>
        <p:nvSpPr>
          <p:cNvPr id="14" name="Caixa de texto 13"/>
          <p:cNvSpPr txBox="1"/>
          <p:nvPr userDrawn="1"/>
        </p:nvSpPr>
        <p:spPr>
          <a:xfrm>
            <a:off x="0" y="755104"/>
            <a:ext cx="3805555" cy="2133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pt-BR" sz="700" b="1" i="1" dirty="0">
                <a:effectLst/>
                <a:latin typeface="Arial"/>
                <a:ea typeface="Calibri"/>
                <a:cs typeface="Times New Roman"/>
              </a:rPr>
              <a:t>Abrangência</a:t>
            </a:r>
            <a:r>
              <a:rPr lang="pt-BR" sz="700" i="1" dirty="0">
                <a:effectLst/>
                <a:latin typeface="Arial"/>
                <a:ea typeface="Calibri"/>
                <a:cs typeface="Times New Roman"/>
              </a:rPr>
              <a:t>: Rede Credenciada / Distribuidores e Revenda</a:t>
            </a:r>
            <a:endParaRPr lang="en-US" sz="1100" dirty="0">
              <a:effectLst/>
              <a:ea typeface="Calibri"/>
              <a:cs typeface="Times New Roman"/>
            </a:endParaRPr>
          </a:p>
        </p:txBody>
      </p:sp>
    </p:spTree>
    <p:extLst>
      <p:ext uri="{BB962C8B-B14F-4D97-AF65-F5344CB8AC3E}">
        <p14:creationId xmlns:p14="http://schemas.microsoft.com/office/powerpoint/2010/main" val="1631144664"/>
      </p:ext>
    </p:extLst>
  </p:cSld>
  <p:clrMap bg1="lt1" tx1="dk1" bg2="lt2" tx2="dk2" accent1="accent1" accent2="accent2" accent3="accent3" accent4="accent4" accent5="accent5" accent6="accent6" hlink="hlink" folHlink="folHlink"/>
  <p:sldLayoutIdLst>
    <p:sldLayoutId id="2147483649" r:id="rId1"/>
    <p:sldLayoutId id="2147483686" r:id="rId2"/>
    <p:sldLayoutId id="2147483650" r:id="rId3"/>
    <p:sldLayoutId id="2147483651" r:id="rId4"/>
    <p:sldLayoutId id="214748366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66713"/>
            <a:ext cx="6172200" cy="1524000"/>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p:cNvSpPr>
            <a:spLocks noGrp="1"/>
          </p:cNvSpPr>
          <p:nvPr>
            <p:ph type="body" idx="1"/>
          </p:nvPr>
        </p:nvSpPr>
        <p:spPr>
          <a:xfrm>
            <a:off x="342900" y="2133600"/>
            <a:ext cx="6172200" cy="603408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2"/>
          </p:nvPr>
        </p:nvSpPr>
        <p:spPr>
          <a:xfrm>
            <a:off x="342900" y="8475663"/>
            <a:ext cx="1600200" cy="485775"/>
          </a:xfrm>
          <a:prstGeom prst="rect">
            <a:avLst/>
          </a:prstGeom>
        </p:spPr>
        <p:txBody>
          <a:bodyPr vert="horz" lIns="91440" tIns="45720" rIns="91440" bIns="45720" rtlCol="0" anchor="ctr"/>
          <a:lstStyle>
            <a:lvl1pPr algn="l">
              <a:defRPr sz="1200">
                <a:solidFill>
                  <a:schemeClr val="tx1">
                    <a:tint val="75000"/>
                  </a:schemeClr>
                </a:solidFill>
              </a:defRPr>
            </a:lvl1pPr>
          </a:lstStyle>
          <a:p>
            <a:fld id="{9A0B64FF-580D-4F32-95EC-CC914E864EC2}" type="datetimeFigureOut">
              <a:rPr lang="en-US" smtClean="0"/>
              <a:t>1/26/2023</a:t>
            </a:fld>
            <a:endParaRPr lang="en-US"/>
          </a:p>
        </p:txBody>
      </p:sp>
      <p:sp>
        <p:nvSpPr>
          <p:cNvPr id="5" name="Espaço Reservado para Rodapé 4"/>
          <p:cNvSpPr>
            <a:spLocks noGrp="1"/>
          </p:cNvSpPr>
          <p:nvPr>
            <p:ph type="ftr" sz="quarter" idx="3"/>
          </p:nvPr>
        </p:nvSpPr>
        <p:spPr>
          <a:xfrm>
            <a:off x="2343150" y="8475663"/>
            <a:ext cx="2171700" cy="4857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p:cNvSpPr>
            <a:spLocks noGrp="1"/>
          </p:cNvSpPr>
          <p:nvPr>
            <p:ph type="sldNum" sz="quarter" idx="4"/>
          </p:nvPr>
        </p:nvSpPr>
        <p:spPr>
          <a:xfrm>
            <a:off x="4914900" y="8475663"/>
            <a:ext cx="1600200" cy="485775"/>
          </a:xfrm>
          <a:prstGeom prst="rect">
            <a:avLst/>
          </a:prstGeom>
        </p:spPr>
        <p:txBody>
          <a:bodyPr vert="horz" lIns="91440" tIns="45720" rIns="91440" bIns="45720" rtlCol="0" anchor="ctr"/>
          <a:lstStyle>
            <a:lvl1pPr algn="r">
              <a:defRPr sz="1200">
                <a:solidFill>
                  <a:schemeClr val="tx1">
                    <a:tint val="75000"/>
                  </a:schemeClr>
                </a:solidFill>
              </a:defRPr>
            </a:lvl1pPr>
          </a:lstStyle>
          <a:p>
            <a:fld id="{7EE26A2A-0B9B-438C-9E8A-326A503B8ED6}" type="slidenum">
              <a:rPr lang="en-US" smtClean="0"/>
              <a:t>‹nº›</a:t>
            </a:fld>
            <a:endParaRPr lang="en-US"/>
          </a:p>
        </p:txBody>
      </p:sp>
    </p:spTree>
    <p:extLst>
      <p:ext uri="{BB962C8B-B14F-4D97-AF65-F5344CB8AC3E}">
        <p14:creationId xmlns:p14="http://schemas.microsoft.com/office/powerpoint/2010/main" val="38368542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66713"/>
            <a:ext cx="6172200" cy="1524000"/>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p:cNvSpPr>
            <a:spLocks noGrp="1"/>
          </p:cNvSpPr>
          <p:nvPr>
            <p:ph type="body" idx="1"/>
          </p:nvPr>
        </p:nvSpPr>
        <p:spPr>
          <a:xfrm>
            <a:off x="342900" y="2133600"/>
            <a:ext cx="6172200" cy="603408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2"/>
          </p:nvPr>
        </p:nvSpPr>
        <p:spPr>
          <a:xfrm>
            <a:off x="342900" y="8475663"/>
            <a:ext cx="1600200" cy="485775"/>
          </a:xfrm>
          <a:prstGeom prst="rect">
            <a:avLst/>
          </a:prstGeom>
        </p:spPr>
        <p:txBody>
          <a:bodyPr vert="horz" lIns="91440" tIns="45720" rIns="91440" bIns="45720" rtlCol="0" anchor="ctr"/>
          <a:lstStyle>
            <a:lvl1pPr algn="l">
              <a:defRPr sz="1200">
                <a:solidFill>
                  <a:schemeClr val="tx1">
                    <a:tint val="75000"/>
                  </a:schemeClr>
                </a:solidFill>
              </a:defRPr>
            </a:lvl1pPr>
          </a:lstStyle>
          <a:p>
            <a:fld id="{E61E185C-0CFF-4A6E-B678-29CE13560A86}" type="datetimeFigureOut">
              <a:rPr lang="en-US" smtClean="0"/>
              <a:t>1/26/2023</a:t>
            </a:fld>
            <a:endParaRPr lang="en-US"/>
          </a:p>
        </p:txBody>
      </p:sp>
      <p:sp>
        <p:nvSpPr>
          <p:cNvPr id="5" name="Espaço Reservado para Rodapé 4"/>
          <p:cNvSpPr>
            <a:spLocks noGrp="1"/>
          </p:cNvSpPr>
          <p:nvPr>
            <p:ph type="ftr" sz="quarter" idx="3"/>
          </p:nvPr>
        </p:nvSpPr>
        <p:spPr>
          <a:xfrm>
            <a:off x="2343150" y="8475663"/>
            <a:ext cx="2171700" cy="4857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p:cNvSpPr>
            <a:spLocks noGrp="1"/>
          </p:cNvSpPr>
          <p:nvPr>
            <p:ph type="sldNum" sz="quarter" idx="4"/>
          </p:nvPr>
        </p:nvSpPr>
        <p:spPr>
          <a:xfrm>
            <a:off x="4914900" y="8475663"/>
            <a:ext cx="1600200" cy="485775"/>
          </a:xfrm>
          <a:prstGeom prst="rect">
            <a:avLst/>
          </a:prstGeom>
        </p:spPr>
        <p:txBody>
          <a:bodyPr vert="horz" lIns="91440" tIns="45720" rIns="91440" bIns="45720" rtlCol="0" anchor="ctr"/>
          <a:lstStyle>
            <a:lvl1pPr algn="r">
              <a:defRPr sz="1200">
                <a:solidFill>
                  <a:schemeClr val="tx1">
                    <a:tint val="75000"/>
                  </a:schemeClr>
                </a:solidFill>
              </a:defRPr>
            </a:lvl1pPr>
          </a:lstStyle>
          <a:p>
            <a:fld id="{EA38B0CB-B565-4A93-9F11-EFFDBC75186E}" type="slidenum">
              <a:rPr lang="en-US" smtClean="0"/>
              <a:t>‹nº›</a:t>
            </a:fld>
            <a:endParaRPr lang="en-US"/>
          </a:p>
        </p:txBody>
      </p:sp>
    </p:spTree>
    <p:extLst>
      <p:ext uri="{BB962C8B-B14F-4D97-AF65-F5344CB8AC3E}">
        <p14:creationId xmlns:p14="http://schemas.microsoft.com/office/powerpoint/2010/main" val="415003606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2033588" y="300037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6" name="Retângulo 5"/>
          <p:cNvSpPr/>
          <p:nvPr/>
        </p:nvSpPr>
        <p:spPr>
          <a:xfrm>
            <a:off x="2026940" y="3381772"/>
            <a:ext cx="183410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BR019818-S</a:t>
            </a:r>
            <a:endParaRPr lang="en-US" sz="1200" dirty="0">
              <a:solidFill>
                <a:schemeClr val="tx1"/>
              </a:solidFill>
            </a:endParaRPr>
          </a:p>
        </p:txBody>
      </p:sp>
      <p:sp>
        <p:nvSpPr>
          <p:cNvPr id="7" name="Retângulo 6"/>
          <p:cNvSpPr/>
          <p:nvPr/>
        </p:nvSpPr>
        <p:spPr>
          <a:xfrm>
            <a:off x="2033588" y="3779912"/>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8" name="Retângulo 7"/>
          <p:cNvSpPr/>
          <p:nvPr/>
        </p:nvSpPr>
        <p:spPr>
          <a:xfrm>
            <a:off x="2033588" y="418814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9" name="Retângulo 8"/>
          <p:cNvSpPr/>
          <p:nvPr/>
        </p:nvSpPr>
        <p:spPr>
          <a:xfrm>
            <a:off x="2026940" y="4576763"/>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0" name="Retângulo 9"/>
          <p:cNvSpPr/>
          <p:nvPr/>
        </p:nvSpPr>
        <p:spPr>
          <a:xfrm>
            <a:off x="2026940" y="522007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1" name="Retângulo 10"/>
          <p:cNvSpPr/>
          <p:nvPr/>
        </p:nvSpPr>
        <p:spPr>
          <a:xfrm>
            <a:off x="2026940" y="559916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2" name="Retângulo 11"/>
          <p:cNvSpPr/>
          <p:nvPr/>
        </p:nvSpPr>
        <p:spPr>
          <a:xfrm>
            <a:off x="2026940" y="6012160"/>
            <a:ext cx="255418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3" name="Retângulo 12"/>
          <p:cNvSpPr/>
          <p:nvPr/>
        </p:nvSpPr>
        <p:spPr>
          <a:xfrm>
            <a:off x="5134260" y="5993110"/>
            <a:ext cx="146309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4" name="Retângulo 13"/>
          <p:cNvSpPr/>
          <p:nvPr/>
        </p:nvSpPr>
        <p:spPr>
          <a:xfrm>
            <a:off x="2026940" y="641245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6" name="Retângulo 15"/>
          <p:cNvSpPr/>
          <p:nvPr/>
        </p:nvSpPr>
        <p:spPr>
          <a:xfrm>
            <a:off x="2026940" y="680424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7" name="Retângulo 16"/>
          <p:cNvSpPr/>
          <p:nvPr/>
        </p:nvSpPr>
        <p:spPr>
          <a:xfrm>
            <a:off x="1581150" y="7452320"/>
            <a:ext cx="206387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8" name="Retângulo 17"/>
          <p:cNvSpPr/>
          <p:nvPr/>
        </p:nvSpPr>
        <p:spPr>
          <a:xfrm>
            <a:off x="4581128" y="7458670"/>
            <a:ext cx="201622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9" name="Retângulo 18"/>
          <p:cNvSpPr/>
          <p:nvPr/>
        </p:nvSpPr>
        <p:spPr>
          <a:xfrm>
            <a:off x="1581150" y="7969250"/>
            <a:ext cx="1559818"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0" name="Retângulo 19"/>
          <p:cNvSpPr/>
          <p:nvPr/>
        </p:nvSpPr>
        <p:spPr>
          <a:xfrm>
            <a:off x="4586734" y="7969250"/>
            <a:ext cx="2010618" cy="30906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3" name="Retângulo 22"/>
          <p:cNvSpPr/>
          <p:nvPr/>
        </p:nvSpPr>
        <p:spPr>
          <a:xfrm>
            <a:off x="1581150" y="8356674"/>
            <a:ext cx="2063874"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Tree>
    <p:extLst>
      <p:ext uri="{BB962C8B-B14F-4D97-AF65-F5344CB8AC3E}">
        <p14:creationId xmlns:p14="http://schemas.microsoft.com/office/powerpoint/2010/main" val="353010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tângulo 16"/>
          <p:cNvSpPr/>
          <p:nvPr/>
        </p:nvSpPr>
        <p:spPr>
          <a:xfrm>
            <a:off x="3429000" y="1835696"/>
            <a:ext cx="3168352" cy="23762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p>
        </p:txBody>
      </p:sp>
      <p:sp>
        <p:nvSpPr>
          <p:cNvPr id="4" name="CaixaDeTexto 3"/>
          <p:cNvSpPr txBox="1"/>
          <p:nvPr/>
        </p:nvSpPr>
        <p:spPr>
          <a:xfrm>
            <a:off x="3933056" y="6444208"/>
            <a:ext cx="792088" cy="246221"/>
          </a:xfrm>
          <a:prstGeom prst="rect">
            <a:avLst/>
          </a:prstGeom>
          <a:noFill/>
        </p:spPr>
        <p:txBody>
          <a:bodyPr wrap="square" rtlCol="0">
            <a:spAutoFit/>
          </a:bodyPr>
          <a:lstStyle/>
          <a:p>
            <a:r>
              <a:rPr lang="pt-BR" sz="1000" dirty="0"/>
              <a:t>Insira aqui</a:t>
            </a:r>
          </a:p>
        </p:txBody>
      </p:sp>
      <p:sp>
        <p:nvSpPr>
          <p:cNvPr id="19" name="CaixaDeTexto 18"/>
          <p:cNvSpPr txBox="1"/>
          <p:nvPr/>
        </p:nvSpPr>
        <p:spPr>
          <a:xfrm>
            <a:off x="5661248" y="6448752"/>
            <a:ext cx="792088" cy="246221"/>
          </a:xfrm>
          <a:prstGeom prst="rect">
            <a:avLst/>
          </a:prstGeom>
          <a:noFill/>
        </p:spPr>
        <p:txBody>
          <a:bodyPr wrap="square" rtlCol="0">
            <a:spAutoFit/>
          </a:bodyPr>
          <a:lstStyle/>
          <a:p>
            <a:r>
              <a:rPr lang="pt-BR" sz="1000" dirty="0"/>
              <a:t>Insira aqui</a:t>
            </a:r>
          </a:p>
        </p:txBody>
      </p:sp>
      <p:sp>
        <p:nvSpPr>
          <p:cNvPr id="20" name="Retângulo 19"/>
          <p:cNvSpPr/>
          <p:nvPr/>
        </p:nvSpPr>
        <p:spPr>
          <a:xfrm>
            <a:off x="3429000" y="5148064"/>
            <a:ext cx="1296144" cy="122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p>
        </p:txBody>
      </p:sp>
      <p:sp>
        <p:nvSpPr>
          <p:cNvPr id="21" name="Retângulo 20"/>
          <p:cNvSpPr/>
          <p:nvPr/>
        </p:nvSpPr>
        <p:spPr>
          <a:xfrm>
            <a:off x="5085184" y="5148064"/>
            <a:ext cx="1296144" cy="122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p>
        </p:txBody>
      </p:sp>
      <p:sp>
        <p:nvSpPr>
          <p:cNvPr id="22" name="Retângulo 21"/>
          <p:cNvSpPr/>
          <p:nvPr/>
        </p:nvSpPr>
        <p:spPr>
          <a:xfrm>
            <a:off x="3356992" y="6876256"/>
            <a:ext cx="1368152"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p>
        </p:txBody>
      </p:sp>
      <p:sp>
        <p:nvSpPr>
          <p:cNvPr id="23" name="Retângulo 22"/>
          <p:cNvSpPr/>
          <p:nvPr/>
        </p:nvSpPr>
        <p:spPr>
          <a:xfrm>
            <a:off x="5013176" y="6876256"/>
            <a:ext cx="1368152"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p>
        </p:txBody>
      </p:sp>
    </p:spTree>
    <p:extLst>
      <p:ext uri="{BB962C8B-B14F-4D97-AF65-F5344CB8AC3E}">
        <p14:creationId xmlns:p14="http://schemas.microsoft.com/office/powerpoint/2010/main" val="2755088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260648" y="1606972"/>
            <a:ext cx="1944216" cy="3727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6" name="Retângulo 5"/>
          <p:cNvSpPr/>
          <p:nvPr/>
        </p:nvSpPr>
        <p:spPr>
          <a:xfrm>
            <a:off x="2505596" y="1606972"/>
            <a:ext cx="4091756" cy="3727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7" name="Retângulo 6"/>
          <p:cNvSpPr/>
          <p:nvPr/>
        </p:nvSpPr>
        <p:spPr>
          <a:xfrm>
            <a:off x="260648" y="2327052"/>
            <a:ext cx="6336704" cy="8767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8" name="Retângulo 7"/>
          <p:cNvSpPr/>
          <p:nvPr/>
        </p:nvSpPr>
        <p:spPr>
          <a:xfrm>
            <a:off x="260648" y="3491880"/>
            <a:ext cx="6336704" cy="5040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 name="Retângulo 1"/>
          <p:cNvSpPr/>
          <p:nvPr/>
        </p:nvSpPr>
        <p:spPr>
          <a:xfrm>
            <a:off x="332656" y="6084168"/>
            <a:ext cx="3024336" cy="244827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
        <p:nvSpPr>
          <p:cNvPr id="17" name="Retângulo 16"/>
          <p:cNvSpPr/>
          <p:nvPr/>
        </p:nvSpPr>
        <p:spPr>
          <a:xfrm>
            <a:off x="3429000" y="6084168"/>
            <a:ext cx="3024336" cy="244827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Tree>
    <p:extLst>
      <p:ext uri="{BB962C8B-B14F-4D97-AF65-F5344CB8AC3E}">
        <p14:creationId xmlns:p14="http://schemas.microsoft.com/office/powerpoint/2010/main" val="3861371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p:cNvSpPr/>
          <p:nvPr/>
        </p:nvSpPr>
        <p:spPr>
          <a:xfrm>
            <a:off x="3140967" y="4526280"/>
            <a:ext cx="3489511" cy="17019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Insira a fotos com os valores medidos </a:t>
            </a:r>
            <a:endParaRPr lang="en-US" sz="900" dirty="0">
              <a:solidFill>
                <a:schemeClr val="tx1"/>
              </a:solidFill>
            </a:endParaRPr>
          </a:p>
        </p:txBody>
      </p:sp>
      <p:sp>
        <p:nvSpPr>
          <p:cNvPr id="5" name="Retângulo 4"/>
          <p:cNvSpPr/>
          <p:nvPr/>
        </p:nvSpPr>
        <p:spPr>
          <a:xfrm>
            <a:off x="3068960" y="6974552"/>
            <a:ext cx="3489511" cy="17019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Insira a fotos com os valores medidos </a:t>
            </a:r>
            <a:endParaRPr lang="en-US" sz="900" dirty="0">
              <a:solidFill>
                <a:schemeClr val="tx1"/>
              </a:solidFill>
            </a:endParaRPr>
          </a:p>
        </p:txBody>
      </p:sp>
    </p:spTree>
    <p:extLst>
      <p:ext uri="{BB962C8B-B14F-4D97-AF65-F5344CB8AC3E}">
        <p14:creationId xmlns:p14="http://schemas.microsoft.com/office/powerpoint/2010/main" val="767499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260649" y="1619672"/>
            <a:ext cx="3168352" cy="45365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fotos Frente da placa  (lado dos componentes)</a:t>
            </a:r>
            <a:endParaRPr lang="en-US" dirty="0">
              <a:solidFill>
                <a:schemeClr val="tx1"/>
              </a:solidFill>
            </a:endParaRPr>
          </a:p>
        </p:txBody>
      </p:sp>
      <p:sp>
        <p:nvSpPr>
          <p:cNvPr id="3" name="Retângulo 2"/>
          <p:cNvSpPr/>
          <p:nvPr/>
        </p:nvSpPr>
        <p:spPr>
          <a:xfrm>
            <a:off x="3429001" y="1619672"/>
            <a:ext cx="3208018" cy="453346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fotos verso da placa  (lado das  ponto de solda)</a:t>
            </a:r>
            <a:endParaRPr lang="en-US" dirty="0">
              <a:solidFill>
                <a:schemeClr val="tx1"/>
              </a:solidFill>
            </a:endParaRPr>
          </a:p>
        </p:txBody>
      </p:sp>
    </p:spTree>
    <p:extLst>
      <p:ext uri="{BB962C8B-B14F-4D97-AF65-F5344CB8AC3E}">
        <p14:creationId xmlns:p14="http://schemas.microsoft.com/office/powerpoint/2010/main" val="770648861"/>
      </p:ext>
    </p:extLst>
  </p:cSld>
  <p:clrMapOvr>
    <a:masterClrMapping/>
  </p:clrMapOvr>
</p:sld>
</file>

<file path=ppt/theme/theme1.xml><?xml version="1.0" encoding="utf-8"?>
<a:theme xmlns:a="http://schemas.openxmlformats.org/drawingml/2006/main" name="Tema do Office">
  <a:themeElements>
    <a:clrScheme name="Amare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2732</TotalTime>
  <Words>109</Words>
  <Application>Microsoft Office PowerPoint</Application>
  <PresentationFormat>Apresentação na tela (4:3)</PresentationFormat>
  <Paragraphs>33</Paragraphs>
  <Slides>5</Slides>
  <Notes>0</Notes>
  <HiddenSlides>0</HiddenSlides>
  <MMClips>0</MMClips>
  <ScaleCrop>false</ScaleCrop>
  <HeadingPairs>
    <vt:vector size="6" baseType="variant">
      <vt:variant>
        <vt:lpstr>Fontes usadas</vt:lpstr>
      </vt:variant>
      <vt:variant>
        <vt:i4>7</vt:i4>
      </vt:variant>
      <vt:variant>
        <vt:lpstr>Tema</vt:lpstr>
      </vt:variant>
      <vt:variant>
        <vt:i4>3</vt:i4>
      </vt:variant>
      <vt:variant>
        <vt:lpstr>Títulos de slides</vt:lpstr>
      </vt:variant>
      <vt:variant>
        <vt:i4>5</vt:i4>
      </vt:variant>
    </vt:vector>
  </HeadingPairs>
  <TitlesOfParts>
    <vt:vector size="15" baseType="lpstr">
      <vt:lpstr>맑은 고딕</vt:lpstr>
      <vt:lpstr>Arial</vt:lpstr>
      <vt:lpstr>Calibri</vt:lpstr>
      <vt:lpstr>HY헤드라인M</vt:lpstr>
      <vt:lpstr>Shonar Bangla</vt:lpstr>
      <vt:lpstr>Times New Roman</vt:lpstr>
      <vt:lpstr>Verdana</vt:lpstr>
      <vt:lpstr>Tema do Office</vt:lpstr>
      <vt:lpstr>1_Personalizar design</vt:lpstr>
      <vt:lpstr>Personalizar design</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avieira.souza</dc:creator>
  <cp:lastModifiedBy>HENRIQUE GAZZA</cp:lastModifiedBy>
  <cp:revision>75</cp:revision>
  <cp:lastPrinted>2019-09-28T19:37:52Z</cp:lastPrinted>
  <dcterms:created xsi:type="dcterms:W3CDTF">2019-09-28T11:59:37Z</dcterms:created>
  <dcterms:modified xsi:type="dcterms:W3CDTF">2023-01-26T15:41:28Z</dcterms:modified>
</cp:coreProperties>
</file>